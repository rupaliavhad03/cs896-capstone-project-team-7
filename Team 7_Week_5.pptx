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handoutMasterIdLst>
    <p:handoutMasterId r:id="rId24"/>
  </p:handoutMasterIdLst>
  <p:sldIdLst>
    <p:sldId id="262" r:id="rId2"/>
    <p:sldId id="264" r:id="rId3"/>
    <p:sldId id="286" r:id="rId4"/>
    <p:sldId id="289" r:id="rId5"/>
    <p:sldId id="288" r:id="rId6"/>
    <p:sldId id="290" r:id="rId7"/>
    <p:sldId id="266" r:id="rId8"/>
    <p:sldId id="278" r:id="rId9"/>
    <p:sldId id="269" r:id="rId10"/>
    <p:sldId id="276" r:id="rId11"/>
    <p:sldId id="273" r:id="rId12"/>
    <p:sldId id="274" r:id="rId13"/>
    <p:sldId id="275" r:id="rId14"/>
    <p:sldId id="280" r:id="rId15"/>
    <p:sldId id="279" r:id="rId16"/>
    <p:sldId id="265" r:id="rId17"/>
    <p:sldId id="281" r:id="rId18"/>
    <p:sldId id="285" r:id="rId19"/>
    <p:sldId id="282" r:id="rId20"/>
    <p:sldId id="283" r:id="rId21"/>
    <p:sldId id="28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3BC7E1B-1496-4CF2-BE24-A0397CCD2587}">
          <p14:sldIdLst>
            <p14:sldId id="262"/>
            <p14:sldId id="264"/>
            <p14:sldId id="286"/>
            <p14:sldId id="289"/>
            <p14:sldId id="288"/>
            <p14:sldId id="290"/>
            <p14:sldId id="266"/>
            <p14:sldId id="278"/>
            <p14:sldId id="269"/>
            <p14:sldId id="276"/>
            <p14:sldId id="273"/>
            <p14:sldId id="274"/>
            <p14:sldId id="275"/>
            <p14:sldId id="280"/>
            <p14:sldId id="279"/>
            <p14:sldId id="265"/>
            <p14:sldId id="281"/>
            <p14:sldId id="285"/>
            <p14:sldId id="282"/>
            <p14:sldId id="283"/>
            <p14:sldId id="28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585A"/>
    <a:srgbClr val="DBD9DA"/>
    <a:srgbClr val="FFFF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263" autoAdjust="0"/>
    <p:restoredTop sz="53077" autoAdjust="0"/>
  </p:normalViewPr>
  <p:slideViewPr>
    <p:cSldViewPr snapToGrid="0" snapToObjects="1">
      <p:cViewPr varScale="1">
        <p:scale>
          <a:sx n="108" d="100"/>
          <a:sy n="108" d="100"/>
        </p:scale>
        <p:origin x="208" y="45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5" d="100"/>
          <a:sy n="85" d="100"/>
        </p:scale>
        <p:origin x="109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A02494-3F6A-1545-93B2-62C0169D8AE9}"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en-US"/>
        </a:p>
      </dgm:t>
    </dgm:pt>
    <dgm:pt modelId="{D4D4C6A7-B979-AD47-AF3D-F52901AFAE57}">
      <dgm:prSet/>
      <dgm:spPr/>
      <dgm:t>
        <a:bodyPr/>
        <a:lstStyle/>
        <a:p>
          <a:r>
            <a:rPr lang="en-US"/>
            <a:t>ARISE and CivicPulse cover similar themes, such as:</a:t>
          </a:r>
        </a:p>
      </dgm:t>
    </dgm:pt>
    <dgm:pt modelId="{1E3B7C49-9128-B34D-A7C8-DE805E95AFF2}" type="parTrans" cxnId="{243DDC8E-A283-354A-9FAF-25B47E143C4B}">
      <dgm:prSet/>
      <dgm:spPr/>
      <dgm:t>
        <a:bodyPr/>
        <a:lstStyle/>
        <a:p>
          <a:endParaRPr lang="en-US"/>
        </a:p>
      </dgm:t>
    </dgm:pt>
    <dgm:pt modelId="{5BB0C8DE-AEEF-B44B-B02F-03F25022B1A5}" type="sibTrans" cxnId="{243DDC8E-A283-354A-9FAF-25B47E143C4B}">
      <dgm:prSet/>
      <dgm:spPr/>
      <dgm:t>
        <a:bodyPr/>
        <a:lstStyle/>
        <a:p>
          <a:endParaRPr lang="en-US"/>
        </a:p>
      </dgm:t>
    </dgm:pt>
    <dgm:pt modelId="{33312FB8-67B7-8D4D-8118-0058099608C2}">
      <dgm:prSet/>
      <dgm:spPr/>
      <dgm:t>
        <a:bodyPr/>
        <a:lstStyle/>
        <a:p>
          <a:r>
            <a:rPr lang="en-US"/>
            <a:t>workforce capacity</a:t>
          </a:r>
        </a:p>
      </dgm:t>
    </dgm:pt>
    <dgm:pt modelId="{84A6409E-6D39-8A4B-91FB-07C819509921}" type="parTrans" cxnId="{33C8BB71-4920-BF42-8A6A-AED77D1D80B5}">
      <dgm:prSet/>
      <dgm:spPr/>
      <dgm:t>
        <a:bodyPr/>
        <a:lstStyle/>
        <a:p>
          <a:endParaRPr lang="en-US"/>
        </a:p>
      </dgm:t>
    </dgm:pt>
    <dgm:pt modelId="{9F1B8F06-B1E6-1440-97AE-062DA5D3076C}" type="sibTrans" cxnId="{33C8BB71-4920-BF42-8A6A-AED77D1D80B5}">
      <dgm:prSet/>
      <dgm:spPr/>
      <dgm:t>
        <a:bodyPr/>
        <a:lstStyle/>
        <a:p>
          <a:endParaRPr lang="en-US"/>
        </a:p>
      </dgm:t>
    </dgm:pt>
    <dgm:pt modelId="{00C012F8-D2B0-0F4F-B900-F60E2C43A13A}">
      <dgm:prSet/>
      <dgm:spPr/>
      <dgm:t>
        <a:bodyPr/>
        <a:lstStyle/>
        <a:p>
          <a:r>
            <a:rPr lang="en-US"/>
            <a:t>fiscal condition</a:t>
          </a:r>
        </a:p>
      </dgm:t>
    </dgm:pt>
    <dgm:pt modelId="{1A07006B-F128-E44B-A841-F0AF72F662F0}" type="parTrans" cxnId="{9AF3A7AF-286F-FA43-9FF2-11675DBFAC51}">
      <dgm:prSet/>
      <dgm:spPr/>
      <dgm:t>
        <a:bodyPr/>
        <a:lstStyle/>
        <a:p>
          <a:endParaRPr lang="en-US"/>
        </a:p>
      </dgm:t>
    </dgm:pt>
    <dgm:pt modelId="{3A44A3C0-8624-5442-90D2-C66475897045}" type="sibTrans" cxnId="{9AF3A7AF-286F-FA43-9FF2-11675DBFAC51}">
      <dgm:prSet/>
      <dgm:spPr/>
      <dgm:t>
        <a:bodyPr/>
        <a:lstStyle/>
        <a:p>
          <a:endParaRPr lang="en-US"/>
        </a:p>
      </dgm:t>
    </dgm:pt>
    <dgm:pt modelId="{D7BB0F32-96E1-4D4B-9205-D763C25B62F2}">
      <dgm:prSet/>
      <dgm:spPr/>
      <dgm:t>
        <a:bodyPr/>
        <a:lstStyle/>
        <a:p>
          <a:r>
            <a:rPr lang="en-US"/>
            <a:t>infrastructure finance</a:t>
          </a:r>
        </a:p>
      </dgm:t>
    </dgm:pt>
    <dgm:pt modelId="{F14FEB23-3C7E-E947-B207-17C253C31CD4}" type="parTrans" cxnId="{485FDB5B-F091-0A46-B390-095FCAC0E7C9}">
      <dgm:prSet/>
      <dgm:spPr/>
      <dgm:t>
        <a:bodyPr/>
        <a:lstStyle/>
        <a:p>
          <a:endParaRPr lang="en-US"/>
        </a:p>
      </dgm:t>
    </dgm:pt>
    <dgm:pt modelId="{B7FB245A-BC19-D24A-B750-E2004B648D2B}" type="sibTrans" cxnId="{485FDB5B-F091-0A46-B390-095FCAC0E7C9}">
      <dgm:prSet/>
      <dgm:spPr/>
      <dgm:t>
        <a:bodyPr/>
        <a:lstStyle/>
        <a:p>
          <a:endParaRPr lang="en-US"/>
        </a:p>
      </dgm:t>
    </dgm:pt>
    <dgm:pt modelId="{2834663B-B37D-EA49-928A-D8198DE388B7}">
      <dgm:prSet/>
      <dgm:spPr/>
      <dgm:t>
        <a:bodyPr/>
        <a:lstStyle/>
        <a:p>
          <a:r>
            <a:rPr lang="en-US"/>
            <a:t>disaster services</a:t>
          </a:r>
        </a:p>
      </dgm:t>
    </dgm:pt>
    <dgm:pt modelId="{9BE55724-E8C3-924A-A691-EBF346FE8478}" type="parTrans" cxnId="{C399B73F-C9AF-8947-9678-78E2927BCBC4}">
      <dgm:prSet/>
      <dgm:spPr/>
      <dgm:t>
        <a:bodyPr/>
        <a:lstStyle/>
        <a:p>
          <a:endParaRPr lang="en-US"/>
        </a:p>
      </dgm:t>
    </dgm:pt>
    <dgm:pt modelId="{26152DE6-63AC-F24B-9089-9ADC3EB644E2}" type="sibTrans" cxnId="{C399B73F-C9AF-8947-9678-78E2927BCBC4}">
      <dgm:prSet/>
      <dgm:spPr/>
      <dgm:t>
        <a:bodyPr/>
        <a:lstStyle/>
        <a:p>
          <a:endParaRPr lang="en-US"/>
        </a:p>
      </dgm:t>
    </dgm:pt>
    <dgm:pt modelId="{7F58ADDD-EF23-D045-AB3E-20FFFFCB8F56}">
      <dgm:prSet/>
      <dgm:spPr/>
      <dgm:t>
        <a:bodyPr/>
        <a:lstStyle/>
        <a:p>
          <a:r>
            <a:rPr lang="en-US"/>
            <a:t>preparedness</a:t>
          </a:r>
        </a:p>
      </dgm:t>
    </dgm:pt>
    <dgm:pt modelId="{1E3C1CF8-AEB9-0C40-B4D7-45E40F937706}" type="parTrans" cxnId="{13097D19-1E7B-E046-8A29-73612E8B6DCB}">
      <dgm:prSet/>
      <dgm:spPr/>
      <dgm:t>
        <a:bodyPr/>
        <a:lstStyle/>
        <a:p>
          <a:endParaRPr lang="en-US"/>
        </a:p>
      </dgm:t>
    </dgm:pt>
    <dgm:pt modelId="{E99A2713-99EE-3B43-8ED5-D465A7ECC3D8}" type="sibTrans" cxnId="{13097D19-1E7B-E046-8A29-73612E8B6DCB}">
      <dgm:prSet/>
      <dgm:spPr/>
      <dgm:t>
        <a:bodyPr/>
        <a:lstStyle/>
        <a:p>
          <a:endParaRPr lang="en-US"/>
        </a:p>
      </dgm:t>
    </dgm:pt>
    <dgm:pt modelId="{8825C0F9-D5D4-3F4C-A4A0-3892FB18D00F}">
      <dgm:prSet/>
      <dgm:spPr/>
      <dgm:t>
        <a:bodyPr/>
        <a:lstStyle/>
        <a:p>
          <a:r>
            <a:rPr lang="en-US"/>
            <a:t>respondent demographics</a:t>
          </a:r>
        </a:p>
      </dgm:t>
    </dgm:pt>
    <dgm:pt modelId="{D97EDB8F-66B5-F345-993C-A3B7FA5639F6}" type="parTrans" cxnId="{50E57C7D-E911-334C-8A45-0D3A303713EA}">
      <dgm:prSet/>
      <dgm:spPr/>
      <dgm:t>
        <a:bodyPr/>
        <a:lstStyle/>
        <a:p>
          <a:endParaRPr lang="en-US"/>
        </a:p>
      </dgm:t>
    </dgm:pt>
    <dgm:pt modelId="{451B6D98-DDB0-5340-9D93-B3CA87DCC0C8}" type="sibTrans" cxnId="{50E57C7D-E911-334C-8A45-0D3A303713EA}">
      <dgm:prSet/>
      <dgm:spPr/>
      <dgm:t>
        <a:bodyPr/>
        <a:lstStyle/>
        <a:p>
          <a:endParaRPr lang="en-US"/>
        </a:p>
      </dgm:t>
    </dgm:pt>
    <dgm:pt modelId="{93E2A943-7CF4-004F-AE1C-C92EF6DFC378}" type="pres">
      <dgm:prSet presAssocID="{E3A02494-3F6A-1545-93B2-62C0169D8AE9}" presName="compositeShape" presStyleCnt="0">
        <dgm:presLayoutVars>
          <dgm:chMax val="7"/>
          <dgm:dir/>
          <dgm:resizeHandles val="exact"/>
        </dgm:presLayoutVars>
      </dgm:prSet>
      <dgm:spPr/>
    </dgm:pt>
    <dgm:pt modelId="{166CC99A-520D-3940-AE78-09F02F6C4B8A}" type="pres">
      <dgm:prSet presAssocID="{D4D4C6A7-B979-AD47-AF3D-F52901AFAE57}" presName="circ1" presStyleLbl="vennNode1" presStyleIdx="0" presStyleCnt="7"/>
      <dgm:spPr>
        <a:solidFill>
          <a:schemeClr val="tx1">
            <a:alpha val="50000"/>
          </a:schemeClr>
        </a:solidFill>
      </dgm:spPr>
    </dgm:pt>
    <dgm:pt modelId="{7272BE53-AE2A-5948-9DED-069D692B5A55}" type="pres">
      <dgm:prSet presAssocID="{D4D4C6A7-B979-AD47-AF3D-F52901AFAE57}" presName="circ1Tx" presStyleLbl="revTx" presStyleIdx="0" presStyleCnt="0">
        <dgm:presLayoutVars>
          <dgm:chMax val="0"/>
          <dgm:chPref val="0"/>
          <dgm:bulletEnabled val="1"/>
        </dgm:presLayoutVars>
      </dgm:prSet>
      <dgm:spPr/>
    </dgm:pt>
    <dgm:pt modelId="{94BFB798-EC64-5943-AA14-E0FEEA914793}" type="pres">
      <dgm:prSet presAssocID="{33312FB8-67B7-8D4D-8118-0058099608C2}" presName="circ2" presStyleLbl="vennNode1" presStyleIdx="1" presStyleCnt="7"/>
      <dgm:spPr>
        <a:solidFill>
          <a:srgbClr val="FFC000">
            <a:alpha val="50000"/>
          </a:srgbClr>
        </a:solidFill>
      </dgm:spPr>
    </dgm:pt>
    <dgm:pt modelId="{CC36571B-F152-5147-919F-9B7E0804FD8C}" type="pres">
      <dgm:prSet presAssocID="{33312FB8-67B7-8D4D-8118-0058099608C2}" presName="circ2Tx" presStyleLbl="revTx" presStyleIdx="0" presStyleCnt="0">
        <dgm:presLayoutVars>
          <dgm:chMax val="0"/>
          <dgm:chPref val="0"/>
          <dgm:bulletEnabled val="1"/>
        </dgm:presLayoutVars>
      </dgm:prSet>
      <dgm:spPr/>
    </dgm:pt>
    <dgm:pt modelId="{A8F9EA1F-E9AA-D94F-8E57-01FB35D42F17}" type="pres">
      <dgm:prSet presAssocID="{00C012F8-D2B0-0F4F-B900-F60E2C43A13A}" presName="circ3" presStyleLbl="vennNode1" presStyleIdx="2" presStyleCnt="7"/>
      <dgm:spPr>
        <a:solidFill>
          <a:schemeClr val="accent2">
            <a:alpha val="50000"/>
          </a:schemeClr>
        </a:solidFill>
      </dgm:spPr>
    </dgm:pt>
    <dgm:pt modelId="{BCC9291A-D273-F64A-B570-DD1C209505EA}" type="pres">
      <dgm:prSet presAssocID="{00C012F8-D2B0-0F4F-B900-F60E2C43A13A}" presName="circ3Tx" presStyleLbl="revTx" presStyleIdx="0" presStyleCnt="0">
        <dgm:presLayoutVars>
          <dgm:chMax val="0"/>
          <dgm:chPref val="0"/>
          <dgm:bulletEnabled val="1"/>
        </dgm:presLayoutVars>
      </dgm:prSet>
      <dgm:spPr/>
    </dgm:pt>
    <dgm:pt modelId="{886B2228-8958-3445-B002-4E8DBEA4734D}" type="pres">
      <dgm:prSet presAssocID="{D7BB0F32-96E1-4D4B-9205-D763C25B62F2}" presName="circ4" presStyleLbl="vennNode1" presStyleIdx="3" presStyleCnt="7"/>
      <dgm:spPr>
        <a:solidFill>
          <a:srgbClr val="FFFF00">
            <a:alpha val="50000"/>
          </a:srgbClr>
        </a:solidFill>
      </dgm:spPr>
    </dgm:pt>
    <dgm:pt modelId="{70863D55-E13E-0B4A-941C-D3FCE64D87FB}" type="pres">
      <dgm:prSet presAssocID="{D7BB0F32-96E1-4D4B-9205-D763C25B62F2}" presName="circ4Tx" presStyleLbl="revTx" presStyleIdx="0" presStyleCnt="0">
        <dgm:presLayoutVars>
          <dgm:chMax val="0"/>
          <dgm:chPref val="0"/>
          <dgm:bulletEnabled val="1"/>
        </dgm:presLayoutVars>
      </dgm:prSet>
      <dgm:spPr/>
    </dgm:pt>
    <dgm:pt modelId="{F1A2F44A-49B4-B545-877D-6DD5535D33C1}" type="pres">
      <dgm:prSet presAssocID="{2834663B-B37D-EA49-928A-D8198DE388B7}" presName="circ5" presStyleLbl="vennNode1" presStyleIdx="4" presStyleCnt="7"/>
      <dgm:spPr>
        <a:solidFill>
          <a:schemeClr val="tx1">
            <a:alpha val="50000"/>
          </a:schemeClr>
        </a:solidFill>
      </dgm:spPr>
    </dgm:pt>
    <dgm:pt modelId="{FEF0956A-5059-454C-8332-A38729C16247}" type="pres">
      <dgm:prSet presAssocID="{2834663B-B37D-EA49-928A-D8198DE388B7}" presName="circ5Tx" presStyleLbl="revTx" presStyleIdx="0" presStyleCnt="0">
        <dgm:presLayoutVars>
          <dgm:chMax val="0"/>
          <dgm:chPref val="0"/>
          <dgm:bulletEnabled val="1"/>
        </dgm:presLayoutVars>
      </dgm:prSet>
      <dgm:spPr/>
    </dgm:pt>
    <dgm:pt modelId="{D9DB03EB-E1D8-8D4F-995C-2F87DAC0445F}" type="pres">
      <dgm:prSet presAssocID="{7F58ADDD-EF23-D045-AB3E-20FFFFCB8F56}" presName="circ6" presStyleLbl="vennNode1" presStyleIdx="5" presStyleCnt="7"/>
      <dgm:spPr>
        <a:solidFill>
          <a:srgbClr val="FFC000">
            <a:alpha val="50000"/>
          </a:srgbClr>
        </a:solidFill>
      </dgm:spPr>
    </dgm:pt>
    <dgm:pt modelId="{1E027D9B-D3DD-C044-9CE1-F2A0DE5113C4}" type="pres">
      <dgm:prSet presAssocID="{7F58ADDD-EF23-D045-AB3E-20FFFFCB8F56}" presName="circ6Tx" presStyleLbl="revTx" presStyleIdx="0" presStyleCnt="0">
        <dgm:presLayoutVars>
          <dgm:chMax val="0"/>
          <dgm:chPref val="0"/>
          <dgm:bulletEnabled val="1"/>
        </dgm:presLayoutVars>
      </dgm:prSet>
      <dgm:spPr/>
    </dgm:pt>
    <dgm:pt modelId="{AFFA3A9C-E55C-D041-8ACE-2D6F7D495BAD}" type="pres">
      <dgm:prSet presAssocID="{8825C0F9-D5D4-3F4C-A4A0-3892FB18D00F}" presName="circ7" presStyleLbl="vennNode1" presStyleIdx="6" presStyleCnt="7"/>
      <dgm:spPr>
        <a:solidFill>
          <a:schemeClr val="accent2">
            <a:alpha val="50000"/>
          </a:schemeClr>
        </a:solidFill>
      </dgm:spPr>
    </dgm:pt>
    <dgm:pt modelId="{6FCB4622-7B7E-514A-A68A-9F746D0A6F33}" type="pres">
      <dgm:prSet presAssocID="{8825C0F9-D5D4-3F4C-A4A0-3892FB18D00F}" presName="circ7Tx" presStyleLbl="revTx" presStyleIdx="0" presStyleCnt="0">
        <dgm:presLayoutVars>
          <dgm:chMax val="0"/>
          <dgm:chPref val="0"/>
          <dgm:bulletEnabled val="1"/>
        </dgm:presLayoutVars>
      </dgm:prSet>
      <dgm:spPr/>
    </dgm:pt>
  </dgm:ptLst>
  <dgm:cxnLst>
    <dgm:cxn modelId="{13097D19-1E7B-E046-8A29-73612E8B6DCB}" srcId="{E3A02494-3F6A-1545-93B2-62C0169D8AE9}" destId="{7F58ADDD-EF23-D045-AB3E-20FFFFCB8F56}" srcOrd="5" destOrd="0" parTransId="{1E3C1CF8-AEB9-0C40-B4D7-45E40F937706}" sibTransId="{E99A2713-99EE-3B43-8ED5-D465A7ECC3D8}"/>
    <dgm:cxn modelId="{EAF6D22C-1341-FC48-ABF6-1584AAF8C3EE}" type="presOf" srcId="{7F58ADDD-EF23-D045-AB3E-20FFFFCB8F56}" destId="{1E027D9B-D3DD-C044-9CE1-F2A0DE5113C4}" srcOrd="0" destOrd="0" presId="urn:microsoft.com/office/officeart/2005/8/layout/venn1"/>
    <dgm:cxn modelId="{C399B73F-C9AF-8947-9678-78E2927BCBC4}" srcId="{E3A02494-3F6A-1545-93B2-62C0169D8AE9}" destId="{2834663B-B37D-EA49-928A-D8198DE388B7}" srcOrd="4" destOrd="0" parTransId="{9BE55724-E8C3-924A-A691-EBF346FE8478}" sibTransId="{26152DE6-63AC-F24B-9089-9ADC3EB644E2}"/>
    <dgm:cxn modelId="{485FDB5B-F091-0A46-B390-095FCAC0E7C9}" srcId="{E3A02494-3F6A-1545-93B2-62C0169D8AE9}" destId="{D7BB0F32-96E1-4D4B-9205-D763C25B62F2}" srcOrd="3" destOrd="0" parTransId="{F14FEB23-3C7E-E947-B207-17C253C31CD4}" sibTransId="{B7FB245A-BC19-D24A-B750-E2004B648D2B}"/>
    <dgm:cxn modelId="{1EFF8068-A9C9-F446-951E-A8C2F9CD71ED}" type="presOf" srcId="{D4D4C6A7-B979-AD47-AF3D-F52901AFAE57}" destId="{7272BE53-AE2A-5948-9DED-069D692B5A55}" srcOrd="0" destOrd="0" presId="urn:microsoft.com/office/officeart/2005/8/layout/venn1"/>
    <dgm:cxn modelId="{33C8BB71-4920-BF42-8A6A-AED77D1D80B5}" srcId="{E3A02494-3F6A-1545-93B2-62C0169D8AE9}" destId="{33312FB8-67B7-8D4D-8118-0058099608C2}" srcOrd="1" destOrd="0" parTransId="{84A6409E-6D39-8A4B-91FB-07C819509921}" sibTransId="{9F1B8F06-B1E6-1440-97AE-062DA5D3076C}"/>
    <dgm:cxn modelId="{50E57C7D-E911-334C-8A45-0D3A303713EA}" srcId="{E3A02494-3F6A-1545-93B2-62C0169D8AE9}" destId="{8825C0F9-D5D4-3F4C-A4A0-3892FB18D00F}" srcOrd="6" destOrd="0" parTransId="{D97EDB8F-66B5-F345-993C-A3B7FA5639F6}" sibTransId="{451B6D98-DDB0-5340-9D93-B3CA87DCC0C8}"/>
    <dgm:cxn modelId="{B2057A83-552A-D843-B051-3A8D290BFB40}" type="presOf" srcId="{8825C0F9-D5D4-3F4C-A4A0-3892FB18D00F}" destId="{6FCB4622-7B7E-514A-A68A-9F746D0A6F33}" srcOrd="0" destOrd="0" presId="urn:microsoft.com/office/officeart/2005/8/layout/venn1"/>
    <dgm:cxn modelId="{243DDC8E-A283-354A-9FAF-25B47E143C4B}" srcId="{E3A02494-3F6A-1545-93B2-62C0169D8AE9}" destId="{D4D4C6A7-B979-AD47-AF3D-F52901AFAE57}" srcOrd="0" destOrd="0" parTransId="{1E3B7C49-9128-B34D-A7C8-DE805E95AFF2}" sibTransId="{5BB0C8DE-AEEF-B44B-B02F-03F25022B1A5}"/>
    <dgm:cxn modelId="{9AF3A7AF-286F-FA43-9FF2-11675DBFAC51}" srcId="{E3A02494-3F6A-1545-93B2-62C0169D8AE9}" destId="{00C012F8-D2B0-0F4F-B900-F60E2C43A13A}" srcOrd="2" destOrd="0" parTransId="{1A07006B-F128-E44B-A841-F0AF72F662F0}" sibTransId="{3A44A3C0-8624-5442-90D2-C66475897045}"/>
    <dgm:cxn modelId="{44840ACF-CBC1-0649-9C49-9387C6CFA4D0}" type="presOf" srcId="{E3A02494-3F6A-1545-93B2-62C0169D8AE9}" destId="{93E2A943-7CF4-004F-AE1C-C92EF6DFC378}" srcOrd="0" destOrd="0" presId="urn:microsoft.com/office/officeart/2005/8/layout/venn1"/>
    <dgm:cxn modelId="{119262D1-C343-5742-87BA-4AEF46EEC6C5}" type="presOf" srcId="{2834663B-B37D-EA49-928A-D8198DE388B7}" destId="{FEF0956A-5059-454C-8332-A38729C16247}" srcOrd="0" destOrd="0" presId="urn:microsoft.com/office/officeart/2005/8/layout/venn1"/>
    <dgm:cxn modelId="{10ACE6D9-526E-F640-A115-056397CC55E4}" type="presOf" srcId="{00C012F8-D2B0-0F4F-B900-F60E2C43A13A}" destId="{BCC9291A-D273-F64A-B570-DD1C209505EA}" srcOrd="0" destOrd="0" presId="urn:microsoft.com/office/officeart/2005/8/layout/venn1"/>
    <dgm:cxn modelId="{D83766F6-4677-FE42-BFD7-A69C2E326CAB}" type="presOf" srcId="{33312FB8-67B7-8D4D-8118-0058099608C2}" destId="{CC36571B-F152-5147-919F-9B7E0804FD8C}" srcOrd="0" destOrd="0" presId="urn:microsoft.com/office/officeart/2005/8/layout/venn1"/>
    <dgm:cxn modelId="{C917A7FF-C19C-2F43-BA11-F00EDA1B57F0}" type="presOf" srcId="{D7BB0F32-96E1-4D4B-9205-D763C25B62F2}" destId="{70863D55-E13E-0B4A-941C-D3FCE64D87FB}" srcOrd="0" destOrd="0" presId="urn:microsoft.com/office/officeart/2005/8/layout/venn1"/>
    <dgm:cxn modelId="{E5EEDDCE-16F5-B84F-B827-E524C4A77431}" type="presParOf" srcId="{93E2A943-7CF4-004F-AE1C-C92EF6DFC378}" destId="{166CC99A-520D-3940-AE78-09F02F6C4B8A}" srcOrd="0" destOrd="0" presId="urn:microsoft.com/office/officeart/2005/8/layout/venn1"/>
    <dgm:cxn modelId="{BCB8C053-8C10-8844-975B-81E9CEB938C1}" type="presParOf" srcId="{93E2A943-7CF4-004F-AE1C-C92EF6DFC378}" destId="{7272BE53-AE2A-5948-9DED-069D692B5A55}" srcOrd="1" destOrd="0" presId="urn:microsoft.com/office/officeart/2005/8/layout/venn1"/>
    <dgm:cxn modelId="{56A944BF-F9FA-0C47-9E8F-E4EDCA2698D5}" type="presParOf" srcId="{93E2A943-7CF4-004F-AE1C-C92EF6DFC378}" destId="{94BFB798-EC64-5943-AA14-E0FEEA914793}" srcOrd="2" destOrd="0" presId="urn:microsoft.com/office/officeart/2005/8/layout/venn1"/>
    <dgm:cxn modelId="{FA8C8506-D717-BB47-9F68-8726DCCB4C12}" type="presParOf" srcId="{93E2A943-7CF4-004F-AE1C-C92EF6DFC378}" destId="{CC36571B-F152-5147-919F-9B7E0804FD8C}" srcOrd="3" destOrd="0" presId="urn:microsoft.com/office/officeart/2005/8/layout/venn1"/>
    <dgm:cxn modelId="{0AFDCF2B-A8DC-3E47-8B80-52F924CDFEB9}" type="presParOf" srcId="{93E2A943-7CF4-004F-AE1C-C92EF6DFC378}" destId="{A8F9EA1F-E9AA-D94F-8E57-01FB35D42F17}" srcOrd="4" destOrd="0" presId="urn:microsoft.com/office/officeart/2005/8/layout/venn1"/>
    <dgm:cxn modelId="{F519A6E4-F099-E149-BF9D-B68C2CED49B7}" type="presParOf" srcId="{93E2A943-7CF4-004F-AE1C-C92EF6DFC378}" destId="{BCC9291A-D273-F64A-B570-DD1C209505EA}" srcOrd="5" destOrd="0" presId="urn:microsoft.com/office/officeart/2005/8/layout/venn1"/>
    <dgm:cxn modelId="{D54C9D56-0476-F541-A6A7-450725117873}" type="presParOf" srcId="{93E2A943-7CF4-004F-AE1C-C92EF6DFC378}" destId="{886B2228-8958-3445-B002-4E8DBEA4734D}" srcOrd="6" destOrd="0" presId="urn:microsoft.com/office/officeart/2005/8/layout/venn1"/>
    <dgm:cxn modelId="{8C04383C-5182-0D46-8C08-DAD058D34847}" type="presParOf" srcId="{93E2A943-7CF4-004F-AE1C-C92EF6DFC378}" destId="{70863D55-E13E-0B4A-941C-D3FCE64D87FB}" srcOrd="7" destOrd="0" presId="urn:microsoft.com/office/officeart/2005/8/layout/venn1"/>
    <dgm:cxn modelId="{B871ABEB-A732-394B-9B1A-EDB12DEEC840}" type="presParOf" srcId="{93E2A943-7CF4-004F-AE1C-C92EF6DFC378}" destId="{F1A2F44A-49B4-B545-877D-6DD5535D33C1}" srcOrd="8" destOrd="0" presId="urn:microsoft.com/office/officeart/2005/8/layout/venn1"/>
    <dgm:cxn modelId="{E893EDDE-F87A-5745-802A-150180C27432}" type="presParOf" srcId="{93E2A943-7CF4-004F-AE1C-C92EF6DFC378}" destId="{FEF0956A-5059-454C-8332-A38729C16247}" srcOrd="9" destOrd="0" presId="urn:microsoft.com/office/officeart/2005/8/layout/venn1"/>
    <dgm:cxn modelId="{C44FB58C-89F2-5C4B-8C82-9F03EB9A9EDB}" type="presParOf" srcId="{93E2A943-7CF4-004F-AE1C-C92EF6DFC378}" destId="{D9DB03EB-E1D8-8D4F-995C-2F87DAC0445F}" srcOrd="10" destOrd="0" presId="urn:microsoft.com/office/officeart/2005/8/layout/venn1"/>
    <dgm:cxn modelId="{46D1EDAE-56B9-0B40-B65C-2773048A4329}" type="presParOf" srcId="{93E2A943-7CF4-004F-AE1C-C92EF6DFC378}" destId="{1E027D9B-D3DD-C044-9CE1-F2A0DE5113C4}" srcOrd="11" destOrd="0" presId="urn:microsoft.com/office/officeart/2005/8/layout/venn1"/>
    <dgm:cxn modelId="{857D773A-F94C-144F-A602-04EB8330F1C0}" type="presParOf" srcId="{93E2A943-7CF4-004F-AE1C-C92EF6DFC378}" destId="{AFFA3A9C-E55C-D041-8ACE-2D6F7D495BAD}" srcOrd="12" destOrd="0" presId="urn:microsoft.com/office/officeart/2005/8/layout/venn1"/>
    <dgm:cxn modelId="{474A0547-E435-B846-890C-2F3E1E8F9A86}" type="presParOf" srcId="{93E2A943-7CF4-004F-AE1C-C92EF6DFC378}" destId="{6FCB4622-7B7E-514A-A68A-9F746D0A6F33}" srcOrd="1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F8D965-5756-D34E-9048-4B0F2B0C717C}" type="doc">
      <dgm:prSet loTypeId="urn:microsoft.com/office/officeart/2005/8/layout/hList1" loCatId="list" qsTypeId="urn:microsoft.com/office/officeart/2005/8/quickstyle/simple5" qsCatId="simple" csTypeId="urn:microsoft.com/office/officeart/2005/8/colors/colorful2" csCatId="colorful" phldr="1"/>
      <dgm:spPr/>
      <dgm:t>
        <a:bodyPr/>
        <a:lstStyle/>
        <a:p>
          <a:endParaRPr lang="en-US"/>
        </a:p>
      </dgm:t>
    </dgm:pt>
    <dgm:pt modelId="{CF96989F-F082-2A4E-B2B7-3B6D48EE5EA3}">
      <dgm:prSet/>
      <dgm:spPr/>
      <dgm:t>
        <a:bodyPr/>
        <a:lstStyle/>
        <a:p>
          <a:r>
            <a:rPr lang="en-US"/>
            <a:t>To create and validate the crosswalk, we used:</a:t>
          </a:r>
        </a:p>
      </dgm:t>
    </dgm:pt>
    <dgm:pt modelId="{498A0865-254C-D441-938B-3428CA6B356D}" type="parTrans" cxnId="{0B64423F-2BCB-AA45-803F-5E9C7A94F20C}">
      <dgm:prSet/>
      <dgm:spPr/>
      <dgm:t>
        <a:bodyPr/>
        <a:lstStyle/>
        <a:p>
          <a:endParaRPr lang="en-US"/>
        </a:p>
      </dgm:t>
    </dgm:pt>
    <dgm:pt modelId="{8CB8955B-F6A3-A642-90F8-2C2D1AA7D154}" type="sibTrans" cxnId="{0B64423F-2BCB-AA45-803F-5E9C7A94F20C}">
      <dgm:prSet/>
      <dgm:spPr/>
      <dgm:t>
        <a:bodyPr/>
        <a:lstStyle/>
        <a:p>
          <a:endParaRPr lang="en-US"/>
        </a:p>
      </dgm:t>
    </dgm:pt>
    <dgm:pt modelId="{0921F982-76EE-6E47-86AE-E92C8A32D369}">
      <dgm:prSet/>
      <dgm:spPr/>
      <dgm:t>
        <a:bodyPr/>
        <a:lstStyle/>
        <a:p>
          <a:r>
            <a:rPr lang="en-US" dirty="0"/>
            <a:t>ARISE side</a:t>
          </a:r>
        </a:p>
      </dgm:t>
    </dgm:pt>
    <dgm:pt modelId="{E610C9CA-BC5B-3045-B7A2-953CEBD54CE0}" type="parTrans" cxnId="{2887216A-3511-6F4E-95E5-89C6EA173D20}">
      <dgm:prSet/>
      <dgm:spPr/>
      <dgm:t>
        <a:bodyPr/>
        <a:lstStyle/>
        <a:p>
          <a:endParaRPr lang="en-US"/>
        </a:p>
      </dgm:t>
    </dgm:pt>
    <dgm:pt modelId="{B4FAD48E-4751-6043-B6FC-CC2CD3F5BD45}" type="sibTrans" cxnId="{2887216A-3511-6F4E-95E5-89C6EA173D20}">
      <dgm:prSet/>
      <dgm:spPr/>
      <dgm:t>
        <a:bodyPr/>
        <a:lstStyle/>
        <a:p>
          <a:endParaRPr lang="en-US"/>
        </a:p>
      </dgm:t>
    </dgm:pt>
    <dgm:pt modelId="{59244DD4-D1CB-3A45-9878-716D62443546}">
      <dgm:prSet/>
      <dgm:spPr/>
      <dgm:t>
        <a:bodyPr/>
        <a:lstStyle/>
        <a:p>
          <a:r>
            <a:rPr lang="en-US" dirty="0" err="1"/>
            <a:t>CivicPulse</a:t>
          </a:r>
          <a:r>
            <a:rPr lang="en-US" dirty="0"/>
            <a:t> side</a:t>
          </a:r>
        </a:p>
      </dgm:t>
    </dgm:pt>
    <dgm:pt modelId="{EF8A6CDA-5306-7C46-9BED-92CFD4B1FF8B}" type="parTrans" cxnId="{F8C6C078-5DFF-0B4B-8A72-201D697B13F3}">
      <dgm:prSet/>
      <dgm:spPr/>
      <dgm:t>
        <a:bodyPr/>
        <a:lstStyle/>
        <a:p>
          <a:endParaRPr lang="en-US"/>
        </a:p>
      </dgm:t>
    </dgm:pt>
    <dgm:pt modelId="{C5B2DB95-A3EF-374B-A47B-7B91C8089366}" type="sibTrans" cxnId="{F8C6C078-5DFF-0B4B-8A72-201D697B13F3}">
      <dgm:prSet/>
      <dgm:spPr/>
      <dgm:t>
        <a:bodyPr/>
        <a:lstStyle/>
        <a:p>
          <a:endParaRPr lang="en-US"/>
        </a:p>
      </dgm:t>
    </dgm:pt>
    <dgm:pt modelId="{7D197BA8-901D-1E42-8777-B6A2B58F0F25}">
      <dgm:prSet/>
      <dgm:spPr/>
      <dgm:t>
        <a:bodyPr/>
        <a:lstStyle/>
        <a:p>
          <a:r>
            <a:rPr lang="en-US" b="1"/>
            <a:t>ARISE side</a:t>
          </a:r>
          <a:endParaRPr lang="en-US"/>
        </a:p>
      </dgm:t>
    </dgm:pt>
    <dgm:pt modelId="{DE94FBD0-6E86-6840-883A-D733B2A27F09}" type="parTrans" cxnId="{DF52FECC-8463-EF40-901B-476A6FE24407}">
      <dgm:prSet/>
      <dgm:spPr/>
      <dgm:t>
        <a:bodyPr/>
        <a:lstStyle/>
        <a:p>
          <a:endParaRPr lang="en-US"/>
        </a:p>
      </dgm:t>
    </dgm:pt>
    <dgm:pt modelId="{C8688D4A-C773-774A-A4DA-069111491D0A}" type="sibTrans" cxnId="{DF52FECC-8463-EF40-901B-476A6FE24407}">
      <dgm:prSet/>
      <dgm:spPr/>
      <dgm:t>
        <a:bodyPr/>
        <a:lstStyle/>
        <a:p>
          <a:endParaRPr lang="en-US"/>
        </a:p>
      </dgm:t>
    </dgm:pt>
    <dgm:pt modelId="{28F31717-D589-F040-8C7B-8F92DFFC2452}">
      <dgm:prSet/>
      <dgm:spPr/>
      <dgm:t>
        <a:bodyPr/>
        <a:lstStyle/>
        <a:p>
          <a:r>
            <a:rPr lang="en-US"/>
            <a:t>ARISE questionnaire</a:t>
          </a:r>
        </a:p>
      </dgm:t>
    </dgm:pt>
    <dgm:pt modelId="{87DFC51F-5CD2-E64B-8778-D12C09A568A6}" type="parTrans" cxnId="{010F49E4-DC0F-974A-8A50-EAD24BC76646}">
      <dgm:prSet/>
      <dgm:spPr/>
      <dgm:t>
        <a:bodyPr/>
        <a:lstStyle/>
        <a:p>
          <a:endParaRPr lang="en-US"/>
        </a:p>
      </dgm:t>
    </dgm:pt>
    <dgm:pt modelId="{EF895469-37F9-A445-AA4A-11ACF2A4B41F}" type="sibTrans" cxnId="{010F49E4-DC0F-974A-8A50-EAD24BC76646}">
      <dgm:prSet/>
      <dgm:spPr/>
      <dgm:t>
        <a:bodyPr/>
        <a:lstStyle/>
        <a:p>
          <a:endParaRPr lang="en-US"/>
        </a:p>
      </dgm:t>
    </dgm:pt>
    <dgm:pt modelId="{71EA2A5C-E429-6741-94D2-5914896DAEC1}">
      <dgm:prSet/>
      <dgm:spPr/>
      <dgm:t>
        <a:bodyPr/>
        <a:lstStyle/>
        <a:p>
          <a:r>
            <a:rPr lang="en-US"/>
            <a:t>ARISE codebook</a:t>
          </a:r>
        </a:p>
      </dgm:t>
    </dgm:pt>
    <dgm:pt modelId="{8004BFAE-CF0F-C14A-8229-5C75E42EB733}" type="parTrans" cxnId="{C05BEFBC-436C-4F4D-9CFA-70B5AA22E3DE}">
      <dgm:prSet/>
      <dgm:spPr/>
      <dgm:t>
        <a:bodyPr/>
        <a:lstStyle/>
        <a:p>
          <a:endParaRPr lang="en-US"/>
        </a:p>
      </dgm:t>
    </dgm:pt>
    <dgm:pt modelId="{99DAC4FD-B3AB-BB4A-97CF-150519D6A918}" type="sibTrans" cxnId="{C05BEFBC-436C-4F4D-9CFA-70B5AA22E3DE}">
      <dgm:prSet/>
      <dgm:spPr/>
      <dgm:t>
        <a:bodyPr/>
        <a:lstStyle/>
        <a:p>
          <a:endParaRPr lang="en-US"/>
        </a:p>
      </dgm:t>
    </dgm:pt>
    <dgm:pt modelId="{C9BC64AE-4259-E941-A780-2474E71C418D}">
      <dgm:prSet/>
      <dgm:spPr/>
      <dgm:t>
        <a:bodyPr/>
        <a:lstStyle/>
        <a:p>
          <a:r>
            <a:rPr lang="en-US" dirty="0"/>
            <a:t>ARISE dataset</a:t>
          </a:r>
        </a:p>
      </dgm:t>
    </dgm:pt>
    <dgm:pt modelId="{4368AB2B-4531-9240-B5C1-18E7B4765AD8}" type="parTrans" cxnId="{46DDF37E-A404-544E-B89C-8BE54D86B3B1}">
      <dgm:prSet/>
      <dgm:spPr/>
      <dgm:t>
        <a:bodyPr/>
        <a:lstStyle/>
        <a:p>
          <a:endParaRPr lang="en-US"/>
        </a:p>
      </dgm:t>
    </dgm:pt>
    <dgm:pt modelId="{0E36DBF2-7585-9647-9F14-D36EEDED415F}" type="sibTrans" cxnId="{46DDF37E-A404-544E-B89C-8BE54D86B3B1}">
      <dgm:prSet/>
      <dgm:spPr/>
      <dgm:t>
        <a:bodyPr/>
        <a:lstStyle/>
        <a:p>
          <a:endParaRPr lang="en-US"/>
        </a:p>
      </dgm:t>
    </dgm:pt>
    <dgm:pt modelId="{E6CCD85B-0BA1-3640-807A-2FC392241115}">
      <dgm:prSet/>
      <dgm:spPr/>
      <dgm:t>
        <a:bodyPr/>
        <a:lstStyle/>
        <a:p>
          <a:r>
            <a:rPr lang="en-US" b="1"/>
            <a:t>CivicPulse side</a:t>
          </a:r>
          <a:endParaRPr lang="en-US"/>
        </a:p>
      </dgm:t>
    </dgm:pt>
    <dgm:pt modelId="{30CEA921-90B9-C245-9B96-EF9490B1072E}" type="parTrans" cxnId="{7B8632D0-8E76-0441-8614-974A8199D976}">
      <dgm:prSet/>
      <dgm:spPr/>
      <dgm:t>
        <a:bodyPr/>
        <a:lstStyle/>
        <a:p>
          <a:endParaRPr lang="en-US"/>
        </a:p>
      </dgm:t>
    </dgm:pt>
    <dgm:pt modelId="{12120CB2-D4A6-C54E-982E-A7D6B4FB0EFC}" type="sibTrans" cxnId="{7B8632D0-8E76-0441-8614-974A8199D976}">
      <dgm:prSet/>
      <dgm:spPr/>
      <dgm:t>
        <a:bodyPr/>
        <a:lstStyle/>
        <a:p>
          <a:endParaRPr lang="en-US"/>
        </a:p>
      </dgm:t>
    </dgm:pt>
    <dgm:pt modelId="{E48B1D6D-5C60-784C-82AD-5D291F0F8EB5}">
      <dgm:prSet/>
      <dgm:spPr/>
      <dgm:t>
        <a:bodyPr/>
        <a:lstStyle/>
        <a:p>
          <a:r>
            <a:rPr lang="en-US"/>
            <a:t>CivicPulse questionnaire</a:t>
          </a:r>
        </a:p>
      </dgm:t>
    </dgm:pt>
    <dgm:pt modelId="{0AD89B8F-4CBB-444D-9792-2909E245CF9E}" type="parTrans" cxnId="{CE09E81F-08D8-714A-9FF6-59DF48B92771}">
      <dgm:prSet/>
      <dgm:spPr/>
      <dgm:t>
        <a:bodyPr/>
        <a:lstStyle/>
        <a:p>
          <a:endParaRPr lang="en-US"/>
        </a:p>
      </dgm:t>
    </dgm:pt>
    <dgm:pt modelId="{2EF15260-A56C-8443-95D6-5F9D2AD5B87A}" type="sibTrans" cxnId="{CE09E81F-08D8-714A-9FF6-59DF48B92771}">
      <dgm:prSet/>
      <dgm:spPr/>
      <dgm:t>
        <a:bodyPr/>
        <a:lstStyle/>
        <a:p>
          <a:endParaRPr lang="en-US"/>
        </a:p>
      </dgm:t>
    </dgm:pt>
    <dgm:pt modelId="{CB4AC91E-3A16-574A-BA2D-1F2183A0EFCE}">
      <dgm:prSet/>
      <dgm:spPr/>
      <dgm:t>
        <a:bodyPr/>
        <a:lstStyle/>
        <a:p>
          <a:r>
            <a:rPr lang="en-US"/>
            <a:t>CivicPulse codebook</a:t>
          </a:r>
        </a:p>
      </dgm:t>
    </dgm:pt>
    <dgm:pt modelId="{079F5D45-8CA2-2448-8587-F87424421B32}" type="parTrans" cxnId="{A5D6B5BA-0425-4646-8F6B-543289FC19D7}">
      <dgm:prSet/>
      <dgm:spPr/>
      <dgm:t>
        <a:bodyPr/>
        <a:lstStyle/>
        <a:p>
          <a:endParaRPr lang="en-US"/>
        </a:p>
      </dgm:t>
    </dgm:pt>
    <dgm:pt modelId="{60FEFDEC-833B-2846-8E3E-9F6E7E039477}" type="sibTrans" cxnId="{A5D6B5BA-0425-4646-8F6B-543289FC19D7}">
      <dgm:prSet/>
      <dgm:spPr/>
      <dgm:t>
        <a:bodyPr/>
        <a:lstStyle/>
        <a:p>
          <a:endParaRPr lang="en-US"/>
        </a:p>
      </dgm:t>
    </dgm:pt>
    <dgm:pt modelId="{0D538522-DEB4-C340-875E-01D138A8C843}">
      <dgm:prSet/>
      <dgm:spPr/>
      <dgm:t>
        <a:bodyPr/>
        <a:lstStyle/>
        <a:p>
          <a:r>
            <a:rPr lang="en-US"/>
            <a:t>CivicPulse dataset</a:t>
          </a:r>
        </a:p>
      </dgm:t>
    </dgm:pt>
    <dgm:pt modelId="{EAD93551-DD4C-6F45-875E-30F2D22311F9}" type="parTrans" cxnId="{980504CD-4AFA-2F46-9A24-2F7AC77161C6}">
      <dgm:prSet/>
      <dgm:spPr/>
      <dgm:t>
        <a:bodyPr/>
        <a:lstStyle/>
        <a:p>
          <a:endParaRPr lang="en-US"/>
        </a:p>
      </dgm:t>
    </dgm:pt>
    <dgm:pt modelId="{6F9430E9-9207-9C45-841B-17E798852804}" type="sibTrans" cxnId="{980504CD-4AFA-2F46-9A24-2F7AC77161C6}">
      <dgm:prSet/>
      <dgm:spPr/>
      <dgm:t>
        <a:bodyPr/>
        <a:lstStyle/>
        <a:p>
          <a:endParaRPr lang="en-US"/>
        </a:p>
      </dgm:t>
    </dgm:pt>
    <dgm:pt modelId="{57632FD1-EDC2-8543-B2AB-2FF2ADC4DCBA}">
      <dgm:prSet/>
      <dgm:spPr/>
      <dgm:t>
        <a:bodyPr/>
        <a:lstStyle/>
        <a:p>
          <a:r>
            <a:rPr lang="en-US" b="1"/>
            <a:t>How they helped:</a:t>
          </a:r>
          <a:endParaRPr lang="en-US"/>
        </a:p>
      </dgm:t>
    </dgm:pt>
    <dgm:pt modelId="{27960B1D-A08C-2348-82B4-45B79174A835}" type="parTrans" cxnId="{0914213A-8D08-2F44-B06E-FD6C2EC6BEC6}">
      <dgm:prSet/>
      <dgm:spPr/>
      <dgm:t>
        <a:bodyPr/>
        <a:lstStyle/>
        <a:p>
          <a:endParaRPr lang="en-US"/>
        </a:p>
      </dgm:t>
    </dgm:pt>
    <dgm:pt modelId="{2B1F9D3C-6F57-B74B-BD46-D406D94E032D}" type="sibTrans" cxnId="{0914213A-8D08-2F44-B06E-FD6C2EC6BEC6}">
      <dgm:prSet/>
      <dgm:spPr/>
      <dgm:t>
        <a:bodyPr/>
        <a:lstStyle/>
        <a:p>
          <a:endParaRPr lang="en-US"/>
        </a:p>
      </dgm:t>
    </dgm:pt>
    <dgm:pt modelId="{0ED8F6E8-56C7-F04C-9BE6-73EFDCB9B048}">
      <dgm:prSet/>
      <dgm:spPr/>
      <dgm:t>
        <a:bodyPr/>
        <a:lstStyle/>
        <a:p>
          <a:r>
            <a:rPr lang="en-US" b="1" dirty="0"/>
            <a:t>Questionnaire</a:t>
          </a:r>
          <a:r>
            <a:rPr lang="en-US" dirty="0"/>
            <a:t>  what was asked</a:t>
          </a:r>
        </a:p>
      </dgm:t>
    </dgm:pt>
    <dgm:pt modelId="{A8E17EBE-8C18-324B-B8D5-FE57300A7C81}" type="parTrans" cxnId="{3AC12CB0-CA6C-044F-81AC-91C89AFEBA12}">
      <dgm:prSet/>
      <dgm:spPr/>
      <dgm:t>
        <a:bodyPr/>
        <a:lstStyle/>
        <a:p>
          <a:endParaRPr lang="en-US"/>
        </a:p>
      </dgm:t>
    </dgm:pt>
    <dgm:pt modelId="{6FA98593-9429-7E40-A29D-8377AC7D52E4}" type="sibTrans" cxnId="{3AC12CB0-CA6C-044F-81AC-91C89AFEBA12}">
      <dgm:prSet/>
      <dgm:spPr/>
      <dgm:t>
        <a:bodyPr/>
        <a:lstStyle/>
        <a:p>
          <a:endParaRPr lang="en-US"/>
        </a:p>
      </dgm:t>
    </dgm:pt>
    <dgm:pt modelId="{19768133-1499-5A4C-82F9-49E44F7274E8}">
      <dgm:prSet/>
      <dgm:spPr/>
      <dgm:t>
        <a:bodyPr/>
        <a:lstStyle/>
        <a:p>
          <a:r>
            <a:rPr lang="en-US" b="1" dirty="0"/>
            <a:t>Codebook</a:t>
          </a:r>
          <a:r>
            <a:rPr lang="en-US" dirty="0"/>
            <a:t>  how variables were defined</a:t>
          </a:r>
        </a:p>
      </dgm:t>
    </dgm:pt>
    <dgm:pt modelId="{81B01B87-622C-E044-98BC-FA6917184679}" type="parTrans" cxnId="{AFAB2949-F341-B547-A30E-42ED58667623}">
      <dgm:prSet/>
      <dgm:spPr/>
      <dgm:t>
        <a:bodyPr/>
        <a:lstStyle/>
        <a:p>
          <a:endParaRPr lang="en-US"/>
        </a:p>
      </dgm:t>
    </dgm:pt>
    <dgm:pt modelId="{2576E0ED-083C-004F-BD30-7BA19AE9786B}" type="sibTrans" cxnId="{AFAB2949-F341-B547-A30E-42ED58667623}">
      <dgm:prSet/>
      <dgm:spPr/>
      <dgm:t>
        <a:bodyPr/>
        <a:lstStyle/>
        <a:p>
          <a:endParaRPr lang="en-US"/>
        </a:p>
      </dgm:t>
    </dgm:pt>
    <dgm:pt modelId="{F22597EC-EA3E-FB46-BE3F-AA660DE7BDBB}">
      <dgm:prSet/>
      <dgm:spPr/>
      <dgm:t>
        <a:bodyPr/>
        <a:lstStyle/>
        <a:p>
          <a:r>
            <a:rPr lang="en-US" b="1" dirty="0"/>
            <a:t>Dataset</a:t>
          </a:r>
          <a:r>
            <a:rPr lang="en-US" dirty="0"/>
            <a:t>  how responses were actually stored</a:t>
          </a:r>
        </a:p>
      </dgm:t>
    </dgm:pt>
    <dgm:pt modelId="{BFEF7BA5-045C-1F40-A65F-0988DBB207FF}" type="parTrans" cxnId="{5A000CF4-A335-874C-8A5B-EF2D474DE65B}">
      <dgm:prSet/>
      <dgm:spPr/>
      <dgm:t>
        <a:bodyPr/>
        <a:lstStyle/>
        <a:p>
          <a:endParaRPr lang="en-US"/>
        </a:p>
      </dgm:t>
    </dgm:pt>
    <dgm:pt modelId="{76155B19-79BE-3D4A-A4D3-189BBCC3EA23}" type="sibTrans" cxnId="{5A000CF4-A335-874C-8A5B-EF2D474DE65B}">
      <dgm:prSet/>
      <dgm:spPr/>
      <dgm:t>
        <a:bodyPr/>
        <a:lstStyle/>
        <a:p>
          <a:endParaRPr lang="en-US"/>
        </a:p>
      </dgm:t>
    </dgm:pt>
    <dgm:pt modelId="{882B370B-D623-0843-AF06-643383B2311C}" type="pres">
      <dgm:prSet presAssocID="{46F8D965-5756-D34E-9048-4B0F2B0C717C}" presName="Name0" presStyleCnt="0">
        <dgm:presLayoutVars>
          <dgm:dir/>
          <dgm:animLvl val="lvl"/>
          <dgm:resizeHandles val="exact"/>
        </dgm:presLayoutVars>
      </dgm:prSet>
      <dgm:spPr/>
    </dgm:pt>
    <dgm:pt modelId="{2F6307CE-5C3A-7042-9747-548C1FD2F803}" type="pres">
      <dgm:prSet presAssocID="{CF96989F-F082-2A4E-B2B7-3B6D48EE5EA3}" presName="composite" presStyleCnt="0"/>
      <dgm:spPr/>
    </dgm:pt>
    <dgm:pt modelId="{93A6E4D0-E85F-A144-9699-158E827E836C}" type="pres">
      <dgm:prSet presAssocID="{CF96989F-F082-2A4E-B2B7-3B6D48EE5EA3}" presName="parTx" presStyleLbl="alignNode1" presStyleIdx="0" presStyleCnt="4">
        <dgm:presLayoutVars>
          <dgm:chMax val="0"/>
          <dgm:chPref val="0"/>
          <dgm:bulletEnabled val="1"/>
        </dgm:presLayoutVars>
      </dgm:prSet>
      <dgm:spPr/>
    </dgm:pt>
    <dgm:pt modelId="{EE8AA0C4-7D38-D648-9F8E-267A0D618E9B}" type="pres">
      <dgm:prSet presAssocID="{CF96989F-F082-2A4E-B2B7-3B6D48EE5EA3}" presName="desTx" presStyleLbl="alignAccFollowNode1" presStyleIdx="0" presStyleCnt="4">
        <dgm:presLayoutVars>
          <dgm:bulletEnabled val="1"/>
        </dgm:presLayoutVars>
      </dgm:prSet>
      <dgm:spPr/>
    </dgm:pt>
    <dgm:pt modelId="{7DC2F3CD-04FC-D142-87E1-FF74DE54AE69}" type="pres">
      <dgm:prSet presAssocID="{8CB8955B-F6A3-A642-90F8-2C2D1AA7D154}" presName="space" presStyleCnt="0"/>
      <dgm:spPr/>
    </dgm:pt>
    <dgm:pt modelId="{5D23C593-8D78-794E-B19D-BF0CC6832AD5}" type="pres">
      <dgm:prSet presAssocID="{7D197BA8-901D-1E42-8777-B6A2B58F0F25}" presName="composite" presStyleCnt="0"/>
      <dgm:spPr/>
    </dgm:pt>
    <dgm:pt modelId="{56F3A38F-838C-7E4F-80EA-38EDB697AF79}" type="pres">
      <dgm:prSet presAssocID="{7D197BA8-901D-1E42-8777-B6A2B58F0F25}" presName="parTx" presStyleLbl="alignNode1" presStyleIdx="1" presStyleCnt="4">
        <dgm:presLayoutVars>
          <dgm:chMax val="0"/>
          <dgm:chPref val="0"/>
          <dgm:bulletEnabled val="1"/>
        </dgm:presLayoutVars>
      </dgm:prSet>
      <dgm:spPr/>
    </dgm:pt>
    <dgm:pt modelId="{C28A01DC-C8D4-2949-9013-CE16E8E1AFC5}" type="pres">
      <dgm:prSet presAssocID="{7D197BA8-901D-1E42-8777-B6A2B58F0F25}" presName="desTx" presStyleLbl="alignAccFollowNode1" presStyleIdx="1" presStyleCnt="4">
        <dgm:presLayoutVars>
          <dgm:bulletEnabled val="1"/>
        </dgm:presLayoutVars>
      </dgm:prSet>
      <dgm:spPr/>
    </dgm:pt>
    <dgm:pt modelId="{EADB62EC-8C5C-CB4C-B9B5-ECFC931C320B}" type="pres">
      <dgm:prSet presAssocID="{C8688D4A-C773-774A-A4DA-069111491D0A}" presName="space" presStyleCnt="0"/>
      <dgm:spPr/>
    </dgm:pt>
    <dgm:pt modelId="{4C680993-B7BA-D24F-A5DA-2BAA7F764A53}" type="pres">
      <dgm:prSet presAssocID="{E6CCD85B-0BA1-3640-807A-2FC392241115}" presName="composite" presStyleCnt="0"/>
      <dgm:spPr/>
    </dgm:pt>
    <dgm:pt modelId="{57B7670E-ED77-F34D-A455-C936B86B2E66}" type="pres">
      <dgm:prSet presAssocID="{E6CCD85B-0BA1-3640-807A-2FC392241115}" presName="parTx" presStyleLbl="alignNode1" presStyleIdx="2" presStyleCnt="4">
        <dgm:presLayoutVars>
          <dgm:chMax val="0"/>
          <dgm:chPref val="0"/>
          <dgm:bulletEnabled val="1"/>
        </dgm:presLayoutVars>
      </dgm:prSet>
      <dgm:spPr/>
    </dgm:pt>
    <dgm:pt modelId="{A3D79F36-62E5-7B47-B344-E3103F5A9ECB}" type="pres">
      <dgm:prSet presAssocID="{E6CCD85B-0BA1-3640-807A-2FC392241115}" presName="desTx" presStyleLbl="alignAccFollowNode1" presStyleIdx="2" presStyleCnt="4">
        <dgm:presLayoutVars>
          <dgm:bulletEnabled val="1"/>
        </dgm:presLayoutVars>
      </dgm:prSet>
      <dgm:spPr/>
    </dgm:pt>
    <dgm:pt modelId="{C2B0396F-BE9D-F242-9827-978D1C420902}" type="pres">
      <dgm:prSet presAssocID="{12120CB2-D4A6-C54E-982E-A7D6B4FB0EFC}" presName="space" presStyleCnt="0"/>
      <dgm:spPr/>
    </dgm:pt>
    <dgm:pt modelId="{6ABABAEA-31F6-7F4A-B0D0-14FD3171E434}" type="pres">
      <dgm:prSet presAssocID="{57632FD1-EDC2-8543-B2AB-2FF2ADC4DCBA}" presName="composite" presStyleCnt="0"/>
      <dgm:spPr/>
    </dgm:pt>
    <dgm:pt modelId="{2D5161B8-C71F-E544-A3EE-A74380ED7059}" type="pres">
      <dgm:prSet presAssocID="{57632FD1-EDC2-8543-B2AB-2FF2ADC4DCBA}" presName="parTx" presStyleLbl="alignNode1" presStyleIdx="3" presStyleCnt="4">
        <dgm:presLayoutVars>
          <dgm:chMax val="0"/>
          <dgm:chPref val="0"/>
          <dgm:bulletEnabled val="1"/>
        </dgm:presLayoutVars>
      </dgm:prSet>
      <dgm:spPr/>
    </dgm:pt>
    <dgm:pt modelId="{00884B36-9F1C-D349-8F3B-4BD3AD098738}" type="pres">
      <dgm:prSet presAssocID="{57632FD1-EDC2-8543-B2AB-2FF2ADC4DCBA}" presName="desTx" presStyleLbl="alignAccFollowNode1" presStyleIdx="3" presStyleCnt="4">
        <dgm:presLayoutVars>
          <dgm:bulletEnabled val="1"/>
        </dgm:presLayoutVars>
      </dgm:prSet>
      <dgm:spPr/>
    </dgm:pt>
  </dgm:ptLst>
  <dgm:cxnLst>
    <dgm:cxn modelId="{D1334506-5591-FB43-9DD1-633D442281F7}" type="presOf" srcId="{F22597EC-EA3E-FB46-BE3F-AA660DE7BDBB}" destId="{00884B36-9F1C-D349-8F3B-4BD3AD098738}" srcOrd="0" destOrd="2" presId="urn:microsoft.com/office/officeart/2005/8/layout/hList1"/>
    <dgm:cxn modelId="{36AC3511-CA73-A24A-B144-E3EAA6981146}" type="presOf" srcId="{CF96989F-F082-2A4E-B2B7-3B6D48EE5EA3}" destId="{93A6E4D0-E85F-A144-9699-158E827E836C}" srcOrd="0" destOrd="0" presId="urn:microsoft.com/office/officeart/2005/8/layout/hList1"/>
    <dgm:cxn modelId="{CE09E81F-08D8-714A-9FF6-59DF48B92771}" srcId="{E6CCD85B-0BA1-3640-807A-2FC392241115}" destId="{E48B1D6D-5C60-784C-82AD-5D291F0F8EB5}" srcOrd="0" destOrd="0" parTransId="{0AD89B8F-4CBB-444D-9792-2909E245CF9E}" sibTransId="{2EF15260-A56C-8443-95D6-5F9D2AD5B87A}"/>
    <dgm:cxn modelId="{37F8342A-A58D-8349-B91E-C4CDD6AF4901}" type="presOf" srcId="{46F8D965-5756-D34E-9048-4B0F2B0C717C}" destId="{882B370B-D623-0843-AF06-643383B2311C}" srcOrd="0" destOrd="0" presId="urn:microsoft.com/office/officeart/2005/8/layout/hList1"/>
    <dgm:cxn modelId="{F326BC2E-35D6-3E4B-A6BD-F797E3658452}" type="presOf" srcId="{CB4AC91E-3A16-574A-BA2D-1F2183A0EFCE}" destId="{A3D79F36-62E5-7B47-B344-E3103F5A9ECB}" srcOrd="0" destOrd="1" presId="urn:microsoft.com/office/officeart/2005/8/layout/hList1"/>
    <dgm:cxn modelId="{0914213A-8D08-2F44-B06E-FD6C2EC6BEC6}" srcId="{46F8D965-5756-D34E-9048-4B0F2B0C717C}" destId="{57632FD1-EDC2-8543-B2AB-2FF2ADC4DCBA}" srcOrd="3" destOrd="0" parTransId="{27960B1D-A08C-2348-82B4-45B79174A835}" sibTransId="{2B1F9D3C-6F57-B74B-BD46-D406D94E032D}"/>
    <dgm:cxn modelId="{EA99CC3C-152C-6442-8440-41B7CA1ED55C}" type="presOf" srcId="{C9BC64AE-4259-E941-A780-2474E71C418D}" destId="{C28A01DC-C8D4-2949-9013-CE16E8E1AFC5}" srcOrd="0" destOrd="2" presId="urn:microsoft.com/office/officeart/2005/8/layout/hList1"/>
    <dgm:cxn modelId="{0B64423F-2BCB-AA45-803F-5E9C7A94F20C}" srcId="{46F8D965-5756-D34E-9048-4B0F2B0C717C}" destId="{CF96989F-F082-2A4E-B2B7-3B6D48EE5EA3}" srcOrd="0" destOrd="0" parTransId="{498A0865-254C-D441-938B-3428CA6B356D}" sibTransId="{8CB8955B-F6A3-A642-90F8-2C2D1AA7D154}"/>
    <dgm:cxn modelId="{64176D44-81AB-2745-9EA9-252239F92407}" type="presOf" srcId="{E6CCD85B-0BA1-3640-807A-2FC392241115}" destId="{57B7670E-ED77-F34D-A455-C936B86B2E66}" srcOrd="0" destOrd="0" presId="urn:microsoft.com/office/officeart/2005/8/layout/hList1"/>
    <dgm:cxn modelId="{AFAB2949-F341-B547-A30E-42ED58667623}" srcId="{57632FD1-EDC2-8543-B2AB-2FF2ADC4DCBA}" destId="{19768133-1499-5A4C-82F9-49E44F7274E8}" srcOrd="1" destOrd="0" parTransId="{81B01B87-622C-E044-98BC-FA6917184679}" sibTransId="{2576E0ED-083C-004F-BD30-7BA19AE9786B}"/>
    <dgm:cxn modelId="{09D5794E-74D5-2646-9A13-09E66A6774D7}" type="presOf" srcId="{71EA2A5C-E429-6741-94D2-5914896DAEC1}" destId="{C28A01DC-C8D4-2949-9013-CE16E8E1AFC5}" srcOrd="0" destOrd="1" presId="urn:microsoft.com/office/officeart/2005/8/layout/hList1"/>
    <dgm:cxn modelId="{0E950463-380C-7C4C-9FEF-AC84359F36EE}" type="presOf" srcId="{28F31717-D589-F040-8C7B-8F92DFFC2452}" destId="{C28A01DC-C8D4-2949-9013-CE16E8E1AFC5}" srcOrd="0" destOrd="0" presId="urn:microsoft.com/office/officeart/2005/8/layout/hList1"/>
    <dgm:cxn modelId="{2887216A-3511-6F4E-95E5-89C6EA173D20}" srcId="{CF96989F-F082-2A4E-B2B7-3B6D48EE5EA3}" destId="{0921F982-76EE-6E47-86AE-E92C8A32D369}" srcOrd="0" destOrd="0" parTransId="{E610C9CA-BC5B-3045-B7A2-953CEBD54CE0}" sibTransId="{B4FAD48E-4751-6043-B6FC-CC2CD3F5BD45}"/>
    <dgm:cxn modelId="{8C3E066B-255A-9A45-9445-1C1B82193BA9}" type="presOf" srcId="{7D197BA8-901D-1E42-8777-B6A2B58F0F25}" destId="{56F3A38F-838C-7E4F-80EA-38EDB697AF79}" srcOrd="0" destOrd="0" presId="urn:microsoft.com/office/officeart/2005/8/layout/hList1"/>
    <dgm:cxn modelId="{F8C6C078-5DFF-0B4B-8A72-201D697B13F3}" srcId="{CF96989F-F082-2A4E-B2B7-3B6D48EE5EA3}" destId="{59244DD4-D1CB-3A45-9878-716D62443546}" srcOrd="1" destOrd="0" parTransId="{EF8A6CDA-5306-7C46-9BED-92CFD4B1FF8B}" sibTransId="{C5B2DB95-A3EF-374B-A47B-7B91C8089366}"/>
    <dgm:cxn modelId="{46DDF37E-A404-544E-B89C-8BE54D86B3B1}" srcId="{7D197BA8-901D-1E42-8777-B6A2B58F0F25}" destId="{C9BC64AE-4259-E941-A780-2474E71C418D}" srcOrd="2" destOrd="0" parTransId="{4368AB2B-4531-9240-B5C1-18E7B4765AD8}" sibTransId="{0E36DBF2-7585-9647-9F14-D36EEDED415F}"/>
    <dgm:cxn modelId="{F2F8C587-0E51-3C46-A657-3CE1213DDD94}" type="presOf" srcId="{0ED8F6E8-56C7-F04C-9BE6-73EFDCB9B048}" destId="{00884B36-9F1C-D349-8F3B-4BD3AD098738}" srcOrd="0" destOrd="0" presId="urn:microsoft.com/office/officeart/2005/8/layout/hList1"/>
    <dgm:cxn modelId="{3AC12CB0-CA6C-044F-81AC-91C89AFEBA12}" srcId="{57632FD1-EDC2-8543-B2AB-2FF2ADC4DCBA}" destId="{0ED8F6E8-56C7-F04C-9BE6-73EFDCB9B048}" srcOrd="0" destOrd="0" parTransId="{A8E17EBE-8C18-324B-B8D5-FE57300A7C81}" sibTransId="{6FA98593-9429-7E40-A29D-8377AC7D52E4}"/>
    <dgm:cxn modelId="{A5D6B5BA-0425-4646-8F6B-543289FC19D7}" srcId="{E6CCD85B-0BA1-3640-807A-2FC392241115}" destId="{CB4AC91E-3A16-574A-BA2D-1F2183A0EFCE}" srcOrd="1" destOrd="0" parTransId="{079F5D45-8CA2-2448-8587-F87424421B32}" sibTransId="{60FEFDEC-833B-2846-8E3E-9F6E7E039477}"/>
    <dgm:cxn modelId="{C05BEFBC-436C-4F4D-9CFA-70B5AA22E3DE}" srcId="{7D197BA8-901D-1E42-8777-B6A2B58F0F25}" destId="{71EA2A5C-E429-6741-94D2-5914896DAEC1}" srcOrd="1" destOrd="0" parTransId="{8004BFAE-CF0F-C14A-8229-5C75E42EB733}" sibTransId="{99DAC4FD-B3AB-BB4A-97CF-150519D6A918}"/>
    <dgm:cxn modelId="{870F9BC6-E894-004B-8631-FB80CF682F1C}" type="presOf" srcId="{0D538522-DEB4-C340-875E-01D138A8C843}" destId="{A3D79F36-62E5-7B47-B344-E3103F5A9ECB}" srcOrd="0" destOrd="2" presId="urn:microsoft.com/office/officeart/2005/8/layout/hList1"/>
    <dgm:cxn modelId="{D5D02FCC-005C-A041-AC93-EE0C63BB26E7}" type="presOf" srcId="{57632FD1-EDC2-8543-B2AB-2FF2ADC4DCBA}" destId="{2D5161B8-C71F-E544-A3EE-A74380ED7059}" srcOrd="0" destOrd="0" presId="urn:microsoft.com/office/officeart/2005/8/layout/hList1"/>
    <dgm:cxn modelId="{DF52FECC-8463-EF40-901B-476A6FE24407}" srcId="{46F8D965-5756-D34E-9048-4B0F2B0C717C}" destId="{7D197BA8-901D-1E42-8777-B6A2B58F0F25}" srcOrd="1" destOrd="0" parTransId="{DE94FBD0-6E86-6840-883A-D733B2A27F09}" sibTransId="{C8688D4A-C773-774A-A4DA-069111491D0A}"/>
    <dgm:cxn modelId="{980504CD-4AFA-2F46-9A24-2F7AC77161C6}" srcId="{E6CCD85B-0BA1-3640-807A-2FC392241115}" destId="{0D538522-DEB4-C340-875E-01D138A8C843}" srcOrd="2" destOrd="0" parTransId="{EAD93551-DD4C-6F45-875E-30F2D22311F9}" sibTransId="{6F9430E9-9207-9C45-841B-17E798852804}"/>
    <dgm:cxn modelId="{7B8632D0-8E76-0441-8614-974A8199D976}" srcId="{46F8D965-5756-D34E-9048-4B0F2B0C717C}" destId="{E6CCD85B-0BA1-3640-807A-2FC392241115}" srcOrd="2" destOrd="0" parTransId="{30CEA921-90B9-C245-9B96-EF9490B1072E}" sibTransId="{12120CB2-D4A6-C54E-982E-A7D6B4FB0EFC}"/>
    <dgm:cxn modelId="{218031DC-8155-AA43-B79C-171D3E3C8126}" type="presOf" srcId="{E48B1D6D-5C60-784C-82AD-5D291F0F8EB5}" destId="{A3D79F36-62E5-7B47-B344-E3103F5A9ECB}" srcOrd="0" destOrd="0" presId="urn:microsoft.com/office/officeart/2005/8/layout/hList1"/>
    <dgm:cxn modelId="{010F49E4-DC0F-974A-8A50-EAD24BC76646}" srcId="{7D197BA8-901D-1E42-8777-B6A2B58F0F25}" destId="{28F31717-D589-F040-8C7B-8F92DFFC2452}" srcOrd="0" destOrd="0" parTransId="{87DFC51F-5CD2-E64B-8778-D12C09A568A6}" sibTransId="{EF895469-37F9-A445-AA4A-11ACF2A4B41F}"/>
    <dgm:cxn modelId="{55E077E9-E6E1-CE41-B40A-2D256C65CFEC}" type="presOf" srcId="{0921F982-76EE-6E47-86AE-E92C8A32D369}" destId="{EE8AA0C4-7D38-D648-9F8E-267A0D618E9B}" srcOrd="0" destOrd="0" presId="urn:microsoft.com/office/officeart/2005/8/layout/hList1"/>
    <dgm:cxn modelId="{5A000CF4-A335-874C-8A5B-EF2D474DE65B}" srcId="{57632FD1-EDC2-8543-B2AB-2FF2ADC4DCBA}" destId="{F22597EC-EA3E-FB46-BE3F-AA660DE7BDBB}" srcOrd="2" destOrd="0" parTransId="{BFEF7BA5-045C-1F40-A65F-0988DBB207FF}" sibTransId="{76155B19-79BE-3D4A-A4D3-189BBCC3EA23}"/>
    <dgm:cxn modelId="{153555F6-56AD-6A4B-8C7B-9B7121867717}" type="presOf" srcId="{59244DD4-D1CB-3A45-9878-716D62443546}" destId="{EE8AA0C4-7D38-D648-9F8E-267A0D618E9B}" srcOrd="0" destOrd="1" presId="urn:microsoft.com/office/officeart/2005/8/layout/hList1"/>
    <dgm:cxn modelId="{3A0A48F8-FE9D-804C-A029-9D05ED9FE0A8}" type="presOf" srcId="{19768133-1499-5A4C-82F9-49E44F7274E8}" destId="{00884B36-9F1C-D349-8F3B-4BD3AD098738}" srcOrd="0" destOrd="1" presId="urn:microsoft.com/office/officeart/2005/8/layout/hList1"/>
    <dgm:cxn modelId="{B0C070E3-23F6-4A48-BE59-566D7D381806}" type="presParOf" srcId="{882B370B-D623-0843-AF06-643383B2311C}" destId="{2F6307CE-5C3A-7042-9747-548C1FD2F803}" srcOrd="0" destOrd="0" presId="urn:microsoft.com/office/officeart/2005/8/layout/hList1"/>
    <dgm:cxn modelId="{8E4D283D-6EAF-414F-A36E-F0A2223F5687}" type="presParOf" srcId="{2F6307CE-5C3A-7042-9747-548C1FD2F803}" destId="{93A6E4D0-E85F-A144-9699-158E827E836C}" srcOrd="0" destOrd="0" presId="urn:microsoft.com/office/officeart/2005/8/layout/hList1"/>
    <dgm:cxn modelId="{497EF20E-A02D-4C4D-AEAF-18C6865E41FF}" type="presParOf" srcId="{2F6307CE-5C3A-7042-9747-548C1FD2F803}" destId="{EE8AA0C4-7D38-D648-9F8E-267A0D618E9B}" srcOrd="1" destOrd="0" presId="urn:microsoft.com/office/officeart/2005/8/layout/hList1"/>
    <dgm:cxn modelId="{1CC531DC-6239-414F-BCDF-03CE05F2D7EC}" type="presParOf" srcId="{882B370B-D623-0843-AF06-643383B2311C}" destId="{7DC2F3CD-04FC-D142-87E1-FF74DE54AE69}" srcOrd="1" destOrd="0" presId="urn:microsoft.com/office/officeart/2005/8/layout/hList1"/>
    <dgm:cxn modelId="{848139E4-0846-D141-86A9-15E739E90493}" type="presParOf" srcId="{882B370B-D623-0843-AF06-643383B2311C}" destId="{5D23C593-8D78-794E-B19D-BF0CC6832AD5}" srcOrd="2" destOrd="0" presId="urn:microsoft.com/office/officeart/2005/8/layout/hList1"/>
    <dgm:cxn modelId="{C0A6EA1A-3117-954D-8464-F63FE7527939}" type="presParOf" srcId="{5D23C593-8D78-794E-B19D-BF0CC6832AD5}" destId="{56F3A38F-838C-7E4F-80EA-38EDB697AF79}" srcOrd="0" destOrd="0" presId="urn:microsoft.com/office/officeart/2005/8/layout/hList1"/>
    <dgm:cxn modelId="{227BFED6-9801-9D49-AA71-D30776F8E16C}" type="presParOf" srcId="{5D23C593-8D78-794E-B19D-BF0CC6832AD5}" destId="{C28A01DC-C8D4-2949-9013-CE16E8E1AFC5}" srcOrd="1" destOrd="0" presId="urn:microsoft.com/office/officeart/2005/8/layout/hList1"/>
    <dgm:cxn modelId="{77D20C9D-CA3A-6346-8849-6A4960C13DA1}" type="presParOf" srcId="{882B370B-D623-0843-AF06-643383B2311C}" destId="{EADB62EC-8C5C-CB4C-B9B5-ECFC931C320B}" srcOrd="3" destOrd="0" presId="urn:microsoft.com/office/officeart/2005/8/layout/hList1"/>
    <dgm:cxn modelId="{CC9DE1FE-5B63-0142-8E75-41AD69B76D12}" type="presParOf" srcId="{882B370B-D623-0843-AF06-643383B2311C}" destId="{4C680993-B7BA-D24F-A5DA-2BAA7F764A53}" srcOrd="4" destOrd="0" presId="urn:microsoft.com/office/officeart/2005/8/layout/hList1"/>
    <dgm:cxn modelId="{63D6C12A-227C-D149-8FBA-6A56F97DA163}" type="presParOf" srcId="{4C680993-B7BA-D24F-A5DA-2BAA7F764A53}" destId="{57B7670E-ED77-F34D-A455-C936B86B2E66}" srcOrd="0" destOrd="0" presId="urn:microsoft.com/office/officeart/2005/8/layout/hList1"/>
    <dgm:cxn modelId="{3A3E2F30-61D0-D84D-AD95-7B4429ABAF29}" type="presParOf" srcId="{4C680993-B7BA-D24F-A5DA-2BAA7F764A53}" destId="{A3D79F36-62E5-7B47-B344-E3103F5A9ECB}" srcOrd="1" destOrd="0" presId="urn:microsoft.com/office/officeart/2005/8/layout/hList1"/>
    <dgm:cxn modelId="{E338D162-6B64-E44A-ACF6-7CB91E3BB6CB}" type="presParOf" srcId="{882B370B-D623-0843-AF06-643383B2311C}" destId="{C2B0396F-BE9D-F242-9827-978D1C420902}" srcOrd="5" destOrd="0" presId="urn:microsoft.com/office/officeart/2005/8/layout/hList1"/>
    <dgm:cxn modelId="{0055654B-D6B1-9242-989E-662BADED0632}" type="presParOf" srcId="{882B370B-D623-0843-AF06-643383B2311C}" destId="{6ABABAEA-31F6-7F4A-B0D0-14FD3171E434}" srcOrd="6" destOrd="0" presId="urn:microsoft.com/office/officeart/2005/8/layout/hList1"/>
    <dgm:cxn modelId="{E7086A19-0674-154A-8DA0-C81C82F8436F}" type="presParOf" srcId="{6ABABAEA-31F6-7F4A-B0D0-14FD3171E434}" destId="{2D5161B8-C71F-E544-A3EE-A74380ED7059}" srcOrd="0" destOrd="0" presId="urn:microsoft.com/office/officeart/2005/8/layout/hList1"/>
    <dgm:cxn modelId="{E54EA0F2-CCFE-FE42-8F33-577B55E10013}" type="presParOf" srcId="{6ABABAEA-31F6-7F4A-B0D0-14FD3171E434}" destId="{00884B36-9F1C-D349-8F3B-4BD3AD09873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E8541B-DBA3-684B-B597-1A6A841EC28E}" type="doc">
      <dgm:prSet loTypeId="urn:microsoft.com/office/officeart/2008/layout/LinedList" loCatId="list" qsTypeId="urn:microsoft.com/office/officeart/2005/8/quickstyle/simple1" qsCatId="simple" csTypeId="urn:microsoft.com/office/officeart/2005/8/colors/accent2_1" csCatId="accent2"/>
      <dgm:spPr/>
      <dgm:t>
        <a:bodyPr/>
        <a:lstStyle/>
        <a:p>
          <a:endParaRPr lang="en-US"/>
        </a:p>
      </dgm:t>
    </dgm:pt>
    <dgm:pt modelId="{207AEEC8-0B06-5542-99B6-79C2003EA4F0}">
      <dgm:prSet/>
      <dgm:spPr/>
      <dgm:t>
        <a:bodyPr/>
        <a:lstStyle/>
        <a:p>
          <a:r>
            <a:rPr lang="en-US" dirty="0">
              <a:latin typeface="Times New Roman" panose="02020603050405020304" pitchFamily="18" charset="0"/>
              <a:cs typeface="Times New Roman" panose="02020603050405020304" pitchFamily="18" charset="0"/>
            </a:rPr>
            <a:t>Different naming conventions (Q... in ARISE vs _SC/_GR/_MS in </a:t>
          </a:r>
          <a:r>
            <a:rPr lang="en-US" dirty="0" err="1">
              <a:latin typeface="Times New Roman" panose="02020603050405020304" pitchFamily="18" charset="0"/>
              <a:cs typeface="Times New Roman" panose="02020603050405020304" pitchFamily="18" charset="0"/>
            </a:rPr>
            <a:t>CivicPulse</a:t>
          </a:r>
          <a:r>
            <a:rPr lang="en-US" dirty="0">
              <a:latin typeface="Times New Roman" panose="02020603050405020304" pitchFamily="18" charset="0"/>
              <a:cs typeface="Times New Roman" panose="02020603050405020304" pitchFamily="18" charset="0"/>
            </a:rPr>
            <a:t>)</a:t>
          </a:r>
        </a:p>
      </dgm:t>
    </dgm:pt>
    <dgm:pt modelId="{BCD40570-FF64-3444-BC9D-F689FCCE89E2}" type="parTrans" cxnId="{59418469-0D64-EB45-9F21-A8982C14C907}">
      <dgm:prSet/>
      <dgm:spPr/>
      <dgm:t>
        <a:bodyPr/>
        <a:lstStyle/>
        <a:p>
          <a:endParaRPr lang="en-US"/>
        </a:p>
      </dgm:t>
    </dgm:pt>
    <dgm:pt modelId="{EB568DD4-8601-B840-B76F-D20A38306E00}" type="sibTrans" cxnId="{59418469-0D64-EB45-9F21-A8982C14C907}">
      <dgm:prSet/>
      <dgm:spPr/>
      <dgm:t>
        <a:bodyPr/>
        <a:lstStyle/>
        <a:p>
          <a:endParaRPr lang="en-US"/>
        </a:p>
      </dgm:t>
    </dgm:pt>
    <dgm:pt modelId="{76E2BAFE-E8F4-AB46-B54B-32278F3EE4E0}">
      <dgm:prSet/>
      <dgm:spPr/>
      <dgm:t>
        <a:bodyPr/>
        <a:lstStyle/>
        <a:p>
          <a:r>
            <a:rPr lang="en-US" dirty="0">
              <a:latin typeface="Times New Roman" panose="02020603050405020304" pitchFamily="18" charset="0"/>
              <a:cs typeface="Times New Roman" panose="02020603050405020304" pitchFamily="18" charset="0"/>
            </a:rPr>
            <a:t>Different response formats (single-choice vs grid vs multi-select)</a:t>
          </a:r>
        </a:p>
      </dgm:t>
    </dgm:pt>
    <dgm:pt modelId="{2F7974BE-9D6B-B244-9A11-E8B1244E7EB5}" type="parTrans" cxnId="{B536CC13-FBDF-934F-AB03-33B1FE1E5997}">
      <dgm:prSet/>
      <dgm:spPr/>
      <dgm:t>
        <a:bodyPr/>
        <a:lstStyle/>
        <a:p>
          <a:endParaRPr lang="en-US"/>
        </a:p>
      </dgm:t>
    </dgm:pt>
    <dgm:pt modelId="{494148AC-7EE2-1545-8541-053166AE4812}" type="sibTrans" cxnId="{B536CC13-FBDF-934F-AB03-33B1FE1E5997}">
      <dgm:prSet/>
      <dgm:spPr/>
      <dgm:t>
        <a:bodyPr/>
        <a:lstStyle/>
        <a:p>
          <a:endParaRPr lang="en-US"/>
        </a:p>
      </dgm:t>
    </dgm:pt>
    <dgm:pt modelId="{DC1D854D-8832-7C4D-9212-000023FD8BAC}">
      <dgm:prSet/>
      <dgm:spPr/>
      <dgm:t>
        <a:bodyPr/>
        <a:lstStyle/>
        <a:p>
          <a:r>
            <a:rPr lang="en-US" dirty="0">
              <a:latin typeface="Times New Roman" panose="02020603050405020304" pitchFamily="18" charset="0"/>
              <a:cs typeface="Times New Roman" panose="02020603050405020304" pitchFamily="18" charset="0"/>
            </a:rPr>
            <a:t>Different missing value labels (NA, blanks, “Don’t know”, “Not applicable”)</a:t>
          </a:r>
        </a:p>
      </dgm:t>
    </dgm:pt>
    <dgm:pt modelId="{85420E65-6BD2-ED49-8D18-C4FC0DEDAD35}" type="parTrans" cxnId="{F928BF37-6233-1D40-8705-22EF3F6FC29C}">
      <dgm:prSet/>
      <dgm:spPr/>
      <dgm:t>
        <a:bodyPr/>
        <a:lstStyle/>
        <a:p>
          <a:endParaRPr lang="en-US"/>
        </a:p>
      </dgm:t>
    </dgm:pt>
    <dgm:pt modelId="{21E14CA7-B36A-2B48-97FB-4665778477AB}" type="sibTrans" cxnId="{F928BF37-6233-1D40-8705-22EF3F6FC29C}">
      <dgm:prSet/>
      <dgm:spPr/>
      <dgm:t>
        <a:bodyPr/>
        <a:lstStyle/>
        <a:p>
          <a:endParaRPr lang="en-US"/>
        </a:p>
      </dgm:t>
    </dgm:pt>
    <dgm:pt modelId="{F2B21A9F-1FD3-F34B-A8CD-E4154146CE4A}">
      <dgm:prSet/>
      <dgm:spPr/>
      <dgm:t>
        <a:bodyPr/>
        <a:lstStyle/>
        <a:p>
          <a:r>
            <a:rPr lang="en-US" dirty="0">
              <a:latin typeface="Times New Roman" panose="02020603050405020304" pitchFamily="18" charset="0"/>
              <a:cs typeface="Times New Roman" panose="02020603050405020304" pitchFamily="18" charset="0"/>
            </a:rPr>
            <a:t>Some variables are only partial matches and require documented assumptions</a:t>
          </a:r>
        </a:p>
      </dgm:t>
    </dgm:pt>
    <dgm:pt modelId="{69248477-4454-654D-A3C0-5320CF9384F8}" type="parTrans" cxnId="{4CDBD0E2-900A-B74B-9210-A801BF1EDE3B}">
      <dgm:prSet/>
      <dgm:spPr/>
      <dgm:t>
        <a:bodyPr/>
        <a:lstStyle/>
        <a:p>
          <a:endParaRPr lang="en-US"/>
        </a:p>
      </dgm:t>
    </dgm:pt>
    <dgm:pt modelId="{0E5BABB8-E2AF-9B4D-A98F-5B48C84E10BC}" type="sibTrans" cxnId="{4CDBD0E2-900A-B74B-9210-A801BF1EDE3B}">
      <dgm:prSet/>
      <dgm:spPr/>
      <dgm:t>
        <a:bodyPr/>
        <a:lstStyle/>
        <a:p>
          <a:endParaRPr lang="en-US"/>
        </a:p>
      </dgm:t>
    </dgm:pt>
    <dgm:pt modelId="{F7233C4A-2781-8A40-837F-3CF1E7D7364E}" type="pres">
      <dgm:prSet presAssocID="{C3E8541B-DBA3-684B-B597-1A6A841EC28E}" presName="vert0" presStyleCnt="0">
        <dgm:presLayoutVars>
          <dgm:dir/>
          <dgm:animOne val="branch"/>
          <dgm:animLvl val="lvl"/>
        </dgm:presLayoutVars>
      </dgm:prSet>
      <dgm:spPr/>
    </dgm:pt>
    <dgm:pt modelId="{A09DC648-C86B-044F-8C2A-EC64CE1741FF}" type="pres">
      <dgm:prSet presAssocID="{207AEEC8-0B06-5542-99B6-79C2003EA4F0}" presName="thickLine" presStyleLbl="alignNode1" presStyleIdx="0" presStyleCnt="4"/>
      <dgm:spPr/>
    </dgm:pt>
    <dgm:pt modelId="{6652EC85-242E-2F45-8976-B5A5C5010970}" type="pres">
      <dgm:prSet presAssocID="{207AEEC8-0B06-5542-99B6-79C2003EA4F0}" presName="horz1" presStyleCnt="0"/>
      <dgm:spPr/>
    </dgm:pt>
    <dgm:pt modelId="{2353B0DC-3BA6-5D44-A987-16B083C248FC}" type="pres">
      <dgm:prSet presAssocID="{207AEEC8-0B06-5542-99B6-79C2003EA4F0}" presName="tx1" presStyleLbl="revTx" presStyleIdx="0" presStyleCnt="4"/>
      <dgm:spPr/>
    </dgm:pt>
    <dgm:pt modelId="{C7FE37D6-6DB2-8F4E-BCF7-90FAF3E49C73}" type="pres">
      <dgm:prSet presAssocID="{207AEEC8-0B06-5542-99B6-79C2003EA4F0}" presName="vert1" presStyleCnt="0"/>
      <dgm:spPr/>
    </dgm:pt>
    <dgm:pt modelId="{50E47112-DA05-E244-997D-FF92A8E77A57}" type="pres">
      <dgm:prSet presAssocID="{76E2BAFE-E8F4-AB46-B54B-32278F3EE4E0}" presName="thickLine" presStyleLbl="alignNode1" presStyleIdx="1" presStyleCnt="4"/>
      <dgm:spPr/>
    </dgm:pt>
    <dgm:pt modelId="{DBA8F8B2-5058-B646-B39B-7AB8EB45D28B}" type="pres">
      <dgm:prSet presAssocID="{76E2BAFE-E8F4-AB46-B54B-32278F3EE4E0}" presName="horz1" presStyleCnt="0"/>
      <dgm:spPr/>
    </dgm:pt>
    <dgm:pt modelId="{3B42599F-B6DA-A846-8B4C-3F98593D4DE4}" type="pres">
      <dgm:prSet presAssocID="{76E2BAFE-E8F4-AB46-B54B-32278F3EE4E0}" presName="tx1" presStyleLbl="revTx" presStyleIdx="1" presStyleCnt="4"/>
      <dgm:spPr/>
    </dgm:pt>
    <dgm:pt modelId="{402D097B-A261-9B40-9022-F06CEFC82BC2}" type="pres">
      <dgm:prSet presAssocID="{76E2BAFE-E8F4-AB46-B54B-32278F3EE4E0}" presName="vert1" presStyleCnt="0"/>
      <dgm:spPr/>
    </dgm:pt>
    <dgm:pt modelId="{ED0E6E14-53EC-394D-9CFE-65AA13AA16C4}" type="pres">
      <dgm:prSet presAssocID="{DC1D854D-8832-7C4D-9212-000023FD8BAC}" presName="thickLine" presStyleLbl="alignNode1" presStyleIdx="2" presStyleCnt="4"/>
      <dgm:spPr/>
    </dgm:pt>
    <dgm:pt modelId="{D3269AD8-2777-B844-9C7F-378E24F904D1}" type="pres">
      <dgm:prSet presAssocID="{DC1D854D-8832-7C4D-9212-000023FD8BAC}" presName="horz1" presStyleCnt="0"/>
      <dgm:spPr/>
    </dgm:pt>
    <dgm:pt modelId="{9C7A117A-6A66-554A-BDA6-A6C55D4015B5}" type="pres">
      <dgm:prSet presAssocID="{DC1D854D-8832-7C4D-9212-000023FD8BAC}" presName="tx1" presStyleLbl="revTx" presStyleIdx="2" presStyleCnt="4"/>
      <dgm:spPr/>
    </dgm:pt>
    <dgm:pt modelId="{AB5A7142-E9FC-E748-B5D4-DBB11FCC4A22}" type="pres">
      <dgm:prSet presAssocID="{DC1D854D-8832-7C4D-9212-000023FD8BAC}" presName="vert1" presStyleCnt="0"/>
      <dgm:spPr/>
    </dgm:pt>
    <dgm:pt modelId="{8B71E1FA-2E17-B447-8BD9-94EC29182939}" type="pres">
      <dgm:prSet presAssocID="{F2B21A9F-1FD3-F34B-A8CD-E4154146CE4A}" presName="thickLine" presStyleLbl="alignNode1" presStyleIdx="3" presStyleCnt="4"/>
      <dgm:spPr/>
    </dgm:pt>
    <dgm:pt modelId="{0EF376EC-45CD-CE4C-BB0D-29D88C3327F6}" type="pres">
      <dgm:prSet presAssocID="{F2B21A9F-1FD3-F34B-A8CD-E4154146CE4A}" presName="horz1" presStyleCnt="0"/>
      <dgm:spPr/>
    </dgm:pt>
    <dgm:pt modelId="{71237216-B3A5-D64B-BCF2-A75ECF35DAD3}" type="pres">
      <dgm:prSet presAssocID="{F2B21A9F-1FD3-F34B-A8CD-E4154146CE4A}" presName="tx1" presStyleLbl="revTx" presStyleIdx="3" presStyleCnt="4"/>
      <dgm:spPr/>
    </dgm:pt>
    <dgm:pt modelId="{073D05F2-4135-4B4F-BAD1-B05FBC187962}" type="pres">
      <dgm:prSet presAssocID="{F2B21A9F-1FD3-F34B-A8CD-E4154146CE4A}" presName="vert1" presStyleCnt="0"/>
      <dgm:spPr/>
    </dgm:pt>
  </dgm:ptLst>
  <dgm:cxnLst>
    <dgm:cxn modelId="{DBD21512-DCDA-3145-BEC1-6416834C4C84}" type="presOf" srcId="{F2B21A9F-1FD3-F34B-A8CD-E4154146CE4A}" destId="{71237216-B3A5-D64B-BCF2-A75ECF35DAD3}" srcOrd="0" destOrd="0" presId="urn:microsoft.com/office/officeart/2008/layout/LinedList"/>
    <dgm:cxn modelId="{B536CC13-FBDF-934F-AB03-33B1FE1E5997}" srcId="{C3E8541B-DBA3-684B-B597-1A6A841EC28E}" destId="{76E2BAFE-E8F4-AB46-B54B-32278F3EE4E0}" srcOrd="1" destOrd="0" parTransId="{2F7974BE-9D6B-B244-9A11-E8B1244E7EB5}" sibTransId="{494148AC-7EE2-1545-8541-053166AE4812}"/>
    <dgm:cxn modelId="{F928BF37-6233-1D40-8705-22EF3F6FC29C}" srcId="{C3E8541B-DBA3-684B-B597-1A6A841EC28E}" destId="{DC1D854D-8832-7C4D-9212-000023FD8BAC}" srcOrd="2" destOrd="0" parTransId="{85420E65-6BD2-ED49-8D18-C4FC0DEDAD35}" sibTransId="{21E14CA7-B36A-2B48-97FB-4665778477AB}"/>
    <dgm:cxn modelId="{436E1C3E-9A1E-4043-8C08-7564C9CA5D2C}" type="presOf" srcId="{DC1D854D-8832-7C4D-9212-000023FD8BAC}" destId="{9C7A117A-6A66-554A-BDA6-A6C55D4015B5}" srcOrd="0" destOrd="0" presId="urn:microsoft.com/office/officeart/2008/layout/LinedList"/>
    <dgm:cxn modelId="{59418469-0D64-EB45-9F21-A8982C14C907}" srcId="{C3E8541B-DBA3-684B-B597-1A6A841EC28E}" destId="{207AEEC8-0B06-5542-99B6-79C2003EA4F0}" srcOrd="0" destOrd="0" parTransId="{BCD40570-FF64-3444-BC9D-F689FCCE89E2}" sibTransId="{EB568DD4-8601-B840-B76F-D20A38306E00}"/>
    <dgm:cxn modelId="{7C5A7081-61E2-E84C-9F72-0F83107DD858}" type="presOf" srcId="{C3E8541B-DBA3-684B-B597-1A6A841EC28E}" destId="{F7233C4A-2781-8A40-837F-3CF1E7D7364E}" srcOrd="0" destOrd="0" presId="urn:microsoft.com/office/officeart/2008/layout/LinedList"/>
    <dgm:cxn modelId="{173C8CBA-3BD5-C24E-850C-E514F4C4D4DF}" type="presOf" srcId="{76E2BAFE-E8F4-AB46-B54B-32278F3EE4E0}" destId="{3B42599F-B6DA-A846-8B4C-3F98593D4DE4}" srcOrd="0" destOrd="0" presId="urn:microsoft.com/office/officeart/2008/layout/LinedList"/>
    <dgm:cxn modelId="{7BF1C7BA-2FD4-BE42-9A18-24FAACCDDDED}" type="presOf" srcId="{207AEEC8-0B06-5542-99B6-79C2003EA4F0}" destId="{2353B0DC-3BA6-5D44-A987-16B083C248FC}" srcOrd="0" destOrd="0" presId="urn:microsoft.com/office/officeart/2008/layout/LinedList"/>
    <dgm:cxn modelId="{4CDBD0E2-900A-B74B-9210-A801BF1EDE3B}" srcId="{C3E8541B-DBA3-684B-B597-1A6A841EC28E}" destId="{F2B21A9F-1FD3-F34B-A8CD-E4154146CE4A}" srcOrd="3" destOrd="0" parTransId="{69248477-4454-654D-A3C0-5320CF9384F8}" sibTransId="{0E5BABB8-E2AF-9B4D-A98F-5B48C84E10BC}"/>
    <dgm:cxn modelId="{BE752F28-BFF8-3C41-A5BE-3D8AA8B27806}" type="presParOf" srcId="{F7233C4A-2781-8A40-837F-3CF1E7D7364E}" destId="{A09DC648-C86B-044F-8C2A-EC64CE1741FF}" srcOrd="0" destOrd="0" presId="urn:microsoft.com/office/officeart/2008/layout/LinedList"/>
    <dgm:cxn modelId="{91C30F9F-AC7A-DB41-A25E-9883B5FE51EF}" type="presParOf" srcId="{F7233C4A-2781-8A40-837F-3CF1E7D7364E}" destId="{6652EC85-242E-2F45-8976-B5A5C5010970}" srcOrd="1" destOrd="0" presId="urn:microsoft.com/office/officeart/2008/layout/LinedList"/>
    <dgm:cxn modelId="{1D8CFC2A-A8A3-024C-A064-73896DF6CD52}" type="presParOf" srcId="{6652EC85-242E-2F45-8976-B5A5C5010970}" destId="{2353B0DC-3BA6-5D44-A987-16B083C248FC}" srcOrd="0" destOrd="0" presId="urn:microsoft.com/office/officeart/2008/layout/LinedList"/>
    <dgm:cxn modelId="{F94957F4-634B-8F43-84DC-A1EBAB783BB3}" type="presParOf" srcId="{6652EC85-242E-2F45-8976-B5A5C5010970}" destId="{C7FE37D6-6DB2-8F4E-BCF7-90FAF3E49C73}" srcOrd="1" destOrd="0" presId="urn:microsoft.com/office/officeart/2008/layout/LinedList"/>
    <dgm:cxn modelId="{A3347AD2-30AD-114D-BF29-1685E9C2010C}" type="presParOf" srcId="{F7233C4A-2781-8A40-837F-3CF1E7D7364E}" destId="{50E47112-DA05-E244-997D-FF92A8E77A57}" srcOrd="2" destOrd="0" presId="urn:microsoft.com/office/officeart/2008/layout/LinedList"/>
    <dgm:cxn modelId="{53FD706E-AA80-D74A-956B-A4273E466A9A}" type="presParOf" srcId="{F7233C4A-2781-8A40-837F-3CF1E7D7364E}" destId="{DBA8F8B2-5058-B646-B39B-7AB8EB45D28B}" srcOrd="3" destOrd="0" presId="urn:microsoft.com/office/officeart/2008/layout/LinedList"/>
    <dgm:cxn modelId="{F9B9E685-7313-7F43-B2C4-96D678451F60}" type="presParOf" srcId="{DBA8F8B2-5058-B646-B39B-7AB8EB45D28B}" destId="{3B42599F-B6DA-A846-8B4C-3F98593D4DE4}" srcOrd="0" destOrd="0" presId="urn:microsoft.com/office/officeart/2008/layout/LinedList"/>
    <dgm:cxn modelId="{95773168-1BF8-C94C-A2C2-DA5409A4CD0B}" type="presParOf" srcId="{DBA8F8B2-5058-B646-B39B-7AB8EB45D28B}" destId="{402D097B-A261-9B40-9022-F06CEFC82BC2}" srcOrd="1" destOrd="0" presId="urn:microsoft.com/office/officeart/2008/layout/LinedList"/>
    <dgm:cxn modelId="{C07FE091-4177-1E41-9F76-F16974509538}" type="presParOf" srcId="{F7233C4A-2781-8A40-837F-3CF1E7D7364E}" destId="{ED0E6E14-53EC-394D-9CFE-65AA13AA16C4}" srcOrd="4" destOrd="0" presId="urn:microsoft.com/office/officeart/2008/layout/LinedList"/>
    <dgm:cxn modelId="{7CC59F32-4746-1344-8C65-EA08C8BB1E0E}" type="presParOf" srcId="{F7233C4A-2781-8A40-837F-3CF1E7D7364E}" destId="{D3269AD8-2777-B844-9C7F-378E24F904D1}" srcOrd="5" destOrd="0" presId="urn:microsoft.com/office/officeart/2008/layout/LinedList"/>
    <dgm:cxn modelId="{DAD4D1EC-0026-4045-AEF1-DC11B7977913}" type="presParOf" srcId="{D3269AD8-2777-B844-9C7F-378E24F904D1}" destId="{9C7A117A-6A66-554A-BDA6-A6C55D4015B5}" srcOrd="0" destOrd="0" presId="urn:microsoft.com/office/officeart/2008/layout/LinedList"/>
    <dgm:cxn modelId="{FECEB2E7-CBA0-D44B-8CD8-A9BE40F1273A}" type="presParOf" srcId="{D3269AD8-2777-B844-9C7F-378E24F904D1}" destId="{AB5A7142-E9FC-E748-B5D4-DBB11FCC4A22}" srcOrd="1" destOrd="0" presId="urn:microsoft.com/office/officeart/2008/layout/LinedList"/>
    <dgm:cxn modelId="{ADA14279-7549-8947-B1E1-0613CEEA90C5}" type="presParOf" srcId="{F7233C4A-2781-8A40-837F-3CF1E7D7364E}" destId="{8B71E1FA-2E17-B447-8BD9-94EC29182939}" srcOrd="6" destOrd="0" presId="urn:microsoft.com/office/officeart/2008/layout/LinedList"/>
    <dgm:cxn modelId="{79685CCC-1F0B-3044-AA29-D749126E15C5}" type="presParOf" srcId="{F7233C4A-2781-8A40-837F-3CF1E7D7364E}" destId="{0EF376EC-45CD-CE4C-BB0D-29D88C3327F6}" srcOrd="7" destOrd="0" presId="urn:microsoft.com/office/officeart/2008/layout/LinedList"/>
    <dgm:cxn modelId="{75B05CBF-CC99-8C4F-B2F3-E1BFE4DF777C}" type="presParOf" srcId="{0EF376EC-45CD-CE4C-BB0D-29D88C3327F6}" destId="{71237216-B3A5-D64B-BCF2-A75ECF35DAD3}" srcOrd="0" destOrd="0" presId="urn:microsoft.com/office/officeart/2008/layout/LinedList"/>
    <dgm:cxn modelId="{1BB62191-A02F-6E47-A78D-797BC9ACFE31}" type="presParOf" srcId="{0EF376EC-45CD-CE4C-BB0D-29D88C3327F6}" destId="{073D05F2-4135-4B4F-BAD1-B05FBC18796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6CC99A-520D-3940-AE78-09F02F6C4B8A}">
      <dsp:nvSpPr>
        <dsp:cNvPr id="0" name=""/>
        <dsp:cNvSpPr/>
      </dsp:nvSpPr>
      <dsp:spPr>
        <a:xfrm>
          <a:off x="2080594" y="1335935"/>
          <a:ext cx="1314059" cy="1314220"/>
        </a:xfrm>
        <a:prstGeom prst="ellipse">
          <a:avLst/>
        </a:prstGeom>
        <a:solidFill>
          <a:schemeClr val="tx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7272BE53-AE2A-5948-9DED-069D692B5A55}">
      <dsp:nvSpPr>
        <dsp:cNvPr id="0" name=""/>
        <dsp:cNvSpPr/>
      </dsp:nvSpPr>
      <dsp:spPr>
        <a:xfrm>
          <a:off x="1984777" y="310182"/>
          <a:ext cx="1505693" cy="8057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a:t>ARISE and CivicPulse cover similar themes, such as:</a:t>
          </a:r>
        </a:p>
      </dsp:txBody>
      <dsp:txXfrm>
        <a:off x="1984777" y="310182"/>
        <a:ext cx="1505693" cy="805776"/>
      </dsp:txXfrm>
    </dsp:sp>
    <dsp:sp modelId="{94BFB798-EC64-5943-AA14-E0FEEA914793}">
      <dsp:nvSpPr>
        <dsp:cNvPr id="0" name=""/>
        <dsp:cNvSpPr/>
      </dsp:nvSpPr>
      <dsp:spPr>
        <a:xfrm>
          <a:off x="2466051" y="1521263"/>
          <a:ext cx="1314059" cy="1314220"/>
        </a:xfrm>
        <a:prstGeom prst="ellipse">
          <a:avLst/>
        </a:prstGeom>
        <a:solidFill>
          <a:srgbClr val="FFC00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CC36571B-F152-5147-919F-9B7E0804FD8C}">
      <dsp:nvSpPr>
        <dsp:cNvPr id="0" name=""/>
        <dsp:cNvSpPr/>
      </dsp:nvSpPr>
      <dsp:spPr>
        <a:xfrm>
          <a:off x="3942178" y="1075669"/>
          <a:ext cx="1423564" cy="88635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a:t>workforce capacity</a:t>
          </a:r>
        </a:p>
      </dsp:txBody>
      <dsp:txXfrm>
        <a:off x="3942178" y="1075669"/>
        <a:ext cx="1423564" cy="886353"/>
      </dsp:txXfrm>
    </dsp:sp>
    <dsp:sp modelId="{A8F9EA1F-E9AA-D94F-8E57-01FB35D42F17}">
      <dsp:nvSpPr>
        <dsp:cNvPr id="0" name=""/>
        <dsp:cNvSpPr/>
      </dsp:nvSpPr>
      <dsp:spPr>
        <a:xfrm>
          <a:off x="2560773" y="1938252"/>
          <a:ext cx="1314059" cy="1314220"/>
        </a:xfrm>
        <a:prstGeom prst="ellipse">
          <a:avLst/>
        </a:prstGeom>
        <a:solidFill>
          <a:schemeClr val="accent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BCC9291A-D273-F64A-B570-DD1C209505EA}">
      <dsp:nvSpPr>
        <dsp:cNvPr id="0" name=""/>
        <dsp:cNvSpPr/>
      </dsp:nvSpPr>
      <dsp:spPr>
        <a:xfrm>
          <a:off x="4079059" y="2203756"/>
          <a:ext cx="1396188" cy="94678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a:t>fiscal condition</a:t>
          </a:r>
        </a:p>
      </dsp:txBody>
      <dsp:txXfrm>
        <a:off x="4079059" y="2203756"/>
        <a:ext cx="1396188" cy="946786"/>
      </dsp:txXfrm>
    </dsp:sp>
    <dsp:sp modelId="{886B2228-8958-3445-B002-4E8DBEA4734D}">
      <dsp:nvSpPr>
        <dsp:cNvPr id="0" name=""/>
        <dsp:cNvSpPr/>
      </dsp:nvSpPr>
      <dsp:spPr>
        <a:xfrm>
          <a:off x="2294128" y="2272649"/>
          <a:ext cx="1314059" cy="1314220"/>
        </a:xfrm>
        <a:prstGeom prst="ellipse">
          <a:avLst/>
        </a:prstGeom>
        <a:solidFill>
          <a:srgbClr val="FFFF0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70863D55-E13E-0B4A-941C-D3FCE64D87FB}">
      <dsp:nvSpPr>
        <dsp:cNvPr id="0" name=""/>
        <dsp:cNvSpPr/>
      </dsp:nvSpPr>
      <dsp:spPr>
        <a:xfrm>
          <a:off x="3476782" y="3472853"/>
          <a:ext cx="1505693" cy="86620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a:t>infrastructure finance</a:t>
          </a:r>
        </a:p>
      </dsp:txBody>
      <dsp:txXfrm>
        <a:off x="3476782" y="3472853"/>
        <a:ext cx="1505693" cy="866209"/>
      </dsp:txXfrm>
    </dsp:sp>
    <dsp:sp modelId="{F1A2F44A-49B4-B545-877D-6DD5535D33C1}">
      <dsp:nvSpPr>
        <dsp:cNvPr id="0" name=""/>
        <dsp:cNvSpPr/>
      </dsp:nvSpPr>
      <dsp:spPr>
        <a:xfrm>
          <a:off x="1867059" y="2272649"/>
          <a:ext cx="1314059" cy="1314220"/>
        </a:xfrm>
        <a:prstGeom prst="ellipse">
          <a:avLst/>
        </a:prstGeom>
        <a:solidFill>
          <a:schemeClr val="tx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FEF0956A-5059-454C-8332-A38729C16247}">
      <dsp:nvSpPr>
        <dsp:cNvPr id="0" name=""/>
        <dsp:cNvSpPr/>
      </dsp:nvSpPr>
      <dsp:spPr>
        <a:xfrm>
          <a:off x="492772" y="3472853"/>
          <a:ext cx="1505693" cy="86620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a:t>disaster services</a:t>
          </a:r>
        </a:p>
      </dsp:txBody>
      <dsp:txXfrm>
        <a:off x="492772" y="3472853"/>
        <a:ext cx="1505693" cy="866209"/>
      </dsp:txXfrm>
    </dsp:sp>
    <dsp:sp modelId="{D9DB03EB-E1D8-8D4F-995C-2F87DAC0445F}">
      <dsp:nvSpPr>
        <dsp:cNvPr id="0" name=""/>
        <dsp:cNvSpPr/>
      </dsp:nvSpPr>
      <dsp:spPr>
        <a:xfrm>
          <a:off x="1600414" y="1938252"/>
          <a:ext cx="1314059" cy="1314220"/>
        </a:xfrm>
        <a:prstGeom prst="ellipse">
          <a:avLst/>
        </a:prstGeom>
        <a:solidFill>
          <a:srgbClr val="FFC00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1E027D9B-D3DD-C044-9CE1-F2A0DE5113C4}">
      <dsp:nvSpPr>
        <dsp:cNvPr id="0" name=""/>
        <dsp:cNvSpPr/>
      </dsp:nvSpPr>
      <dsp:spPr>
        <a:xfrm>
          <a:off x="0" y="2203756"/>
          <a:ext cx="1396188" cy="94678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a:t>preparedness</a:t>
          </a:r>
        </a:p>
      </dsp:txBody>
      <dsp:txXfrm>
        <a:off x="0" y="2203756"/>
        <a:ext cx="1396188" cy="946786"/>
      </dsp:txXfrm>
    </dsp:sp>
    <dsp:sp modelId="{AFFA3A9C-E55C-D041-8ACE-2D6F7D495BAD}">
      <dsp:nvSpPr>
        <dsp:cNvPr id="0" name=""/>
        <dsp:cNvSpPr/>
      </dsp:nvSpPr>
      <dsp:spPr>
        <a:xfrm>
          <a:off x="1695136" y="1521263"/>
          <a:ext cx="1314059" cy="1314220"/>
        </a:xfrm>
        <a:prstGeom prst="ellipse">
          <a:avLst/>
        </a:prstGeom>
        <a:solidFill>
          <a:schemeClr val="accent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6FCB4622-7B7E-514A-A68A-9F746D0A6F33}">
      <dsp:nvSpPr>
        <dsp:cNvPr id="0" name=""/>
        <dsp:cNvSpPr/>
      </dsp:nvSpPr>
      <dsp:spPr>
        <a:xfrm>
          <a:off x="109504" y="1075669"/>
          <a:ext cx="1423564" cy="88635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a:t>respondent demographics</a:t>
          </a:r>
        </a:p>
      </dsp:txBody>
      <dsp:txXfrm>
        <a:off x="109504" y="1075669"/>
        <a:ext cx="1423564" cy="8863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A6E4D0-E85F-A144-9699-158E827E836C}">
      <dsp:nvSpPr>
        <dsp:cNvPr id="0" name=""/>
        <dsp:cNvSpPr/>
      </dsp:nvSpPr>
      <dsp:spPr>
        <a:xfrm>
          <a:off x="4168" y="564521"/>
          <a:ext cx="2506297" cy="100251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a:t>To create and validate the crosswalk, we used:</a:t>
          </a:r>
        </a:p>
      </dsp:txBody>
      <dsp:txXfrm>
        <a:off x="4168" y="564521"/>
        <a:ext cx="2506297" cy="1002518"/>
      </dsp:txXfrm>
    </dsp:sp>
    <dsp:sp modelId="{EE8AA0C4-7D38-D648-9F8E-267A0D618E9B}">
      <dsp:nvSpPr>
        <dsp:cNvPr id="0" name=""/>
        <dsp:cNvSpPr/>
      </dsp:nvSpPr>
      <dsp:spPr>
        <a:xfrm>
          <a:off x="4168" y="1567040"/>
          <a:ext cx="2506297" cy="2640346"/>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ARISE side</a:t>
          </a:r>
        </a:p>
        <a:p>
          <a:pPr marL="228600" lvl="1" indent="-228600" algn="l" defTabSz="889000">
            <a:lnSpc>
              <a:spcPct val="90000"/>
            </a:lnSpc>
            <a:spcBef>
              <a:spcPct val="0"/>
            </a:spcBef>
            <a:spcAft>
              <a:spcPct val="15000"/>
            </a:spcAft>
            <a:buChar char="•"/>
          </a:pPr>
          <a:r>
            <a:rPr lang="en-US" sz="2000" kern="1200" dirty="0" err="1"/>
            <a:t>CivicPulse</a:t>
          </a:r>
          <a:r>
            <a:rPr lang="en-US" sz="2000" kern="1200" dirty="0"/>
            <a:t> side</a:t>
          </a:r>
        </a:p>
      </dsp:txBody>
      <dsp:txXfrm>
        <a:off x="4168" y="1567040"/>
        <a:ext cx="2506297" cy="2640346"/>
      </dsp:txXfrm>
    </dsp:sp>
    <dsp:sp modelId="{56F3A38F-838C-7E4F-80EA-38EDB697AF79}">
      <dsp:nvSpPr>
        <dsp:cNvPr id="0" name=""/>
        <dsp:cNvSpPr/>
      </dsp:nvSpPr>
      <dsp:spPr>
        <a:xfrm>
          <a:off x="2861347" y="564521"/>
          <a:ext cx="2506297" cy="1002518"/>
        </a:xfrm>
        <a:prstGeom prst="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w="6350" cap="flat" cmpd="sng" algn="ctr">
          <a:solidFill>
            <a:schemeClr val="accent2">
              <a:hueOff val="-485121"/>
              <a:satOff val="-27976"/>
              <a:lumOff val="287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a:t>ARISE side</a:t>
          </a:r>
          <a:endParaRPr lang="en-US" sz="2000" kern="1200"/>
        </a:p>
      </dsp:txBody>
      <dsp:txXfrm>
        <a:off x="2861347" y="564521"/>
        <a:ext cx="2506297" cy="1002518"/>
      </dsp:txXfrm>
    </dsp:sp>
    <dsp:sp modelId="{C28A01DC-C8D4-2949-9013-CE16E8E1AFC5}">
      <dsp:nvSpPr>
        <dsp:cNvPr id="0" name=""/>
        <dsp:cNvSpPr/>
      </dsp:nvSpPr>
      <dsp:spPr>
        <a:xfrm>
          <a:off x="2861347" y="1567040"/>
          <a:ext cx="2506297" cy="2640346"/>
        </a:xfrm>
        <a:prstGeom prst="rect">
          <a:avLst/>
        </a:prstGeom>
        <a:solidFill>
          <a:schemeClr val="accent2">
            <a:tint val="40000"/>
            <a:alpha val="90000"/>
            <a:hueOff val="-283075"/>
            <a:satOff val="-25115"/>
            <a:lumOff val="-256"/>
            <a:alphaOff val="0"/>
          </a:schemeClr>
        </a:solidFill>
        <a:ln w="6350" cap="flat" cmpd="sng" algn="ctr">
          <a:solidFill>
            <a:schemeClr val="accent2">
              <a:tint val="40000"/>
              <a:alpha val="90000"/>
              <a:hueOff val="-283075"/>
              <a:satOff val="-25115"/>
              <a:lumOff val="-256"/>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a:t>ARISE questionnaire</a:t>
          </a:r>
        </a:p>
        <a:p>
          <a:pPr marL="228600" lvl="1" indent="-228600" algn="l" defTabSz="889000">
            <a:lnSpc>
              <a:spcPct val="90000"/>
            </a:lnSpc>
            <a:spcBef>
              <a:spcPct val="0"/>
            </a:spcBef>
            <a:spcAft>
              <a:spcPct val="15000"/>
            </a:spcAft>
            <a:buChar char="•"/>
          </a:pPr>
          <a:r>
            <a:rPr lang="en-US" sz="2000" kern="1200"/>
            <a:t>ARISE codebook</a:t>
          </a:r>
        </a:p>
        <a:p>
          <a:pPr marL="228600" lvl="1" indent="-228600" algn="l" defTabSz="889000">
            <a:lnSpc>
              <a:spcPct val="90000"/>
            </a:lnSpc>
            <a:spcBef>
              <a:spcPct val="0"/>
            </a:spcBef>
            <a:spcAft>
              <a:spcPct val="15000"/>
            </a:spcAft>
            <a:buChar char="•"/>
          </a:pPr>
          <a:r>
            <a:rPr lang="en-US" sz="2000" kern="1200" dirty="0"/>
            <a:t>ARISE dataset</a:t>
          </a:r>
        </a:p>
      </dsp:txBody>
      <dsp:txXfrm>
        <a:off x="2861347" y="1567040"/>
        <a:ext cx="2506297" cy="2640346"/>
      </dsp:txXfrm>
    </dsp:sp>
    <dsp:sp modelId="{57B7670E-ED77-F34D-A455-C936B86B2E66}">
      <dsp:nvSpPr>
        <dsp:cNvPr id="0" name=""/>
        <dsp:cNvSpPr/>
      </dsp:nvSpPr>
      <dsp:spPr>
        <a:xfrm>
          <a:off x="5718526" y="564521"/>
          <a:ext cx="2506297" cy="1002518"/>
        </a:xfrm>
        <a:prstGeom prst="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w="6350" cap="flat" cmpd="sng" algn="ctr">
          <a:solidFill>
            <a:schemeClr val="accent2">
              <a:hueOff val="-970242"/>
              <a:satOff val="-55952"/>
              <a:lumOff val="575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a:t>CivicPulse side</a:t>
          </a:r>
          <a:endParaRPr lang="en-US" sz="2000" kern="1200"/>
        </a:p>
      </dsp:txBody>
      <dsp:txXfrm>
        <a:off x="5718526" y="564521"/>
        <a:ext cx="2506297" cy="1002518"/>
      </dsp:txXfrm>
    </dsp:sp>
    <dsp:sp modelId="{A3D79F36-62E5-7B47-B344-E3103F5A9ECB}">
      <dsp:nvSpPr>
        <dsp:cNvPr id="0" name=""/>
        <dsp:cNvSpPr/>
      </dsp:nvSpPr>
      <dsp:spPr>
        <a:xfrm>
          <a:off x="5718526" y="1567040"/>
          <a:ext cx="2506297" cy="2640346"/>
        </a:xfrm>
        <a:prstGeom prst="rect">
          <a:avLst/>
        </a:prstGeom>
        <a:solidFill>
          <a:schemeClr val="accent2">
            <a:tint val="40000"/>
            <a:alpha val="90000"/>
            <a:hueOff val="-566151"/>
            <a:satOff val="-50231"/>
            <a:lumOff val="-513"/>
            <a:alphaOff val="0"/>
          </a:schemeClr>
        </a:solidFill>
        <a:ln w="6350" cap="flat" cmpd="sng" algn="ctr">
          <a:solidFill>
            <a:schemeClr val="accent2">
              <a:tint val="40000"/>
              <a:alpha val="90000"/>
              <a:hueOff val="-566151"/>
              <a:satOff val="-50231"/>
              <a:lumOff val="-513"/>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a:t>CivicPulse questionnaire</a:t>
          </a:r>
        </a:p>
        <a:p>
          <a:pPr marL="228600" lvl="1" indent="-228600" algn="l" defTabSz="889000">
            <a:lnSpc>
              <a:spcPct val="90000"/>
            </a:lnSpc>
            <a:spcBef>
              <a:spcPct val="0"/>
            </a:spcBef>
            <a:spcAft>
              <a:spcPct val="15000"/>
            </a:spcAft>
            <a:buChar char="•"/>
          </a:pPr>
          <a:r>
            <a:rPr lang="en-US" sz="2000" kern="1200"/>
            <a:t>CivicPulse codebook</a:t>
          </a:r>
        </a:p>
        <a:p>
          <a:pPr marL="228600" lvl="1" indent="-228600" algn="l" defTabSz="889000">
            <a:lnSpc>
              <a:spcPct val="90000"/>
            </a:lnSpc>
            <a:spcBef>
              <a:spcPct val="0"/>
            </a:spcBef>
            <a:spcAft>
              <a:spcPct val="15000"/>
            </a:spcAft>
            <a:buChar char="•"/>
          </a:pPr>
          <a:r>
            <a:rPr lang="en-US" sz="2000" kern="1200"/>
            <a:t>CivicPulse dataset</a:t>
          </a:r>
        </a:p>
      </dsp:txBody>
      <dsp:txXfrm>
        <a:off x="5718526" y="1567040"/>
        <a:ext cx="2506297" cy="2640346"/>
      </dsp:txXfrm>
    </dsp:sp>
    <dsp:sp modelId="{2D5161B8-C71F-E544-A3EE-A74380ED7059}">
      <dsp:nvSpPr>
        <dsp:cNvPr id="0" name=""/>
        <dsp:cNvSpPr/>
      </dsp:nvSpPr>
      <dsp:spPr>
        <a:xfrm>
          <a:off x="8575705" y="564521"/>
          <a:ext cx="2506297" cy="1002518"/>
        </a:xfrm>
        <a:prstGeom prst="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w="6350" cap="flat" cmpd="sng" algn="ctr">
          <a:solidFill>
            <a:schemeClr val="accent2">
              <a:hueOff val="-1455363"/>
              <a:satOff val="-83928"/>
              <a:lumOff val="862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a:t>How they helped:</a:t>
          </a:r>
          <a:endParaRPr lang="en-US" sz="2000" kern="1200"/>
        </a:p>
      </dsp:txBody>
      <dsp:txXfrm>
        <a:off x="8575705" y="564521"/>
        <a:ext cx="2506297" cy="1002518"/>
      </dsp:txXfrm>
    </dsp:sp>
    <dsp:sp modelId="{00884B36-9F1C-D349-8F3B-4BD3AD098738}">
      <dsp:nvSpPr>
        <dsp:cNvPr id="0" name=""/>
        <dsp:cNvSpPr/>
      </dsp:nvSpPr>
      <dsp:spPr>
        <a:xfrm>
          <a:off x="8575705" y="1567040"/>
          <a:ext cx="2506297" cy="2640346"/>
        </a:xfrm>
        <a:prstGeom prst="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1" kern="1200" dirty="0"/>
            <a:t>Questionnaire</a:t>
          </a:r>
          <a:r>
            <a:rPr lang="en-US" sz="2000" kern="1200" dirty="0"/>
            <a:t>  what was asked</a:t>
          </a:r>
        </a:p>
        <a:p>
          <a:pPr marL="228600" lvl="1" indent="-228600" algn="l" defTabSz="889000">
            <a:lnSpc>
              <a:spcPct val="90000"/>
            </a:lnSpc>
            <a:spcBef>
              <a:spcPct val="0"/>
            </a:spcBef>
            <a:spcAft>
              <a:spcPct val="15000"/>
            </a:spcAft>
            <a:buChar char="•"/>
          </a:pPr>
          <a:r>
            <a:rPr lang="en-US" sz="2000" b="1" kern="1200" dirty="0"/>
            <a:t>Codebook</a:t>
          </a:r>
          <a:r>
            <a:rPr lang="en-US" sz="2000" kern="1200" dirty="0"/>
            <a:t>  how variables were defined</a:t>
          </a:r>
        </a:p>
        <a:p>
          <a:pPr marL="228600" lvl="1" indent="-228600" algn="l" defTabSz="889000">
            <a:lnSpc>
              <a:spcPct val="90000"/>
            </a:lnSpc>
            <a:spcBef>
              <a:spcPct val="0"/>
            </a:spcBef>
            <a:spcAft>
              <a:spcPct val="15000"/>
            </a:spcAft>
            <a:buChar char="•"/>
          </a:pPr>
          <a:r>
            <a:rPr lang="en-US" sz="2000" b="1" kern="1200" dirty="0"/>
            <a:t>Dataset</a:t>
          </a:r>
          <a:r>
            <a:rPr lang="en-US" sz="2000" kern="1200" dirty="0"/>
            <a:t>  how responses were actually stored</a:t>
          </a:r>
        </a:p>
      </dsp:txBody>
      <dsp:txXfrm>
        <a:off x="8575705" y="1567040"/>
        <a:ext cx="2506297" cy="26403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9DC648-C86B-044F-8C2A-EC64CE1741FF}">
      <dsp:nvSpPr>
        <dsp:cNvPr id="0" name=""/>
        <dsp:cNvSpPr/>
      </dsp:nvSpPr>
      <dsp:spPr>
        <a:xfrm>
          <a:off x="0" y="0"/>
          <a:ext cx="115824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53B0DC-3BA6-5D44-A987-16B083C248FC}">
      <dsp:nvSpPr>
        <dsp:cNvPr id="0" name=""/>
        <dsp:cNvSpPr/>
      </dsp:nvSpPr>
      <dsp:spPr>
        <a:xfrm>
          <a:off x="0" y="0"/>
          <a:ext cx="11582400" cy="1109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latin typeface="Times New Roman" panose="02020603050405020304" pitchFamily="18" charset="0"/>
              <a:cs typeface="Times New Roman" panose="02020603050405020304" pitchFamily="18" charset="0"/>
            </a:rPr>
            <a:t>Different naming conventions (Q... in ARISE vs _SC/_GR/_MS in </a:t>
          </a:r>
          <a:r>
            <a:rPr lang="en-US" sz="3300" kern="1200" dirty="0" err="1">
              <a:latin typeface="Times New Roman" panose="02020603050405020304" pitchFamily="18" charset="0"/>
              <a:cs typeface="Times New Roman" panose="02020603050405020304" pitchFamily="18" charset="0"/>
            </a:rPr>
            <a:t>CivicPulse</a:t>
          </a:r>
          <a:r>
            <a:rPr lang="en-US" sz="3300" kern="1200" dirty="0">
              <a:latin typeface="Times New Roman" panose="02020603050405020304" pitchFamily="18" charset="0"/>
              <a:cs typeface="Times New Roman" panose="02020603050405020304" pitchFamily="18" charset="0"/>
            </a:rPr>
            <a:t>)</a:t>
          </a:r>
        </a:p>
      </dsp:txBody>
      <dsp:txXfrm>
        <a:off x="0" y="0"/>
        <a:ext cx="11582400" cy="1109749"/>
      </dsp:txXfrm>
    </dsp:sp>
    <dsp:sp modelId="{50E47112-DA05-E244-997D-FF92A8E77A57}">
      <dsp:nvSpPr>
        <dsp:cNvPr id="0" name=""/>
        <dsp:cNvSpPr/>
      </dsp:nvSpPr>
      <dsp:spPr>
        <a:xfrm>
          <a:off x="0" y="1109749"/>
          <a:ext cx="115824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42599F-B6DA-A846-8B4C-3F98593D4DE4}">
      <dsp:nvSpPr>
        <dsp:cNvPr id="0" name=""/>
        <dsp:cNvSpPr/>
      </dsp:nvSpPr>
      <dsp:spPr>
        <a:xfrm>
          <a:off x="0" y="1109749"/>
          <a:ext cx="11582400" cy="1109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latin typeface="Times New Roman" panose="02020603050405020304" pitchFamily="18" charset="0"/>
              <a:cs typeface="Times New Roman" panose="02020603050405020304" pitchFamily="18" charset="0"/>
            </a:rPr>
            <a:t>Different response formats (single-choice vs grid vs multi-select)</a:t>
          </a:r>
        </a:p>
      </dsp:txBody>
      <dsp:txXfrm>
        <a:off x="0" y="1109749"/>
        <a:ext cx="11582400" cy="1109749"/>
      </dsp:txXfrm>
    </dsp:sp>
    <dsp:sp modelId="{ED0E6E14-53EC-394D-9CFE-65AA13AA16C4}">
      <dsp:nvSpPr>
        <dsp:cNvPr id="0" name=""/>
        <dsp:cNvSpPr/>
      </dsp:nvSpPr>
      <dsp:spPr>
        <a:xfrm>
          <a:off x="0" y="2219499"/>
          <a:ext cx="115824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7A117A-6A66-554A-BDA6-A6C55D4015B5}">
      <dsp:nvSpPr>
        <dsp:cNvPr id="0" name=""/>
        <dsp:cNvSpPr/>
      </dsp:nvSpPr>
      <dsp:spPr>
        <a:xfrm>
          <a:off x="0" y="2219499"/>
          <a:ext cx="11582400" cy="1109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latin typeface="Times New Roman" panose="02020603050405020304" pitchFamily="18" charset="0"/>
              <a:cs typeface="Times New Roman" panose="02020603050405020304" pitchFamily="18" charset="0"/>
            </a:rPr>
            <a:t>Different missing value labels (NA, blanks, “Don’t know”, “Not applicable”)</a:t>
          </a:r>
        </a:p>
      </dsp:txBody>
      <dsp:txXfrm>
        <a:off x="0" y="2219499"/>
        <a:ext cx="11582400" cy="1109749"/>
      </dsp:txXfrm>
    </dsp:sp>
    <dsp:sp modelId="{8B71E1FA-2E17-B447-8BD9-94EC29182939}">
      <dsp:nvSpPr>
        <dsp:cNvPr id="0" name=""/>
        <dsp:cNvSpPr/>
      </dsp:nvSpPr>
      <dsp:spPr>
        <a:xfrm>
          <a:off x="0" y="3329248"/>
          <a:ext cx="115824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237216-B3A5-D64B-BCF2-A75ECF35DAD3}">
      <dsp:nvSpPr>
        <dsp:cNvPr id="0" name=""/>
        <dsp:cNvSpPr/>
      </dsp:nvSpPr>
      <dsp:spPr>
        <a:xfrm>
          <a:off x="0" y="3329248"/>
          <a:ext cx="11582400" cy="1109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latin typeface="Times New Roman" panose="02020603050405020304" pitchFamily="18" charset="0"/>
              <a:cs typeface="Times New Roman" panose="02020603050405020304" pitchFamily="18" charset="0"/>
            </a:rPr>
            <a:t>Some variables are only partial matches and require documented assumptions</a:t>
          </a:r>
        </a:p>
      </dsp:txBody>
      <dsp:txXfrm>
        <a:off x="0" y="3329248"/>
        <a:ext cx="11582400" cy="1109749"/>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E549EA-A729-3D45-8B4D-22B7EBF5C6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B97E04D-ECCF-9144-940C-119F342EF95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43F512-30E2-3F46-8010-5659AF98CC34}" type="datetimeFigureOut">
              <a:rPr lang="en-US" smtClean="0"/>
              <a:t>3/4/26</a:t>
            </a:fld>
            <a:endParaRPr lang="en-US"/>
          </a:p>
        </p:txBody>
      </p:sp>
      <p:sp>
        <p:nvSpPr>
          <p:cNvPr id="4" name="Footer Placeholder 3">
            <a:extLst>
              <a:ext uri="{FF2B5EF4-FFF2-40B4-BE49-F238E27FC236}">
                <a16:creationId xmlns:a16="http://schemas.microsoft.com/office/drawing/2014/main" id="{AA0344F1-5767-0541-B208-C6A9788E85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76DBA68-A779-A547-8605-413DDCAEB5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7A2CB1-9001-FD49-B675-3F6AB6B0DB25}" type="slidenum">
              <a:rPr lang="en-US" smtClean="0"/>
              <a:t>‹#›</a:t>
            </a:fld>
            <a:endParaRPr lang="en-US"/>
          </a:p>
        </p:txBody>
      </p:sp>
    </p:spTree>
    <p:extLst>
      <p:ext uri="{BB962C8B-B14F-4D97-AF65-F5344CB8AC3E}">
        <p14:creationId xmlns:p14="http://schemas.microsoft.com/office/powerpoint/2010/main" val="32210826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3E9FAA-CE99-9243-980C-708A50330DCB}" type="datetimeFigureOut">
              <a:rPr lang="en-US" smtClean="0"/>
              <a:t>3/4/26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6AF33-FE8D-0F43-AD85-A52C3F99EDA1}" type="slidenum">
              <a:rPr lang="en-US" smtClean="0"/>
              <a:t>‹#›</a:t>
            </a:fld>
            <a:endParaRPr lang="en-US"/>
          </a:p>
        </p:txBody>
      </p:sp>
    </p:spTree>
    <p:extLst>
      <p:ext uri="{BB962C8B-B14F-4D97-AF65-F5344CB8AC3E}">
        <p14:creationId xmlns:p14="http://schemas.microsoft.com/office/powerpoint/2010/main" val="37761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4566AF33-FE8D-0F43-AD85-A52C3F99EDA1}" type="slidenum">
              <a:rPr lang="en-US" smtClean="0"/>
              <a:t>1</a:t>
            </a:fld>
            <a:endParaRPr lang="en-US"/>
          </a:p>
        </p:txBody>
      </p:sp>
    </p:spTree>
    <p:extLst>
      <p:ext uri="{BB962C8B-B14F-4D97-AF65-F5344CB8AC3E}">
        <p14:creationId xmlns:p14="http://schemas.microsoft.com/office/powerpoint/2010/main" val="2776157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C1D0-E519-7998-2473-C60D75B0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50DD82-B3E4-1D15-FFC3-B20BE43966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F3A7BE-89B0-50F0-C999-E79C700E4C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9740858-1397-E3F6-E0C4-A957EE8BF62C}"/>
              </a:ext>
            </a:extLst>
          </p:cNvPr>
          <p:cNvSpPr>
            <a:spLocks noGrp="1"/>
          </p:cNvSpPr>
          <p:nvPr>
            <p:ph type="sldNum" sz="quarter" idx="10"/>
          </p:nvPr>
        </p:nvSpPr>
        <p:spPr/>
        <p:txBody>
          <a:bodyPr/>
          <a:lstStyle/>
          <a:p>
            <a:fld id="{4566AF33-FE8D-0F43-AD85-A52C3F99EDA1}" type="slidenum">
              <a:rPr lang="en-US" smtClean="0"/>
              <a:t>2</a:t>
            </a:fld>
            <a:endParaRPr lang="en-US"/>
          </a:p>
        </p:txBody>
      </p:sp>
    </p:spTree>
    <p:extLst>
      <p:ext uri="{BB962C8B-B14F-4D97-AF65-F5344CB8AC3E}">
        <p14:creationId xmlns:p14="http://schemas.microsoft.com/office/powerpoint/2010/main" val="326273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A6FC9-E4E3-2718-7303-5BD915D25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B8363-5F12-800C-A9E6-2A4B4F0BB7C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60649F-705F-07F7-C864-D21C73E68F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C809C0F-8CD8-70CF-DC70-B89F209ADBE6}"/>
              </a:ext>
            </a:extLst>
          </p:cNvPr>
          <p:cNvSpPr>
            <a:spLocks noGrp="1"/>
          </p:cNvSpPr>
          <p:nvPr>
            <p:ph type="sldNum" sz="quarter" idx="10"/>
          </p:nvPr>
        </p:nvSpPr>
        <p:spPr/>
        <p:txBody>
          <a:bodyPr/>
          <a:lstStyle/>
          <a:p>
            <a:fld id="{4566AF33-FE8D-0F43-AD85-A52C3F99EDA1}" type="slidenum">
              <a:rPr lang="en-US" smtClean="0"/>
              <a:t>7</a:t>
            </a:fld>
            <a:endParaRPr lang="en-US"/>
          </a:p>
        </p:txBody>
      </p:sp>
    </p:spTree>
    <p:extLst>
      <p:ext uri="{BB962C8B-B14F-4D97-AF65-F5344CB8AC3E}">
        <p14:creationId xmlns:p14="http://schemas.microsoft.com/office/powerpoint/2010/main" val="3563696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C894F-259B-679B-CC70-64ADED6E9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4DF88-26B5-0A5B-2158-A4C98363A5C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E094E2-8938-ECB3-9D08-53091B17E4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24337FC-CA62-99EF-94D1-CD018347230E}"/>
              </a:ext>
            </a:extLst>
          </p:cNvPr>
          <p:cNvSpPr>
            <a:spLocks noGrp="1"/>
          </p:cNvSpPr>
          <p:nvPr>
            <p:ph type="sldNum" sz="quarter" idx="10"/>
          </p:nvPr>
        </p:nvSpPr>
        <p:spPr/>
        <p:txBody>
          <a:bodyPr/>
          <a:lstStyle/>
          <a:p>
            <a:fld id="{4566AF33-FE8D-0F43-AD85-A52C3F99EDA1}" type="slidenum">
              <a:rPr lang="en-US" smtClean="0"/>
              <a:t>16</a:t>
            </a:fld>
            <a:endParaRPr lang="en-US"/>
          </a:p>
        </p:txBody>
      </p:sp>
    </p:spTree>
    <p:extLst>
      <p:ext uri="{BB962C8B-B14F-4D97-AF65-F5344CB8AC3E}">
        <p14:creationId xmlns:p14="http://schemas.microsoft.com/office/powerpoint/2010/main" val="1239683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650ED-2F0C-75ED-90E7-1E752ED45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7DECB1-B656-7E3A-FCD8-E00018DCE5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D1662A-8523-2E89-C7F2-81F2DCE03C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5EF2D11-162D-E5A7-C8FC-7271A06E7C28}"/>
              </a:ext>
            </a:extLst>
          </p:cNvPr>
          <p:cNvSpPr>
            <a:spLocks noGrp="1"/>
          </p:cNvSpPr>
          <p:nvPr>
            <p:ph type="sldNum" sz="quarter" idx="10"/>
          </p:nvPr>
        </p:nvSpPr>
        <p:spPr/>
        <p:txBody>
          <a:bodyPr/>
          <a:lstStyle/>
          <a:p>
            <a:fld id="{4566AF33-FE8D-0F43-AD85-A52C3F99EDA1}" type="slidenum">
              <a:rPr lang="en-US" smtClean="0"/>
              <a:t>17</a:t>
            </a:fld>
            <a:endParaRPr lang="en-US"/>
          </a:p>
        </p:txBody>
      </p:sp>
    </p:spTree>
    <p:extLst>
      <p:ext uri="{BB962C8B-B14F-4D97-AF65-F5344CB8AC3E}">
        <p14:creationId xmlns:p14="http://schemas.microsoft.com/office/powerpoint/2010/main" val="562888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3652F-2CC7-6FFC-2FE0-49A89D4E1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5F004-F9C3-FE71-7CD2-E00D69744F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0F0FC7C-2424-7F68-52F1-AEBF2A9D35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FEFFA4E-0BF3-4028-B64C-BB36CA9832E8}"/>
              </a:ext>
            </a:extLst>
          </p:cNvPr>
          <p:cNvSpPr>
            <a:spLocks noGrp="1"/>
          </p:cNvSpPr>
          <p:nvPr>
            <p:ph type="sldNum" sz="quarter" idx="10"/>
          </p:nvPr>
        </p:nvSpPr>
        <p:spPr/>
        <p:txBody>
          <a:bodyPr/>
          <a:lstStyle/>
          <a:p>
            <a:fld id="{4566AF33-FE8D-0F43-AD85-A52C3F99EDA1}" type="slidenum">
              <a:rPr lang="en-US" smtClean="0"/>
              <a:t>18</a:t>
            </a:fld>
            <a:endParaRPr lang="en-US"/>
          </a:p>
        </p:txBody>
      </p:sp>
    </p:spTree>
    <p:extLst>
      <p:ext uri="{BB962C8B-B14F-4D97-AF65-F5344CB8AC3E}">
        <p14:creationId xmlns:p14="http://schemas.microsoft.com/office/powerpoint/2010/main" val="23592731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2AFA-44D0-F744-8BDD-C2802771C1EF}"/>
              </a:ext>
            </a:extLst>
          </p:cNvPr>
          <p:cNvSpPr>
            <a:spLocks noGrp="1"/>
          </p:cNvSpPr>
          <p:nvPr>
            <p:ph type="ctrTitle"/>
          </p:nvPr>
        </p:nvSpPr>
        <p:spPr>
          <a:xfrm>
            <a:off x="1524000" y="2503487"/>
            <a:ext cx="9144000" cy="1006475"/>
          </a:xfrm>
        </p:spPr>
        <p:txBody>
          <a:bodyPr anchor="b"/>
          <a:lstStyle>
            <a:lvl1pPr algn="ctr">
              <a:defRPr sz="6000" baseline="0"/>
            </a:lvl1pPr>
          </a:lstStyle>
          <a:p>
            <a:endParaRPr lang="en-US" dirty="0"/>
          </a:p>
        </p:txBody>
      </p:sp>
      <p:sp>
        <p:nvSpPr>
          <p:cNvPr id="3" name="Subtitle 2">
            <a:extLst>
              <a:ext uri="{FF2B5EF4-FFF2-40B4-BE49-F238E27FC236}">
                <a16:creationId xmlns:a16="http://schemas.microsoft.com/office/drawing/2014/main" id="{B1ABA64A-8634-5140-B60F-09086C669D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pic>
        <p:nvPicPr>
          <p:cNvPr id="9" name="Picture 8" descr="The logo for Wichita State University." title="Wichita State University Logo">
            <a:extLst>
              <a:ext uri="{FF2B5EF4-FFF2-40B4-BE49-F238E27FC236}">
                <a16:creationId xmlns:a16="http://schemas.microsoft.com/office/drawing/2014/main" id="{1ADE4355-A3B2-6449-9D1C-9F7D8F17891B}"/>
              </a:ext>
            </a:extLst>
          </p:cNvPr>
          <p:cNvPicPr>
            <a:picLocks noChangeAspect="1"/>
          </p:cNvPicPr>
          <p:nvPr userDrawn="1"/>
        </p:nvPicPr>
        <p:blipFill>
          <a:blip r:embed="rId3"/>
          <a:stretch>
            <a:fillRect/>
          </a:stretch>
        </p:blipFill>
        <p:spPr>
          <a:xfrm>
            <a:off x="4001073" y="1192211"/>
            <a:ext cx="4189854" cy="965202"/>
          </a:xfrm>
          <a:prstGeom prst="rect">
            <a:avLst/>
          </a:prstGeom>
        </p:spPr>
      </p:pic>
    </p:spTree>
    <p:extLst>
      <p:ext uri="{BB962C8B-B14F-4D97-AF65-F5344CB8AC3E}">
        <p14:creationId xmlns:p14="http://schemas.microsoft.com/office/powerpoint/2010/main" val="1939129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4AE9C-BCE1-134F-9AA5-36AC0166BAB7}"/>
              </a:ext>
            </a:extLst>
          </p:cNvPr>
          <p:cNvSpPr>
            <a:spLocks noGrp="1"/>
          </p:cNvSpPr>
          <p:nvPr>
            <p:ph type="title" hasCustomPrompt="1"/>
          </p:nvPr>
        </p:nvSpPr>
        <p:spPr>
          <a:xfrm>
            <a:off x="2857500" y="300039"/>
            <a:ext cx="8503920" cy="957262"/>
          </a:xfrm>
        </p:spPr>
        <p:txBody>
          <a:bodyPr/>
          <a:lstStyle>
            <a:lvl1pPr>
              <a:defRPr>
                <a:solidFill>
                  <a:schemeClr val="bg1"/>
                </a:solidFill>
              </a:defRPr>
            </a:lvl1pPr>
          </a:lstStyle>
          <a:p>
            <a:r>
              <a:rPr lang="en-US" dirty="0"/>
              <a:t>1-Column Slide</a:t>
            </a:r>
          </a:p>
        </p:txBody>
      </p:sp>
      <p:sp>
        <p:nvSpPr>
          <p:cNvPr id="3" name="Content Placeholder 2">
            <a:extLst>
              <a:ext uri="{FF2B5EF4-FFF2-40B4-BE49-F238E27FC236}">
                <a16:creationId xmlns:a16="http://schemas.microsoft.com/office/drawing/2014/main" id="{5052DADA-DA3F-374B-8A2B-B0B5F1A463F1}"/>
              </a:ext>
            </a:extLst>
          </p:cNvPr>
          <p:cNvSpPr>
            <a:spLocks noGrp="1"/>
          </p:cNvSpPr>
          <p:nvPr>
            <p:ph idx="1" hasCustomPrompt="1"/>
          </p:nvPr>
        </p:nvSpPr>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B57CC7-E80B-4E43-9A8C-58FE70FDAF35}"/>
              </a:ext>
            </a:extLst>
          </p:cNvPr>
          <p:cNvSpPr>
            <a:spLocks noGrp="1"/>
          </p:cNvSpPr>
          <p:nvPr>
            <p:ph type="dt" sz="half" idx="10"/>
          </p:nvPr>
        </p:nvSpPr>
        <p:spPr/>
        <p:txBody>
          <a:bodyPr/>
          <a:lstStyle/>
          <a:p>
            <a:fld id="{8254A545-610A-3246-BBF7-82AC132EB6A8}" type="datetimeFigureOut">
              <a:rPr lang="en-US" smtClean="0"/>
              <a:t>3/4/26</a:t>
            </a:fld>
            <a:endParaRPr lang="en-US"/>
          </a:p>
        </p:txBody>
      </p:sp>
      <p:sp>
        <p:nvSpPr>
          <p:cNvPr id="5" name="Footer Placeholder 4">
            <a:extLst>
              <a:ext uri="{FF2B5EF4-FFF2-40B4-BE49-F238E27FC236}">
                <a16:creationId xmlns:a16="http://schemas.microsoft.com/office/drawing/2014/main" id="{06D4C005-7FB8-3D4C-96BE-CD8E4D136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D0C98-1C77-A04F-96D7-2FB871DF47C4}"/>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8" name="Picture 7" descr="&quot;WSU&quot; logo for Wichita State University." title="WSU Logo">
            <a:extLst>
              <a:ext uri="{FF2B5EF4-FFF2-40B4-BE49-F238E27FC236}">
                <a16:creationId xmlns:a16="http://schemas.microsoft.com/office/drawing/2014/main" id="{33B1789B-D0E4-4F47-8C64-CCCFE5CB8907}"/>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2497457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DDA10-D4F1-1246-AC76-4E99217B7F15}"/>
              </a:ext>
            </a:extLst>
          </p:cNvPr>
          <p:cNvSpPr>
            <a:spLocks noGrp="1"/>
          </p:cNvSpPr>
          <p:nvPr>
            <p:ph type="title" hasCustomPrompt="1"/>
          </p:nvPr>
        </p:nvSpPr>
        <p:spPr>
          <a:xfrm>
            <a:off x="2857500" y="301752"/>
            <a:ext cx="8503920" cy="960120"/>
          </a:xfrm>
        </p:spPr>
        <p:txBody>
          <a:bodyPr/>
          <a:lstStyle>
            <a:lvl1pPr>
              <a:defRPr>
                <a:solidFill>
                  <a:schemeClr val="bg1"/>
                </a:solidFill>
              </a:defRPr>
            </a:lvl1pPr>
          </a:lstStyle>
          <a:p>
            <a:r>
              <a:rPr lang="en-US" dirty="0"/>
              <a:t>2-Column Slide</a:t>
            </a:r>
          </a:p>
        </p:txBody>
      </p:sp>
      <p:sp>
        <p:nvSpPr>
          <p:cNvPr id="3" name="Content Placeholder 2">
            <a:extLst>
              <a:ext uri="{FF2B5EF4-FFF2-40B4-BE49-F238E27FC236}">
                <a16:creationId xmlns:a16="http://schemas.microsoft.com/office/drawing/2014/main" id="{7AB7A247-7DFC-E446-938A-2CA021AE3EDD}"/>
              </a:ext>
            </a:extLst>
          </p:cNvPr>
          <p:cNvSpPr>
            <a:spLocks noGrp="1"/>
          </p:cNvSpPr>
          <p:nvPr>
            <p:ph sz="half" idx="1" hasCustomPrompt="1"/>
          </p:nvPr>
        </p:nvSpPr>
        <p:spPr>
          <a:xfrm>
            <a:off x="838200" y="1825625"/>
            <a:ext cx="5181600" cy="4351338"/>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4B5206B-3FC0-CE41-90B0-155B2B1C6F2F}"/>
              </a:ext>
            </a:extLst>
          </p:cNvPr>
          <p:cNvSpPr>
            <a:spLocks noGrp="1"/>
          </p:cNvSpPr>
          <p:nvPr>
            <p:ph sz="half" idx="2" hasCustomPrompt="1"/>
          </p:nvPr>
        </p:nvSpPr>
        <p:spPr>
          <a:xfrm>
            <a:off x="6172200" y="1825625"/>
            <a:ext cx="5181600" cy="4351338"/>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DF86D33-CD83-4040-BB1F-306A4D9B8E6E}"/>
              </a:ext>
            </a:extLst>
          </p:cNvPr>
          <p:cNvSpPr>
            <a:spLocks noGrp="1"/>
          </p:cNvSpPr>
          <p:nvPr>
            <p:ph type="dt" sz="half" idx="10"/>
          </p:nvPr>
        </p:nvSpPr>
        <p:spPr/>
        <p:txBody>
          <a:bodyPr/>
          <a:lstStyle/>
          <a:p>
            <a:fld id="{8254A545-610A-3246-BBF7-82AC132EB6A8}" type="datetimeFigureOut">
              <a:rPr lang="en-US" smtClean="0"/>
              <a:t>3/4/26</a:t>
            </a:fld>
            <a:endParaRPr lang="en-US"/>
          </a:p>
        </p:txBody>
      </p:sp>
      <p:sp>
        <p:nvSpPr>
          <p:cNvPr id="6" name="Footer Placeholder 5">
            <a:extLst>
              <a:ext uri="{FF2B5EF4-FFF2-40B4-BE49-F238E27FC236}">
                <a16:creationId xmlns:a16="http://schemas.microsoft.com/office/drawing/2014/main" id="{E4CB5D88-544F-964C-84FC-051762122A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67E06-089A-6846-8B48-B3A0F23DC958}"/>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8" name="Picture 7" descr="&quot;WSU&quot; logo for Wichita State University." title="WSU Logo">
            <a:extLst>
              <a:ext uri="{FF2B5EF4-FFF2-40B4-BE49-F238E27FC236}">
                <a16:creationId xmlns:a16="http://schemas.microsoft.com/office/drawing/2014/main" id="{BC3239E5-4689-FA43-AAF6-CE4F83EE41AC}"/>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180698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0318-CC45-A342-AEE3-670F36387ECF}"/>
              </a:ext>
            </a:extLst>
          </p:cNvPr>
          <p:cNvSpPr>
            <a:spLocks noGrp="1"/>
          </p:cNvSpPr>
          <p:nvPr>
            <p:ph type="title" hasCustomPrompt="1"/>
          </p:nvPr>
        </p:nvSpPr>
        <p:spPr>
          <a:xfrm>
            <a:off x="831850" y="1709738"/>
            <a:ext cx="10515600" cy="2852737"/>
          </a:xfrm>
        </p:spPr>
        <p:txBody>
          <a:bodyPr anchor="b"/>
          <a:lstStyle>
            <a:lvl1pPr>
              <a:defRPr sz="6000"/>
            </a:lvl1pPr>
          </a:lstStyle>
          <a:p>
            <a:r>
              <a:rPr lang="en-US" dirty="0"/>
              <a:t>Divider Slide</a:t>
            </a:r>
          </a:p>
        </p:txBody>
      </p:sp>
      <p:sp>
        <p:nvSpPr>
          <p:cNvPr id="3" name="Text Placeholder 2">
            <a:extLst>
              <a:ext uri="{FF2B5EF4-FFF2-40B4-BE49-F238E27FC236}">
                <a16:creationId xmlns:a16="http://schemas.microsoft.com/office/drawing/2014/main" id="{DAA57E59-4F7B-3B4C-B9E7-67DE80EDB614}"/>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Or Alternative Title Slide</a:t>
            </a:r>
          </a:p>
        </p:txBody>
      </p:sp>
      <p:sp>
        <p:nvSpPr>
          <p:cNvPr id="4" name="Date Placeholder 3">
            <a:extLst>
              <a:ext uri="{FF2B5EF4-FFF2-40B4-BE49-F238E27FC236}">
                <a16:creationId xmlns:a16="http://schemas.microsoft.com/office/drawing/2014/main" id="{0A8DE7E8-47E7-104E-BF54-359C263C9962}"/>
              </a:ext>
            </a:extLst>
          </p:cNvPr>
          <p:cNvSpPr>
            <a:spLocks noGrp="1"/>
          </p:cNvSpPr>
          <p:nvPr>
            <p:ph type="dt" sz="half" idx="10"/>
          </p:nvPr>
        </p:nvSpPr>
        <p:spPr/>
        <p:txBody>
          <a:bodyPr/>
          <a:lstStyle/>
          <a:p>
            <a:fld id="{8254A545-610A-3246-BBF7-82AC132EB6A8}" type="datetimeFigureOut">
              <a:rPr lang="en-US" smtClean="0"/>
              <a:t>3/4/26</a:t>
            </a:fld>
            <a:endParaRPr lang="en-US"/>
          </a:p>
        </p:txBody>
      </p:sp>
      <p:sp>
        <p:nvSpPr>
          <p:cNvPr id="5" name="Footer Placeholder 4">
            <a:extLst>
              <a:ext uri="{FF2B5EF4-FFF2-40B4-BE49-F238E27FC236}">
                <a16:creationId xmlns:a16="http://schemas.microsoft.com/office/drawing/2014/main" id="{7F2DE16E-EEEB-F04D-B629-FBE01C97F9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247F99-D730-2641-86EF-84BCC74BAAFB}"/>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7" name="Picture 6" descr="&quot;WSU&quot; logo for Wichita State University." title="WSU Logo">
            <a:extLst>
              <a:ext uri="{FF2B5EF4-FFF2-40B4-BE49-F238E27FC236}">
                <a16:creationId xmlns:a16="http://schemas.microsoft.com/office/drawing/2014/main" id="{0747E5A0-53E7-3649-A4F4-D53323CF508A}"/>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22895504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EE8205-8020-9E43-BDC9-8F0646FB42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DAD0D22-4086-394C-A571-C6BB444D3D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3091FC-EF27-E34B-B5FE-194D933C90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54A545-610A-3246-BBF7-82AC132EB6A8}" type="datetimeFigureOut">
              <a:rPr lang="en-US" smtClean="0"/>
              <a:t>3/4/26</a:t>
            </a:fld>
            <a:endParaRPr lang="en-US"/>
          </a:p>
        </p:txBody>
      </p:sp>
      <p:sp>
        <p:nvSpPr>
          <p:cNvPr id="5" name="Footer Placeholder 4">
            <a:extLst>
              <a:ext uri="{FF2B5EF4-FFF2-40B4-BE49-F238E27FC236}">
                <a16:creationId xmlns:a16="http://schemas.microsoft.com/office/drawing/2014/main" id="{EB871301-3F06-5A49-A699-BBCBCEEE5F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74BA5A-8069-9D49-A99F-3AD1783CE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F147F3-F4BF-2C46-AC54-645A1178D8F6}" type="slidenum">
              <a:rPr lang="en-US" smtClean="0"/>
              <a:t>‹#›</a:t>
            </a:fld>
            <a:endParaRPr lang="en-US"/>
          </a:p>
        </p:txBody>
      </p:sp>
    </p:spTree>
    <p:extLst>
      <p:ext uri="{BB962C8B-B14F-4D97-AF65-F5344CB8AC3E}">
        <p14:creationId xmlns:p14="http://schemas.microsoft.com/office/powerpoint/2010/main" val="4226485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Data Science Capstone Project</a:t>
            </a:r>
          </a:p>
        </p:txBody>
      </p:sp>
      <p:sp>
        <p:nvSpPr>
          <p:cNvPr id="3" name="Subtitle 2"/>
          <p:cNvSpPr>
            <a:spLocks noGrp="1"/>
          </p:cNvSpPr>
          <p:nvPr>
            <p:ph type="subTitle" idx="1"/>
          </p:nvPr>
        </p:nvSpPr>
        <p:spPr>
          <a:xfrm>
            <a:off x="1524000" y="4042613"/>
            <a:ext cx="9144000" cy="1655762"/>
          </a:xfrm>
        </p:spPr>
        <p:txBody>
          <a:bodyPr>
            <a:normAutofit fontScale="47500" lnSpcReduction="20000"/>
          </a:bodyPr>
          <a:lstStyle/>
          <a:p>
            <a:r>
              <a:rPr lang="en-US" sz="5400" b="1" u="sng" dirty="0">
                <a:latin typeface="Times New Roman" panose="02020603050405020304" pitchFamily="18" charset="0"/>
                <a:cs typeface="Times New Roman" panose="02020603050405020304" pitchFamily="18" charset="0"/>
              </a:rPr>
              <a:t>Local Governments Survey </a:t>
            </a:r>
            <a:r>
              <a:rPr lang="en-US" sz="4000" dirty="0">
                <a:latin typeface="Times New Roman" panose="02020603050405020304" pitchFamily="18" charset="0"/>
                <a:cs typeface="Times New Roman" panose="02020603050405020304" pitchFamily="18" charset="0"/>
              </a:rPr>
              <a:t>(ARISE + </a:t>
            </a:r>
            <a:r>
              <a:rPr lang="en-US" sz="4000" dirty="0" err="1">
                <a:latin typeface="Times New Roman" panose="02020603050405020304" pitchFamily="18" charset="0"/>
                <a:cs typeface="Times New Roman" panose="02020603050405020304" pitchFamily="18" charset="0"/>
              </a:rPr>
              <a:t>CivicPulse</a:t>
            </a:r>
            <a:r>
              <a:rPr lang="en-US" sz="4000" dirty="0">
                <a:latin typeface="Times New Roman" panose="02020603050405020304" pitchFamily="18" charset="0"/>
                <a:cs typeface="Times New Roman" panose="02020603050405020304" pitchFamily="18" charset="0"/>
              </a:rPr>
              <a:t> Harmonization)</a:t>
            </a:r>
          </a:p>
          <a:p>
            <a:endParaRPr lang="en-US" sz="3600" dirty="0">
              <a:latin typeface="Times New Roman" panose="02020603050405020304" pitchFamily="18" charset="0"/>
              <a:cs typeface="Times New Roman" panose="02020603050405020304" pitchFamily="18" charset="0"/>
            </a:endParaRPr>
          </a:p>
          <a:p>
            <a:r>
              <a:rPr lang="en-US" sz="4000" dirty="0">
                <a:latin typeface="Times New Roman" panose="02020603050405020304" pitchFamily="18" charset="0"/>
                <a:cs typeface="Times New Roman" panose="02020603050405020304" pitchFamily="18" charset="0"/>
              </a:rPr>
              <a:t>Course Number:CS896</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Team #7- Anudeepthi </a:t>
            </a:r>
            <a:r>
              <a:rPr lang="en-US" sz="4000" dirty="0" err="1">
                <a:latin typeface="Times New Roman" panose="02020603050405020304" pitchFamily="18" charset="0"/>
                <a:cs typeface="Times New Roman" panose="02020603050405020304" pitchFamily="18" charset="0"/>
              </a:rPr>
              <a:t>Chirumamilla</a:t>
            </a:r>
            <a:r>
              <a:rPr lang="en-US" sz="4000" dirty="0">
                <a:latin typeface="Times New Roman" panose="02020603050405020304" pitchFamily="18" charset="0"/>
                <a:cs typeface="Times New Roman" panose="02020603050405020304" pitchFamily="18" charset="0"/>
              </a:rPr>
              <a:t>- Y828R524</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Rupali </a:t>
            </a:r>
            <a:r>
              <a:rPr lang="en-US" sz="4000" dirty="0" err="1">
                <a:latin typeface="Times New Roman" panose="02020603050405020304" pitchFamily="18" charset="0"/>
                <a:cs typeface="Times New Roman" panose="02020603050405020304" pitchFamily="18" charset="0"/>
              </a:rPr>
              <a:t>Avhad</a:t>
            </a:r>
            <a:r>
              <a:rPr lang="en-US" sz="4000" dirty="0">
                <a:latin typeface="Times New Roman" panose="02020603050405020304" pitchFamily="18" charset="0"/>
                <a:cs typeface="Times New Roman" panose="02020603050405020304" pitchFamily="18" charset="0"/>
              </a:rPr>
              <a:t> - d798z925</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          Teja Sree Mukkapati-Q389W584</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72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8457F-BC40-3D86-675B-98B87592B8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AC6F8-FB56-8143-7FC5-CFC861BF3C82}"/>
              </a:ext>
            </a:extLst>
          </p:cNvPr>
          <p:cNvSpPr>
            <a:spLocks noGrp="1"/>
          </p:cNvSpPr>
          <p:nvPr>
            <p:ph type="title"/>
          </p:nvPr>
        </p:nvSpPr>
        <p:spPr/>
        <p:txBody>
          <a:bodyPr>
            <a:normAutofit/>
          </a:bodyPr>
          <a:lstStyle/>
          <a:p>
            <a:r>
              <a:rPr lang="en-IN" sz="4000" dirty="0"/>
              <a:t>Project Progress Update</a:t>
            </a:r>
            <a:endParaRPr lang="en-US" sz="4000" dirty="0"/>
          </a:p>
        </p:txBody>
      </p:sp>
      <p:sp>
        <p:nvSpPr>
          <p:cNvPr id="3" name="Content Placeholder 2">
            <a:extLst>
              <a:ext uri="{FF2B5EF4-FFF2-40B4-BE49-F238E27FC236}">
                <a16:creationId xmlns:a16="http://schemas.microsoft.com/office/drawing/2014/main" id="{CC649013-77F4-389C-DBE3-2FE07ACC8FD3}"/>
              </a:ext>
            </a:extLst>
          </p:cNvPr>
          <p:cNvSpPr>
            <a:spLocks noGrp="1"/>
          </p:cNvSpPr>
          <p:nvPr>
            <p:ph idx="1"/>
          </p:nvPr>
        </p:nvSpPr>
        <p:spPr>
          <a:xfrm>
            <a:off x="838200" y="1567930"/>
            <a:ext cx="10515600" cy="4351338"/>
          </a:xfrm>
        </p:spPr>
        <p:txBody>
          <a:bodyPr>
            <a:normAutofit/>
          </a:bodyPr>
          <a:lstStyle/>
          <a:p>
            <a:pPr marL="0" indent="0" eaLnBrk="0" fontAlgn="base" hangingPunct="0">
              <a:lnSpc>
                <a:spcPct val="100000"/>
              </a:lnSpc>
              <a:spcBef>
                <a:spcPct val="0"/>
              </a:spcBef>
              <a:spcAft>
                <a:spcPct val="0"/>
              </a:spcAft>
              <a:buNone/>
            </a:pPr>
            <a:r>
              <a:rPr lang="en-US" altLang="en-US" sz="2400" b="1" u="sng" dirty="0">
                <a:latin typeface="Times New Roman" panose="02020603050405020304" pitchFamily="18" charset="0"/>
                <a:cs typeface="Times New Roman" panose="02020603050405020304" pitchFamily="18" charset="0"/>
              </a:rPr>
              <a:t>Last week:</a:t>
            </a:r>
            <a:br>
              <a:rPr lang="en-US" altLang="en-US" sz="2400" b="1" dirty="0">
                <a:latin typeface="Times New Roman" panose="02020603050405020304" pitchFamily="18" charset="0"/>
                <a:cs typeface="Times New Roman" panose="02020603050405020304" pitchFamily="18" charset="0"/>
              </a:rPr>
            </a:br>
            <a:endParaRPr lang="en-US" altLang="en-US" sz="2400" b="1"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Reviewed and understood the codebook and ARISE dataset.</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Examined to obtain similar constructs in the </a:t>
            </a:r>
            <a:r>
              <a:rPr lang="en-US" altLang="en-US" sz="2000" dirty="0" err="1">
                <a:latin typeface="Times New Roman" panose="02020603050405020304" pitchFamily="18" charset="0"/>
                <a:cs typeface="Times New Roman" panose="02020603050405020304" pitchFamily="18" charset="0"/>
              </a:rPr>
              <a:t>CivicPulse</a:t>
            </a:r>
            <a:r>
              <a:rPr lang="en-US" altLang="en-US" sz="2000" dirty="0">
                <a:latin typeface="Times New Roman" panose="02020603050405020304" pitchFamily="18" charset="0"/>
                <a:cs typeface="Times New Roman" panose="02020603050405020304" pitchFamily="18" charset="0"/>
              </a:rPr>
              <a:t> codebook.</a:t>
            </a:r>
          </a:p>
          <a:p>
            <a:pPr eaLnBrk="0" fontAlgn="base" hangingPunct="0">
              <a:lnSpc>
                <a:spcPct val="100000"/>
              </a:lnSpc>
              <a:spcBef>
                <a:spcPct val="0"/>
              </a:spcBef>
              <a:spcAft>
                <a:spcPct val="0"/>
              </a:spcAft>
            </a:pPr>
            <a:endParaRPr lang="en-US" altLang="en-US" sz="2000" b="1" u="sng"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400" b="1" u="sng" dirty="0">
                <a:latin typeface="Times New Roman" panose="02020603050405020304" pitchFamily="18" charset="0"/>
                <a:cs typeface="Times New Roman" panose="02020603050405020304" pitchFamily="18" charset="0"/>
              </a:rPr>
              <a:t>This week</a:t>
            </a:r>
            <a:r>
              <a:rPr lang="en-US" altLang="en-US" sz="2400" b="1" u="sng" dirty="0">
                <a:latin typeface="Times New Roman" panose="02020603050405020304" pitchFamily="18" charset="0"/>
                <a:cs typeface="Times New Roman" panose="02020603050405020304" pitchFamily="18" charset="0"/>
                <a:sym typeface="Wingdings" pitchFamily="2" charset="2"/>
              </a:rPr>
              <a:t> </a:t>
            </a:r>
            <a:r>
              <a:rPr lang="en-US" altLang="en-US" sz="2400" b="1" u="sng">
                <a:latin typeface="Times New Roman" panose="02020603050405020304" pitchFamily="18" charset="0"/>
                <a:cs typeface="Times New Roman" panose="02020603050405020304" pitchFamily="18" charset="0"/>
                <a:sym typeface="Wingdings" pitchFamily="2" charset="2"/>
              </a:rPr>
              <a:t>(Deliverables</a:t>
            </a:r>
            <a:r>
              <a:rPr lang="en-US" altLang="en-US" sz="2400" b="1" u="sng" dirty="0">
                <a:latin typeface="Times New Roman" panose="02020603050405020304" pitchFamily="18" charset="0"/>
                <a:cs typeface="Times New Roman" panose="02020603050405020304" pitchFamily="18" charset="0"/>
                <a:sym typeface="Wingdings" pitchFamily="2" charset="2"/>
              </a:rPr>
              <a:t>)</a:t>
            </a:r>
            <a:br>
              <a:rPr lang="en-US" altLang="en-US" sz="2000" b="1" u="sng" dirty="0">
                <a:latin typeface="Times New Roman" panose="02020603050405020304" pitchFamily="18" charset="0"/>
                <a:cs typeface="Times New Roman" panose="02020603050405020304" pitchFamily="18" charset="0"/>
              </a:rPr>
            </a:br>
            <a:endParaRPr lang="en-US" altLang="en-US" sz="2000" b="1" u="sng"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Verified the variables and structure of the </a:t>
            </a:r>
            <a:r>
              <a:rPr lang="en-US" altLang="en-US" sz="2000" dirty="0" err="1">
                <a:latin typeface="Times New Roman" panose="02020603050405020304" pitchFamily="18" charset="0"/>
                <a:cs typeface="Times New Roman" panose="02020603050405020304" pitchFamily="18" charset="0"/>
              </a:rPr>
              <a:t>CivicPulse</a:t>
            </a:r>
            <a:r>
              <a:rPr lang="en-US" altLang="en-US" sz="2000" dirty="0">
                <a:latin typeface="Times New Roman" panose="02020603050405020304" pitchFamily="18" charset="0"/>
                <a:cs typeface="Times New Roman" panose="02020603050405020304" pitchFamily="18" charset="0"/>
              </a:rPr>
              <a:t> response dataset.</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Completed the crosswalk table, which aligns important constructs between the two datasets.</a:t>
            </a:r>
          </a:p>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323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D85C7-4A05-1A20-C9EF-ACE2DB2D190B}"/>
              </a:ext>
            </a:extLst>
          </p:cNvPr>
          <p:cNvSpPr>
            <a:spLocks noGrp="1"/>
          </p:cNvSpPr>
          <p:nvPr>
            <p:ph type="title"/>
          </p:nvPr>
        </p:nvSpPr>
        <p:spPr>
          <a:xfrm>
            <a:off x="2857500" y="301752"/>
            <a:ext cx="8503920" cy="960120"/>
          </a:xfrm>
        </p:spPr>
        <p:txBody>
          <a:bodyPr anchor="ctr">
            <a:normAutofit/>
          </a:bodyPr>
          <a:lstStyle/>
          <a:p>
            <a:r>
              <a:rPr lang="en-US" sz="4000" dirty="0" err="1"/>
              <a:t>CivicPulse</a:t>
            </a:r>
            <a:r>
              <a:rPr lang="en-US" sz="4000" dirty="0"/>
              <a:t> Dataset </a:t>
            </a:r>
          </a:p>
        </p:txBody>
      </p:sp>
      <p:sp>
        <p:nvSpPr>
          <p:cNvPr id="6" name="Content Placeholder 5">
            <a:extLst>
              <a:ext uri="{FF2B5EF4-FFF2-40B4-BE49-F238E27FC236}">
                <a16:creationId xmlns:a16="http://schemas.microsoft.com/office/drawing/2014/main" id="{2607566E-C7AA-3826-B7FC-5BE4CB0F67B3}"/>
              </a:ext>
            </a:extLst>
          </p:cNvPr>
          <p:cNvSpPr>
            <a:spLocks noGrp="1"/>
          </p:cNvSpPr>
          <p:nvPr>
            <p:ph sz="half" idx="1"/>
          </p:nvPr>
        </p:nvSpPr>
        <p:spPr>
          <a:xfrm>
            <a:off x="838200" y="1825625"/>
            <a:ext cx="5181600" cy="4351338"/>
          </a:xfrm>
        </p:spPr>
        <p:txBody>
          <a:bodyPr>
            <a:normAutofit/>
          </a:bodyPr>
          <a:lstStyle/>
          <a:p>
            <a:r>
              <a:rPr lang="en-US" dirty="0">
                <a:latin typeface="Times New Roman" panose="02020603050405020304" pitchFamily="18" charset="0"/>
                <a:cs typeface="Times New Roman" panose="02020603050405020304" pitchFamily="18" charset="0"/>
              </a:rPr>
              <a:t>The dataset has 135 rows, 74 columns </a:t>
            </a:r>
          </a:p>
          <a:p>
            <a:r>
              <a:rPr lang="en-US" dirty="0">
                <a:latin typeface="Times New Roman" panose="02020603050405020304" pitchFamily="18" charset="0"/>
                <a:cs typeface="Times New Roman" panose="02020603050405020304" pitchFamily="18" charset="0"/>
              </a:rPr>
              <a:t>Each row represents one local government official who answered the survey.</a:t>
            </a:r>
          </a:p>
          <a:p>
            <a:r>
              <a:rPr lang="en-US" dirty="0">
                <a:latin typeface="Times New Roman" panose="02020603050405020304" pitchFamily="18" charset="0"/>
                <a:cs typeface="Times New Roman" panose="02020603050405020304" pitchFamily="18" charset="0"/>
              </a:rPr>
              <a:t>Each column represents one survey question or data field.</a:t>
            </a:r>
          </a:p>
          <a:p>
            <a:r>
              <a:rPr lang="en-US" dirty="0">
                <a:latin typeface="Times New Roman" panose="02020603050405020304" pitchFamily="18" charset="0"/>
                <a:cs typeface="Times New Roman" panose="02020603050405020304" pitchFamily="18" charset="0"/>
              </a:rPr>
              <a:t>Variables fall into three main categories: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8" name="Picture 7" descr="A screenshot of a computer code&#10;&#10;AI-generated content may be incorrect.">
            <a:extLst>
              <a:ext uri="{FF2B5EF4-FFF2-40B4-BE49-F238E27FC236}">
                <a16:creationId xmlns:a16="http://schemas.microsoft.com/office/drawing/2014/main" id="{3B7DEEAD-69EA-B4F3-FB83-09A63EE3E944}"/>
              </a:ext>
            </a:extLst>
          </p:cNvPr>
          <p:cNvPicPr>
            <a:picLocks noChangeAspect="1"/>
          </p:cNvPicPr>
          <p:nvPr/>
        </p:nvPicPr>
        <p:blipFill>
          <a:blip r:embed="rId2"/>
          <a:stretch>
            <a:fillRect/>
          </a:stretch>
        </p:blipFill>
        <p:spPr>
          <a:xfrm>
            <a:off x="6172200" y="1724628"/>
            <a:ext cx="5181600" cy="3831220"/>
          </a:xfrm>
          <a:prstGeom prst="rect">
            <a:avLst/>
          </a:prstGeom>
          <a:noFill/>
        </p:spPr>
      </p:pic>
    </p:spTree>
    <p:extLst>
      <p:ext uri="{BB962C8B-B14F-4D97-AF65-F5344CB8AC3E}">
        <p14:creationId xmlns:p14="http://schemas.microsoft.com/office/powerpoint/2010/main" val="4152683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8BC4A-20BE-285B-D75E-16F1B3902A8B}"/>
              </a:ext>
            </a:extLst>
          </p:cNvPr>
          <p:cNvSpPr>
            <a:spLocks noGrp="1"/>
          </p:cNvSpPr>
          <p:nvPr>
            <p:ph type="title"/>
          </p:nvPr>
        </p:nvSpPr>
        <p:spPr/>
        <p:txBody>
          <a:bodyPr>
            <a:normAutofit/>
          </a:bodyPr>
          <a:lstStyle/>
          <a:p>
            <a:r>
              <a:rPr lang="en-US" sz="4000" dirty="0" err="1"/>
              <a:t>CivicPulse</a:t>
            </a:r>
            <a:r>
              <a:rPr lang="en-US" sz="4000" dirty="0"/>
              <a:t> Dataset </a:t>
            </a:r>
            <a:endParaRPr lang="en-IN" sz="4000" dirty="0"/>
          </a:p>
        </p:txBody>
      </p:sp>
      <p:pic>
        <p:nvPicPr>
          <p:cNvPr id="5" name="Content Placeholder 4">
            <a:extLst>
              <a:ext uri="{FF2B5EF4-FFF2-40B4-BE49-F238E27FC236}">
                <a16:creationId xmlns:a16="http://schemas.microsoft.com/office/drawing/2014/main" id="{960E79A1-1705-3930-95B5-18413FB10826}"/>
              </a:ext>
            </a:extLst>
          </p:cNvPr>
          <p:cNvPicPr>
            <a:picLocks noGrp="1" noChangeAspect="1"/>
          </p:cNvPicPr>
          <p:nvPr>
            <p:ph idx="1"/>
          </p:nvPr>
        </p:nvPicPr>
        <p:blipFill>
          <a:blip r:embed="rId2"/>
          <a:stretch>
            <a:fillRect/>
          </a:stretch>
        </p:blipFill>
        <p:spPr>
          <a:xfrm>
            <a:off x="0" y="1257301"/>
            <a:ext cx="12192000" cy="5117862"/>
          </a:xfrm>
          <a:prstGeom prst="rect">
            <a:avLst/>
          </a:prstGeom>
        </p:spPr>
      </p:pic>
    </p:spTree>
    <p:extLst>
      <p:ext uri="{BB962C8B-B14F-4D97-AF65-F5344CB8AC3E}">
        <p14:creationId xmlns:p14="http://schemas.microsoft.com/office/powerpoint/2010/main" val="3800228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4929A-FA02-EA37-F379-715872A5BA4D}"/>
              </a:ext>
            </a:extLst>
          </p:cNvPr>
          <p:cNvSpPr>
            <a:spLocks noGrp="1"/>
          </p:cNvSpPr>
          <p:nvPr>
            <p:ph type="title"/>
          </p:nvPr>
        </p:nvSpPr>
        <p:spPr/>
        <p:txBody>
          <a:bodyPr>
            <a:normAutofit/>
          </a:bodyPr>
          <a:lstStyle/>
          <a:p>
            <a:r>
              <a:rPr lang="en-US" sz="4000" dirty="0"/>
              <a:t>Categories of dataset </a:t>
            </a:r>
            <a:endParaRPr lang="en-IN" sz="4000" dirty="0"/>
          </a:p>
        </p:txBody>
      </p:sp>
      <p:sp>
        <p:nvSpPr>
          <p:cNvPr id="3" name="Content Placeholder 2">
            <a:extLst>
              <a:ext uri="{FF2B5EF4-FFF2-40B4-BE49-F238E27FC236}">
                <a16:creationId xmlns:a16="http://schemas.microsoft.com/office/drawing/2014/main" id="{0F6B88BC-1343-3127-A19F-C86A4BE608A8}"/>
              </a:ext>
            </a:extLst>
          </p:cNvPr>
          <p:cNvSpPr>
            <a:spLocks noGrp="1"/>
          </p:cNvSpPr>
          <p:nvPr>
            <p:ph idx="1"/>
          </p:nvPr>
        </p:nvSpPr>
        <p:spPr>
          <a:xfrm>
            <a:off x="625033" y="1828799"/>
            <a:ext cx="10728767" cy="4348163"/>
          </a:xfrm>
        </p:spPr>
        <p:txBody>
          <a:bodyPr>
            <a:normAutofit fontScale="85000" lnSpcReduction="20000"/>
          </a:bodyPr>
          <a:lstStyle/>
          <a:p>
            <a:pPr marL="0" indent="0">
              <a:buNone/>
            </a:pPr>
            <a:r>
              <a:rPr lang="en-IN" sz="3100" b="1" u="sng" dirty="0">
                <a:latin typeface="Times New Roman" panose="02020603050405020304" pitchFamily="18" charset="0"/>
                <a:cs typeface="Times New Roman" panose="02020603050405020304" pitchFamily="18" charset="0"/>
              </a:rPr>
              <a:t>Rating scale variables(1–5)</a:t>
            </a:r>
          </a:p>
          <a:p>
            <a:pPr marL="0" indent="0">
              <a:buNone/>
            </a:pPr>
            <a:r>
              <a:rPr lang="en-IN" sz="2400" dirty="0">
                <a:latin typeface="Times New Roman" panose="02020603050405020304" pitchFamily="18" charset="0"/>
                <a:cs typeface="Times New Roman" panose="02020603050405020304" pitchFamily="18" charset="0"/>
              </a:rPr>
              <a:t>These measure intensity or agreement.</a:t>
            </a:r>
          </a:p>
          <a:p>
            <a:pPr marL="0" indent="0">
              <a:buNone/>
            </a:pPr>
            <a:r>
              <a:rPr lang="en-IN" sz="2400" dirty="0">
                <a:latin typeface="Times New Roman" panose="02020603050405020304" pitchFamily="18" charset="0"/>
                <a:cs typeface="Times New Roman" panose="02020603050405020304" pitchFamily="18" charset="0"/>
              </a:rPr>
              <a:t>Examples:</a:t>
            </a:r>
          </a:p>
          <a:p>
            <a:r>
              <a:rPr lang="en-IN" sz="2400" dirty="0" err="1">
                <a:latin typeface="Times New Roman" panose="02020603050405020304" pitchFamily="18" charset="0"/>
                <a:cs typeface="Times New Roman" panose="02020603050405020304" pitchFamily="18" charset="0"/>
              </a:rPr>
              <a:t>Workforce_SC</a:t>
            </a:r>
            <a:r>
              <a:rPr lang="en-IN" sz="2400" dirty="0">
                <a:latin typeface="Times New Roman" panose="02020603050405020304" pitchFamily="18" charset="0"/>
                <a:cs typeface="Times New Roman" panose="02020603050405020304" pitchFamily="18" charset="0"/>
              </a:rPr>
              <a:t> → Workforce challenge level</a:t>
            </a:r>
          </a:p>
          <a:p>
            <a:r>
              <a:rPr lang="en-IN" sz="2400" dirty="0" err="1">
                <a:latin typeface="Times New Roman" panose="02020603050405020304" pitchFamily="18" charset="0"/>
                <a:cs typeface="Times New Roman" panose="02020603050405020304" pitchFamily="18" charset="0"/>
              </a:rPr>
              <a:t>Condition_SC</a:t>
            </a:r>
            <a:r>
              <a:rPr lang="en-IN" sz="2400" dirty="0">
                <a:latin typeface="Times New Roman" panose="02020603050405020304" pitchFamily="18" charset="0"/>
                <a:cs typeface="Times New Roman" panose="02020603050405020304" pitchFamily="18" charset="0"/>
              </a:rPr>
              <a:t> → Fiscal condition rating</a:t>
            </a:r>
          </a:p>
          <a:p>
            <a:r>
              <a:rPr lang="en-IN" sz="2400" dirty="0" err="1">
                <a:latin typeface="Times New Roman" panose="02020603050405020304" pitchFamily="18" charset="0"/>
                <a:cs typeface="Times New Roman" panose="02020603050405020304" pitchFamily="18" charset="0"/>
              </a:rPr>
              <a:t>Infra_GR_spending</a:t>
            </a:r>
            <a:r>
              <a:rPr lang="en-IN" sz="2400" dirty="0">
                <a:latin typeface="Times New Roman" panose="02020603050405020304" pitchFamily="18" charset="0"/>
                <a:cs typeface="Times New Roman" panose="02020603050405020304" pitchFamily="18" charset="0"/>
              </a:rPr>
              <a:t> → Infrastructure spending adequacy </a:t>
            </a:r>
          </a:p>
          <a:p>
            <a:r>
              <a:rPr lang="en-IN" sz="2400" dirty="0" err="1">
                <a:latin typeface="Times New Roman" panose="02020603050405020304" pitchFamily="18" charset="0"/>
                <a:cs typeface="Times New Roman" panose="02020603050405020304" pitchFamily="18" charset="0"/>
              </a:rPr>
              <a:t>Infra_GR_budget</a:t>
            </a:r>
            <a:r>
              <a:rPr lang="en-IN" sz="2400" dirty="0">
                <a:latin typeface="Times New Roman" panose="02020603050405020304" pitchFamily="18" charset="0"/>
                <a:cs typeface="Times New Roman" panose="02020603050405020304" pitchFamily="18" charset="0"/>
              </a:rPr>
              <a:t> → Infrastructure budget sufficiency</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Scale meaning:</a:t>
            </a:r>
          </a:p>
          <a:p>
            <a:r>
              <a:rPr lang="en-IN" sz="2400" dirty="0">
                <a:latin typeface="Times New Roman" panose="02020603050405020304" pitchFamily="18" charset="0"/>
                <a:cs typeface="Times New Roman" panose="02020603050405020304" pitchFamily="18" charset="0"/>
              </a:rPr>
              <a:t>1 = Very low / Strongly disagree</a:t>
            </a:r>
          </a:p>
          <a:p>
            <a:r>
              <a:rPr lang="en-IN" sz="2400" dirty="0">
                <a:latin typeface="Times New Roman" panose="02020603050405020304" pitchFamily="18" charset="0"/>
                <a:cs typeface="Times New Roman" panose="02020603050405020304" pitchFamily="18" charset="0"/>
              </a:rPr>
              <a:t>5 = Very high / Strongly agree</a:t>
            </a:r>
          </a:p>
          <a:p>
            <a:pPr marL="0" indent="0">
              <a:buNone/>
            </a:pPr>
            <a:r>
              <a:rPr lang="en-IN" sz="2400" dirty="0">
                <a:latin typeface="Times New Roman" panose="02020603050405020304" pitchFamily="18" charset="0"/>
                <a:cs typeface="Times New Roman" panose="02020603050405020304" pitchFamily="18" charset="0"/>
              </a:rPr>
              <a:t>These are directly usable for analysis.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7863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E412C-61DD-EBD3-AEF3-9E07D9F74A36}"/>
              </a:ext>
            </a:extLst>
          </p:cNvPr>
          <p:cNvSpPr>
            <a:spLocks noGrp="1"/>
          </p:cNvSpPr>
          <p:nvPr>
            <p:ph type="title"/>
          </p:nvPr>
        </p:nvSpPr>
        <p:spPr/>
        <p:txBody>
          <a:bodyPr>
            <a:normAutofit/>
          </a:bodyPr>
          <a:lstStyle/>
          <a:p>
            <a:r>
              <a:rPr lang="en-US" sz="4000" dirty="0"/>
              <a:t>Categories of dataset </a:t>
            </a:r>
            <a:endParaRPr lang="en-IN" sz="4000" dirty="0"/>
          </a:p>
        </p:txBody>
      </p:sp>
      <p:sp>
        <p:nvSpPr>
          <p:cNvPr id="3" name="Content Placeholder 2">
            <a:extLst>
              <a:ext uri="{FF2B5EF4-FFF2-40B4-BE49-F238E27FC236}">
                <a16:creationId xmlns:a16="http://schemas.microsoft.com/office/drawing/2014/main" id="{A6FB42BC-C4BB-2700-CEDA-0BFD587151CB}"/>
              </a:ext>
            </a:extLst>
          </p:cNvPr>
          <p:cNvSpPr>
            <a:spLocks noGrp="1"/>
          </p:cNvSpPr>
          <p:nvPr>
            <p:ph idx="1"/>
          </p:nvPr>
        </p:nvSpPr>
        <p:spPr>
          <a:xfrm>
            <a:off x="85458" y="1392965"/>
            <a:ext cx="10878796" cy="4905286"/>
          </a:xfrm>
        </p:spPr>
        <p:txBody>
          <a:bodyPr>
            <a:normAutofit fontScale="40000" lnSpcReduction="20000"/>
          </a:bodyPr>
          <a:lstStyle/>
          <a:p>
            <a:pPr marL="0" indent="0">
              <a:buNone/>
            </a:pPr>
            <a:r>
              <a:rPr lang="en-US" sz="6000" b="1" u="sng" dirty="0">
                <a:latin typeface="Times New Roman" panose="02020603050405020304" pitchFamily="18" charset="0"/>
                <a:cs typeface="Times New Roman" panose="02020603050405020304" pitchFamily="18" charset="0"/>
              </a:rPr>
              <a:t>2.Multi-Select Coded Variables</a:t>
            </a:r>
          </a:p>
          <a:p>
            <a:pPr marL="0" indent="0">
              <a:buNone/>
            </a:pPr>
            <a:r>
              <a:rPr lang="en-US" sz="4500" dirty="0">
                <a:latin typeface="Times New Roman" panose="02020603050405020304" pitchFamily="18" charset="0"/>
                <a:cs typeface="Times New Roman" panose="02020603050405020304" pitchFamily="18" charset="0"/>
              </a:rPr>
              <a:t>Example:</a:t>
            </a:r>
          </a:p>
          <a:p>
            <a:r>
              <a:rPr lang="en-US" sz="4500" dirty="0" err="1">
                <a:latin typeface="Times New Roman" panose="02020603050405020304" pitchFamily="18" charset="0"/>
                <a:cs typeface="Times New Roman" panose="02020603050405020304" pitchFamily="18" charset="0"/>
              </a:rPr>
              <a:t>Challenges_MS</a:t>
            </a:r>
            <a:r>
              <a:rPr lang="en-US" sz="4500" dirty="0">
                <a:latin typeface="Times New Roman" panose="02020603050405020304" pitchFamily="18" charset="0"/>
                <a:cs typeface="Times New Roman" panose="02020603050405020304" pitchFamily="18" charset="0"/>
              </a:rPr>
              <a:t> Values may look like:</a:t>
            </a:r>
          </a:p>
          <a:p>
            <a:r>
              <a:rPr lang="en-US" sz="4500" dirty="0">
                <a:latin typeface="Times New Roman" panose="02020603050405020304" pitchFamily="18" charset="0"/>
                <a:cs typeface="Times New Roman" panose="02020603050405020304" pitchFamily="18" charset="0"/>
              </a:rPr>
              <a:t>4,1,2</a:t>
            </a:r>
            <a:br>
              <a:rPr lang="en-US" sz="4500" dirty="0">
                <a:latin typeface="Times New Roman" panose="02020603050405020304" pitchFamily="18" charset="0"/>
                <a:cs typeface="Times New Roman" panose="02020603050405020304" pitchFamily="18" charset="0"/>
              </a:rPr>
            </a:br>
            <a:r>
              <a:rPr lang="en-US" sz="4500" dirty="0">
                <a:latin typeface="Times New Roman" panose="02020603050405020304" pitchFamily="18" charset="0"/>
                <a:cs typeface="Times New Roman" panose="02020603050405020304" pitchFamily="18" charset="0"/>
              </a:rPr>
              <a:t>3,2,4</a:t>
            </a:r>
          </a:p>
          <a:p>
            <a:pPr marL="0" indent="0">
              <a:buNone/>
            </a:pPr>
            <a:r>
              <a:rPr lang="en-US" sz="4500" dirty="0">
                <a:latin typeface="Times New Roman" panose="02020603050405020304" pitchFamily="18" charset="0"/>
                <a:cs typeface="Times New Roman" panose="02020603050405020304" pitchFamily="18" charset="0"/>
              </a:rPr>
              <a:t>This means:</a:t>
            </a:r>
          </a:p>
          <a:p>
            <a:r>
              <a:rPr lang="en-US" sz="4500" dirty="0">
                <a:latin typeface="Times New Roman" panose="02020603050405020304" pitchFamily="18" charset="0"/>
                <a:cs typeface="Times New Roman" panose="02020603050405020304" pitchFamily="18" charset="0"/>
              </a:rPr>
              <a:t>The respondent selected multiple answer choices.</a:t>
            </a:r>
          </a:p>
          <a:p>
            <a:r>
              <a:rPr lang="en-US" sz="4500" dirty="0">
                <a:latin typeface="Times New Roman" panose="02020603050405020304" pitchFamily="18" charset="0"/>
                <a:cs typeface="Times New Roman" panose="02020603050405020304" pitchFamily="18" charset="0"/>
              </a:rPr>
              <a:t>Each number corresponds to a coded option from the codebook.</a:t>
            </a:r>
          </a:p>
          <a:p>
            <a:pPr marL="0" indent="0">
              <a:buNone/>
            </a:pPr>
            <a:r>
              <a:rPr lang="en-IN" sz="6000" b="1" u="sng" dirty="0">
                <a:latin typeface="Times New Roman" panose="02020603050405020304" pitchFamily="18" charset="0"/>
                <a:cs typeface="Times New Roman" panose="02020603050405020304" pitchFamily="18" charset="0"/>
              </a:rPr>
              <a:t>3. Metadata Variables</a:t>
            </a:r>
          </a:p>
          <a:p>
            <a:pPr marL="0" indent="0">
              <a:buNone/>
            </a:pPr>
            <a:r>
              <a:rPr lang="en-IN" sz="4500" dirty="0">
                <a:latin typeface="Times New Roman" panose="02020603050405020304" pitchFamily="18" charset="0"/>
                <a:cs typeface="Times New Roman" panose="02020603050405020304" pitchFamily="18" charset="0"/>
              </a:rPr>
              <a:t>Examples:</a:t>
            </a:r>
          </a:p>
          <a:p>
            <a:r>
              <a:rPr lang="en-IN" sz="4500" dirty="0" err="1">
                <a:latin typeface="Times New Roman" panose="02020603050405020304" pitchFamily="18" charset="0"/>
                <a:cs typeface="Times New Roman" panose="02020603050405020304" pitchFamily="18" charset="0"/>
              </a:rPr>
              <a:t>Respondentid</a:t>
            </a:r>
            <a:endParaRPr lang="en-IN" sz="4500" dirty="0">
              <a:latin typeface="Times New Roman" panose="02020603050405020304" pitchFamily="18" charset="0"/>
              <a:cs typeface="Times New Roman" panose="02020603050405020304" pitchFamily="18" charset="0"/>
            </a:endParaRPr>
          </a:p>
          <a:p>
            <a:r>
              <a:rPr lang="en-IN" sz="4500" dirty="0" err="1">
                <a:latin typeface="Times New Roman" panose="02020603050405020304" pitchFamily="18" charset="0"/>
                <a:cs typeface="Times New Roman" panose="02020603050405020304" pitchFamily="18" charset="0"/>
              </a:rPr>
              <a:t>statecode</a:t>
            </a:r>
            <a:endParaRPr lang="en-IN" sz="4500" dirty="0">
              <a:latin typeface="Times New Roman" panose="02020603050405020304" pitchFamily="18" charset="0"/>
              <a:cs typeface="Times New Roman" panose="02020603050405020304" pitchFamily="18" charset="0"/>
            </a:endParaRPr>
          </a:p>
          <a:p>
            <a:r>
              <a:rPr lang="en-IN" sz="4500" dirty="0" err="1">
                <a:latin typeface="Times New Roman" panose="02020603050405020304" pitchFamily="18" charset="0"/>
                <a:cs typeface="Times New Roman" panose="02020603050405020304" pitchFamily="18" charset="0"/>
              </a:rPr>
              <a:t>countycode</a:t>
            </a:r>
            <a:endParaRPr lang="en-IN" sz="4500" dirty="0">
              <a:latin typeface="Times New Roman" panose="02020603050405020304" pitchFamily="18" charset="0"/>
              <a:cs typeface="Times New Roman" panose="02020603050405020304" pitchFamily="18" charset="0"/>
            </a:endParaRPr>
          </a:p>
          <a:p>
            <a:r>
              <a:rPr lang="en-IN" sz="4500" dirty="0" err="1">
                <a:latin typeface="Times New Roman" panose="02020603050405020304" pitchFamily="18" charset="0"/>
                <a:cs typeface="Times New Roman" panose="02020603050405020304" pitchFamily="18" charset="0"/>
              </a:rPr>
              <a:t>govname</a:t>
            </a:r>
            <a:endParaRPr lang="en-IN" sz="4500" dirty="0">
              <a:latin typeface="Times New Roman" panose="02020603050405020304" pitchFamily="18" charset="0"/>
              <a:cs typeface="Times New Roman" panose="02020603050405020304" pitchFamily="18" charset="0"/>
            </a:endParaRPr>
          </a:p>
          <a:p>
            <a:r>
              <a:rPr lang="en-IN" sz="4500" dirty="0" err="1">
                <a:latin typeface="Times New Roman" panose="02020603050405020304" pitchFamily="18" charset="0"/>
                <a:cs typeface="Times New Roman" panose="02020603050405020304" pitchFamily="18" charset="0"/>
              </a:rPr>
              <a:t>Govtype</a:t>
            </a:r>
            <a:endParaRPr lang="en-IN" sz="45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4319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BBDBC-AC8B-7026-6B08-BEB109381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D1BA6-17CC-EAF8-5454-8553D0691338}"/>
              </a:ext>
            </a:extLst>
          </p:cNvPr>
          <p:cNvSpPr>
            <a:spLocks noGrp="1"/>
          </p:cNvSpPr>
          <p:nvPr>
            <p:ph type="title"/>
          </p:nvPr>
        </p:nvSpPr>
        <p:spPr>
          <a:xfrm>
            <a:off x="2857500" y="301752"/>
            <a:ext cx="8503920" cy="960120"/>
          </a:xfrm>
        </p:spPr>
        <p:txBody>
          <a:bodyPr anchor="ctr">
            <a:normAutofit/>
          </a:bodyPr>
          <a:lstStyle/>
          <a:p>
            <a:r>
              <a:rPr lang="en-US" sz="4000" b="1" dirty="0"/>
              <a:t>Purpose of the Crosswalk Table</a:t>
            </a:r>
            <a:r>
              <a:rPr lang="en-US" sz="4000" dirty="0"/>
              <a:t> </a:t>
            </a:r>
          </a:p>
        </p:txBody>
      </p:sp>
      <p:sp>
        <p:nvSpPr>
          <p:cNvPr id="3" name="Content Placeholder 2">
            <a:extLst>
              <a:ext uri="{FF2B5EF4-FFF2-40B4-BE49-F238E27FC236}">
                <a16:creationId xmlns:a16="http://schemas.microsoft.com/office/drawing/2014/main" id="{EE670082-32F0-2920-8897-E7B685995159}"/>
              </a:ext>
            </a:extLst>
          </p:cNvPr>
          <p:cNvSpPr>
            <a:spLocks noGrp="1"/>
          </p:cNvSpPr>
          <p:nvPr>
            <p:ph sz="half" idx="1"/>
          </p:nvPr>
        </p:nvSpPr>
        <p:spPr>
          <a:xfrm>
            <a:off x="439839" y="1516284"/>
            <a:ext cx="5579962" cy="4660679"/>
          </a:xfrm>
        </p:spPr>
        <p:txBody>
          <a:bodyPr>
            <a:noAutofit/>
          </a:bodyPr>
          <a:lstStyle/>
          <a:p>
            <a:r>
              <a:rPr lang="en-US" sz="2000" dirty="0">
                <a:latin typeface="Times New Roman" panose="02020603050405020304" pitchFamily="18" charset="0"/>
                <a:cs typeface="Times New Roman" panose="02020603050405020304" pitchFamily="18" charset="0"/>
              </a:rPr>
              <a:t>The crosswalk is the core document used to align variables between the </a:t>
            </a:r>
            <a:r>
              <a:rPr lang="en-US" sz="2000" b="1" dirty="0">
                <a:latin typeface="Times New Roman" panose="02020603050405020304" pitchFamily="18" charset="0"/>
                <a:cs typeface="Times New Roman" panose="02020603050405020304" pitchFamily="18" charset="0"/>
              </a:rPr>
              <a:t>ARISE</a:t>
            </a:r>
            <a:r>
              <a:rPr lang="en-US" sz="2000" dirty="0">
                <a:latin typeface="Times New Roman" panose="02020603050405020304" pitchFamily="18" charset="0"/>
                <a:cs typeface="Times New Roman" panose="02020603050405020304" pitchFamily="18" charset="0"/>
              </a:rPr>
              <a:t> and </a:t>
            </a:r>
            <a:r>
              <a:rPr lang="en-US" sz="2000" b="1" dirty="0" err="1">
                <a:latin typeface="Times New Roman" panose="02020603050405020304" pitchFamily="18" charset="0"/>
                <a:cs typeface="Times New Roman" panose="02020603050405020304" pitchFamily="18" charset="0"/>
              </a:rPr>
              <a:t>CivicPulse</a:t>
            </a:r>
            <a:r>
              <a:rPr lang="en-US" sz="2000" dirty="0">
                <a:latin typeface="Times New Roman" panose="02020603050405020304" pitchFamily="18" charset="0"/>
                <a:cs typeface="Times New Roman" panose="02020603050405020304" pitchFamily="18" charset="0"/>
              </a:rPr>
              <a:t> surveys.</a:t>
            </a:r>
          </a:p>
          <a:p>
            <a:pPr marL="0" indent="0">
              <a:buNone/>
            </a:pPr>
            <a:r>
              <a:rPr lang="en-US" sz="2000" dirty="0">
                <a:latin typeface="Times New Roman" panose="02020603050405020304" pitchFamily="18" charset="0"/>
                <a:cs typeface="Times New Roman" panose="02020603050405020304" pitchFamily="18" charset="0"/>
              </a:rPr>
              <a:t>Its purpose is to identify:</a:t>
            </a:r>
          </a:p>
          <a:p>
            <a:r>
              <a:rPr lang="en-US" sz="2000" dirty="0">
                <a:latin typeface="Times New Roman" panose="02020603050405020304" pitchFamily="18" charset="0"/>
                <a:cs typeface="Times New Roman" panose="02020603050405020304" pitchFamily="18" charset="0"/>
              </a:rPr>
              <a:t>Which variables measure the same concept,</a:t>
            </a:r>
          </a:p>
          <a:p>
            <a:r>
              <a:rPr lang="en-US" sz="2000" dirty="0">
                <a:latin typeface="Times New Roman" panose="02020603050405020304" pitchFamily="18" charset="0"/>
                <a:cs typeface="Times New Roman" panose="02020603050405020304" pitchFamily="18" charset="0"/>
              </a:rPr>
              <a:t>How closely they match,</a:t>
            </a:r>
          </a:p>
          <a:p>
            <a:r>
              <a:rPr lang="en-US" sz="2000" dirty="0">
                <a:latin typeface="Times New Roman" panose="02020603050405020304" pitchFamily="18" charset="0"/>
                <a:cs typeface="Times New Roman" panose="02020603050405020304" pitchFamily="18" charset="0"/>
              </a:rPr>
              <a:t>How they should be recoded,</a:t>
            </a:r>
          </a:p>
          <a:p>
            <a:r>
              <a:rPr lang="en-US" sz="2000" dirty="0">
                <a:latin typeface="Times New Roman" panose="02020603050405020304" pitchFamily="18" charset="0"/>
                <a:cs typeface="Times New Roman" panose="02020603050405020304" pitchFamily="18" charset="0"/>
              </a:rPr>
              <a:t>and how they will be represented in a harmonized dataset.</a:t>
            </a:r>
          </a:p>
          <a:p>
            <a:pPr marL="0" indent="0">
              <a:buNone/>
            </a:pPr>
            <a:r>
              <a:rPr lang="en-US" sz="2000" dirty="0">
                <a:latin typeface="Times New Roman" panose="02020603050405020304" pitchFamily="18" charset="0"/>
                <a:cs typeface="Times New Roman" panose="02020603050405020304" pitchFamily="18" charset="0"/>
              </a:rPr>
              <a:t>Because ARISE and </a:t>
            </a:r>
            <a:r>
              <a:rPr lang="en-US" sz="2000" dirty="0" err="1">
                <a:latin typeface="Times New Roman" panose="02020603050405020304" pitchFamily="18" charset="0"/>
                <a:cs typeface="Times New Roman" panose="02020603050405020304" pitchFamily="18" charset="0"/>
              </a:rPr>
              <a:t>CivicPulse</a:t>
            </a:r>
            <a:r>
              <a:rPr lang="en-US" sz="2000" dirty="0">
                <a:latin typeface="Times New Roman" panose="02020603050405020304" pitchFamily="18" charset="0"/>
                <a:cs typeface="Times New Roman" panose="02020603050405020304" pitchFamily="18" charset="0"/>
              </a:rPr>
              <a:t> use different variable names, question wording, response scales, and missing-value conventions, the crosswalk acts as a </a:t>
            </a:r>
            <a:r>
              <a:rPr lang="en-US" sz="2000" b="1" dirty="0">
                <a:latin typeface="Times New Roman" panose="02020603050405020304" pitchFamily="18" charset="0"/>
                <a:cs typeface="Times New Roman" panose="02020603050405020304" pitchFamily="18" charset="0"/>
              </a:rPr>
              <a:t>translation map</a:t>
            </a:r>
            <a:r>
              <a:rPr lang="en-US" sz="2000" dirty="0">
                <a:latin typeface="Times New Roman" panose="02020603050405020304" pitchFamily="18" charset="0"/>
                <a:cs typeface="Times New Roman" panose="02020603050405020304" pitchFamily="18" charset="0"/>
              </a:rPr>
              <a:t> between the two survey systems.</a:t>
            </a:r>
          </a:p>
          <a:p>
            <a:endParaRPr lang="en-US" sz="2000" dirty="0">
              <a:latin typeface="Times New Roman" panose="02020603050405020304" pitchFamily="18" charset="0"/>
              <a:cs typeface="Times New Roman" panose="02020603050405020304" pitchFamily="18" charset="0"/>
            </a:endParaRPr>
          </a:p>
        </p:txBody>
      </p:sp>
      <p:pic>
        <p:nvPicPr>
          <p:cNvPr id="1026" name="Picture 2" descr="Creating an Exploratory “Crosswalk Analysis”">
            <a:extLst>
              <a:ext uri="{FF2B5EF4-FFF2-40B4-BE49-F238E27FC236}">
                <a16:creationId xmlns:a16="http://schemas.microsoft.com/office/drawing/2014/main" id="{989FD85A-4604-8686-9F22-8FAB92D869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44" r="6266" b="2"/>
          <a:stretch>
            <a:fillRect/>
          </a:stretch>
        </p:blipFill>
        <p:spPr bwMode="auto">
          <a:xfrm>
            <a:off x="6172200" y="1825625"/>
            <a:ext cx="5181600" cy="4351338"/>
          </a:xfrm>
          <a:prstGeom prst="rect">
            <a:avLst/>
          </a:prstGeom>
          <a:solidFill>
            <a:srgbClr val="FFFFFF"/>
          </a:solidFill>
        </p:spPr>
      </p:pic>
    </p:spTree>
    <p:extLst>
      <p:ext uri="{BB962C8B-B14F-4D97-AF65-F5344CB8AC3E}">
        <p14:creationId xmlns:p14="http://schemas.microsoft.com/office/powerpoint/2010/main" val="1822738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6A6C3-A320-E9B9-17E4-5B824ED3EFAA}"/>
              </a:ext>
            </a:extLst>
          </p:cNvPr>
          <p:cNvSpPr>
            <a:spLocks noGrp="1"/>
          </p:cNvSpPr>
          <p:nvPr>
            <p:ph type="title"/>
          </p:nvPr>
        </p:nvSpPr>
        <p:spPr/>
        <p:txBody>
          <a:bodyPr>
            <a:normAutofit/>
          </a:bodyPr>
          <a:lstStyle/>
          <a:p>
            <a:r>
              <a:rPr lang="en-US" sz="4000" dirty="0"/>
              <a:t>Why the Crosswalk Was Necessary</a:t>
            </a:r>
          </a:p>
        </p:txBody>
      </p:sp>
      <p:graphicFrame>
        <p:nvGraphicFramePr>
          <p:cNvPr id="6" name="Content Placeholder 5">
            <a:extLst>
              <a:ext uri="{FF2B5EF4-FFF2-40B4-BE49-F238E27FC236}">
                <a16:creationId xmlns:a16="http://schemas.microsoft.com/office/drawing/2014/main" id="{2A40BD8C-4C2C-454D-D2A9-F07D2BB069DC}"/>
              </a:ext>
            </a:extLst>
          </p:cNvPr>
          <p:cNvGraphicFramePr>
            <a:graphicFrameLocks noGrp="1"/>
          </p:cNvGraphicFramePr>
          <p:nvPr>
            <p:ph sz="half" idx="1"/>
            <p:extLst>
              <p:ext uri="{D42A27DB-BD31-4B8C-83A1-F6EECF244321}">
                <p14:modId xmlns:p14="http://schemas.microsoft.com/office/powerpoint/2010/main" val="254977037"/>
              </p:ext>
            </p:extLst>
          </p:nvPr>
        </p:nvGraphicFramePr>
        <p:xfrm>
          <a:off x="234176" y="1527717"/>
          <a:ext cx="5475248" cy="46492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a:extLst>
              <a:ext uri="{FF2B5EF4-FFF2-40B4-BE49-F238E27FC236}">
                <a16:creationId xmlns:a16="http://schemas.microsoft.com/office/drawing/2014/main" id="{79292206-6B8B-F266-222F-A304AF342AD3}"/>
              </a:ext>
            </a:extLst>
          </p:cNvPr>
          <p:cNvSpPr>
            <a:spLocks noGrp="1"/>
          </p:cNvSpPr>
          <p:nvPr>
            <p:ph sz="half" idx="2"/>
          </p:nvPr>
        </p:nvSpPr>
        <p:spPr>
          <a:xfrm>
            <a:off x="5809785" y="1632031"/>
            <a:ext cx="6019541" cy="4544932"/>
          </a:xfrm>
        </p:spPr>
        <p:txBody>
          <a:bodyPr>
            <a:normAutofit fontScale="70000" lnSpcReduction="20000"/>
          </a:bodyPr>
          <a:lstStyle/>
          <a:p>
            <a:pPr marL="0" indent="0">
              <a:buNone/>
            </a:pPr>
            <a:r>
              <a:rPr lang="en-US" dirty="0"/>
              <a:t>However, they differ in:</a:t>
            </a:r>
          </a:p>
          <a:p>
            <a:r>
              <a:rPr lang="en-US" dirty="0"/>
              <a:t>Variable naming style</a:t>
            </a:r>
          </a:p>
          <a:p>
            <a:r>
              <a:rPr lang="en-US" dirty="0"/>
              <a:t>Question wording</a:t>
            </a:r>
          </a:p>
          <a:p>
            <a:r>
              <a:rPr lang="en-US" dirty="0"/>
              <a:t>Response formats</a:t>
            </a:r>
          </a:p>
          <a:p>
            <a:r>
              <a:rPr lang="en-US" dirty="0"/>
              <a:t>Coding structure</a:t>
            </a:r>
          </a:p>
          <a:p>
            <a:r>
              <a:rPr lang="en-US" dirty="0"/>
              <a:t>Missing value labels</a:t>
            </a:r>
          </a:p>
          <a:p>
            <a:r>
              <a:rPr lang="en-US" dirty="0"/>
              <a:t>Because of this, raw variables cannot be directly compared.</a:t>
            </a:r>
          </a:p>
          <a:p>
            <a:r>
              <a:rPr lang="en-US" dirty="0"/>
              <a:t>The crosswalk was necessary to create a common framework for later coding and analysis.</a:t>
            </a:r>
          </a:p>
          <a:p>
            <a:pPr marL="0" indent="0">
              <a:buNone/>
            </a:pPr>
            <a:br>
              <a:rPr lang="en-US" dirty="0"/>
            </a:br>
            <a:r>
              <a:rPr lang="en-US" b="1" dirty="0"/>
              <a:t>Example</a:t>
            </a:r>
          </a:p>
          <a:p>
            <a:pPr marL="0" indent="0">
              <a:buNone/>
            </a:pPr>
            <a:r>
              <a:rPr lang="en-US" dirty="0"/>
              <a:t>ARISE → Q... style variables</a:t>
            </a:r>
          </a:p>
          <a:p>
            <a:pPr marL="0" indent="0">
              <a:buNone/>
            </a:pPr>
            <a:r>
              <a:rPr lang="en-US" dirty="0" err="1"/>
              <a:t>CivicPulse</a:t>
            </a:r>
            <a:r>
              <a:rPr lang="en-US" dirty="0"/>
              <a:t> → _SC, _GR, _MS style variables</a:t>
            </a:r>
          </a:p>
          <a:p>
            <a:endParaRPr lang="en-US" dirty="0"/>
          </a:p>
          <a:p>
            <a:pPr marL="0" indent="0">
              <a:buNone/>
            </a:pPr>
            <a:endParaRPr lang="en-US" dirty="0"/>
          </a:p>
        </p:txBody>
      </p:sp>
    </p:spTree>
    <p:extLst>
      <p:ext uri="{BB962C8B-B14F-4D97-AF65-F5344CB8AC3E}">
        <p14:creationId xmlns:p14="http://schemas.microsoft.com/office/powerpoint/2010/main" val="1540750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8F930-7287-7203-89C9-95C4B6ECF8A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Inputs Used for Crosswalk Creation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11" name="Content Placeholder 10">
            <a:extLst>
              <a:ext uri="{FF2B5EF4-FFF2-40B4-BE49-F238E27FC236}">
                <a16:creationId xmlns:a16="http://schemas.microsoft.com/office/drawing/2014/main" id="{DEA8E19E-3218-4E91-AC64-ECBACDB54F08}"/>
              </a:ext>
            </a:extLst>
          </p:cNvPr>
          <p:cNvGraphicFramePr>
            <a:graphicFrameLocks noGrp="1"/>
          </p:cNvGraphicFramePr>
          <p:nvPr>
            <p:ph idx="1"/>
            <p:extLst>
              <p:ext uri="{D42A27DB-BD31-4B8C-83A1-F6EECF244321}">
                <p14:modId xmlns:p14="http://schemas.microsoft.com/office/powerpoint/2010/main" val="3501325727"/>
              </p:ext>
            </p:extLst>
          </p:nvPr>
        </p:nvGraphicFramePr>
        <p:xfrm>
          <a:off x="267629" y="1405054"/>
          <a:ext cx="11086171" cy="47719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1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39D80-6118-BAD9-84D3-3B36DA11557F}"/>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Crosswalk Creation Process</a:t>
            </a:r>
          </a:p>
        </p:txBody>
      </p:sp>
      <p:sp>
        <p:nvSpPr>
          <p:cNvPr id="3" name="Content Placeholder 2">
            <a:extLst>
              <a:ext uri="{FF2B5EF4-FFF2-40B4-BE49-F238E27FC236}">
                <a16:creationId xmlns:a16="http://schemas.microsoft.com/office/drawing/2014/main" id="{D5384DAC-BB67-B712-9A29-6560BA9DF347}"/>
              </a:ext>
            </a:extLst>
          </p:cNvPr>
          <p:cNvSpPr>
            <a:spLocks noGrp="1"/>
          </p:cNvSpPr>
          <p:nvPr>
            <p:ph sz="half" idx="1"/>
          </p:nvPr>
        </p:nvSpPr>
        <p:spPr>
          <a:xfrm>
            <a:off x="277792" y="1377388"/>
            <a:ext cx="5742008" cy="5011838"/>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To build the crosswalk correctly, the following process was used</a:t>
            </a:r>
            <a:br>
              <a:rPr lang="en-US" sz="1800" dirty="0">
                <a:latin typeface="Times New Roman" panose="02020603050405020304" pitchFamily="18" charset="0"/>
                <a:cs typeface="Times New Roman" panose="02020603050405020304" pitchFamily="18" charset="0"/>
              </a:rPr>
            </a:br>
            <a:r>
              <a:rPr lang="en-US" sz="1800" b="1" u="sng" dirty="0">
                <a:latin typeface="Times New Roman" panose="02020603050405020304" pitchFamily="18" charset="0"/>
                <a:cs typeface="Times New Roman" panose="02020603050405020304" pitchFamily="18" charset="0"/>
              </a:rPr>
              <a:t>Step 1: Review ARISE codebook</a:t>
            </a:r>
            <a:r>
              <a:rPr lang="en-US" sz="1800" b="1"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ARISE codebook was read to identify:</a:t>
            </a:r>
          </a:p>
          <a:p>
            <a:pPr lvl="0"/>
            <a:r>
              <a:rPr lang="en-US" sz="1800" dirty="0">
                <a:latin typeface="Times New Roman" panose="02020603050405020304" pitchFamily="18" charset="0"/>
                <a:cs typeface="Times New Roman" panose="02020603050405020304" pitchFamily="18" charset="0"/>
              </a:rPr>
              <a:t>Candidate variables for harmonization,</a:t>
            </a:r>
          </a:p>
          <a:p>
            <a:pPr lvl="0"/>
            <a:r>
              <a:rPr lang="en-US" sz="1800" dirty="0">
                <a:latin typeface="Times New Roman" panose="02020603050405020304" pitchFamily="18" charset="0"/>
                <a:cs typeface="Times New Roman" panose="02020603050405020304" pitchFamily="18" charset="0"/>
              </a:rPr>
              <a:t>Response coding systems and variable naming conventions.</a:t>
            </a:r>
          </a:p>
          <a:p>
            <a:r>
              <a:rPr lang="en-US" sz="1800" dirty="0">
                <a:latin typeface="Times New Roman" panose="02020603050405020304" pitchFamily="18" charset="0"/>
                <a:cs typeface="Times New Roman" panose="02020603050405020304" pitchFamily="18" charset="0"/>
              </a:rPr>
              <a:t>This helped establish the ARISE side of the crosswalk.</a:t>
            </a:r>
          </a:p>
          <a:p>
            <a:pPr marL="0" indent="0">
              <a:buNone/>
            </a:pPr>
            <a:r>
              <a:rPr lang="en-US" sz="1800" b="1" u="sng" dirty="0">
                <a:latin typeface="Times New Roman" panose="02020603050405020304" pitchFamily="18" charset="0"/>
                <a:cs typeface="Times New Roman" panose="02020603050405020304" pitchFamily="18" charset="0"/>
              </a:rPr>
              <a:t>Step 2: Review </a:t>
            </a:r>
            <a:r>
              <a:rPr lang="en-US" sz="1800" b="1" u="sng" dirty="0" err="1">
                <a:latin typeface="Times New Roman" panose="02020603050405020304" pitchFamily="18" charset="0"/>
                <a:cs typeface="Times New Roman" panose="02020603050405020304" pitchFamily="18" charset="0"/>
              </a:rPr>
              <a:t>CivicPulse</a:t>
            </a:r>
            <a:r>
              <a:rPr lang="en-US" sz="1800" b="1" u="sng" dirty="0">
                <a:latin typeface="Times New Roman" panose="02020603050405020304" pitchFamily="18" charset="0"/>
                <a:cs typeface="Times New Roman" panose="02020603050405020304" pitchFamily="18" charset="0"/>
              </a:rPr>
              <a:t> questionnaire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a:t>
            </a:r>
            <a:r>
              <a:rPr lang="en-US" sz="1800" dirty="0" err="1">
                <a:latin typeface="Times New Roman" panose="02020603050405020304" pitchFamily="18" charset="0"/>
                <a:cs typeface="Times New Roman" panose="02020603050405020304" pitchFamily="18" charset="0"/>
              </a:rPr>
              <a:t>CivicPulse</a:t>
            </a:r>
            <a:r>
              <a:rPr lang="en-US" sz="1800" dirty="0">
                <a:latin typeface="Times New Roman" panose="02020603050405020304" pitchFamily="18" charset="0"/>
                <a:cs typeface="Times New Roman" panose="02020603050405020304" pitchFamily="18" charset="0"/>
              </a:rPr>
              <a:t> questionnaire was reviewed to understand:</a:t>
            </a:r>
          </a:p>
          <a:p>
            <a:pPr lvl="0"/>
            <a:r>
              <a:rPr lang="en-US" sz="1800" dirty="0">
                <a:latin typeface="Times New Roman" panose="02020603050405020304" pitchFamily="18" charset="0"/>
                <a:cs typeface="Times New Roman" panose="02020603050405020304" pitchFamily="18" charset="0"/>
              </a:rPr>
              <a:t>What each survey block measures,</a:t>
            </a:r>
          </a:p>
          <a:p>
            <a:pPr lvl="0"/>
            <a:r>
              <a:rPr lang="en-US" sz="1800" dirty="0">
                <a:latin typeface="Times New Roman" panose="02020603050405020304" pitchFamily="18" charset="0"/>
                <a:cs typeface="Times New Roman" panose="02020603050405020304" pitchFamily="18" charset="0"/>
              </a:rPr>
              <a:t>The wording of the questions,</a:t>
            </a:r>
          </a:p>
          <a:p>
            <a:pPr marL="0" lvl="0" indent="0">
              <a:buNone/>
            </a:pPr>
            <a:r>
              <a:rPr lang="en-US" sz="1800" dirty="0">
                <a:latin typeface="Times New Roman" panose="02020603050405020304" pitchFamily="18" charset="0"/>
                <a:cs typeface="Times New Roman" panose="02020603050405020304" pitchFamily="18" charset="0"/>
              </a:rPr>
              <a:t>    and the response structure (single-choice, grid, select-all, etc.).</a:t>
            </a:r>
          </a:p>
          <a:p>
            <a:r>
              <a:rPr lang="en-US" sz="1800" dirty="0">
                <a:latin typeface="Times New Roman" panose="02020603050405020304" pitchFamily="18" charset="0"/>
                <a:cs typeface="Times New Roman" panose="02020603050405020304" pitchFamily="18" charset="0"/>
              </a:rPr>
              <a:t>This helped identify concept-level matches to ARISE variables.</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E66857E-4F8D-0975-8168-37483E617B45}"/>
              </a:ext>
            </a:extLst>
          </p:cNvPr>
          <p:cNvSpPr>
            <a:spLocks noGrp="1"/>
          </p:cNvSpPr>
          <p:nvPr>
            <p:ph sz="half" idx="2"/>
          </p:nvPr>
        </p:nvSpPr>
        <p:spPr>
          <a:xfrm>
            <a:off x="6019800" y="1538868"/>
            <a:ext cx="5334000" cy="4638095"/>
          </a:xfrm>
        </p:spPr>
        <p:txBody>
          <a:bodyPr>
            <a:noAutofit/>
          </a:bodyPr>
          <a:lstStyle/>
          <a:p>
            <a:pPr marL="0" indent="0">
              <a:buNone/>
            </a:pPr>
            <a:r>
              <a:rPr lang="en-US" sz="1800" b="1" u="sng" dirty="0">
                <a:latin typeface="Times New Roman" panose="02020603050405020304" pitchFamily="18" charset="0"/>
                <a:cs typeface="Times New Roman" panose="02020603050405020304" pitchFamily="18" charset="0"/>
              </a:rPr>
              <a:t>Step 3: Review </a:t>
            </a:r>
            <a:r>
              <a:rPr lang="en-US" sz="1800" b="1" u="sng" dirty="0" err="1">
                <a:latin typeface="Times New Roman" panose="02020603050405020304" pitchFamily="18" charset="0"/>
                <a:cs typeface="Times New Roman" panose="02020603050405020304" pitchFamily="18" charset="0"/>
              </a:rPr>
              <a:t>CivicPulse</a:t>
            </a:r>
            <a:r>
              <a:rPr lang="en-US" sz="1800" b="1" u="sng" dirty="0">
                <a:latin typeface="Times New Roman" panose="02020603050405020304" pitchFamily="18" charset="0"/>
                <a:cs typeface="Times New Roman" panose="02020603050405020304" pitchFamily="18" charset="0"/>
              </a:rPr>
              <a:t> codebook</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a:t>
            </a:r>
            <a:r>
              <a:rPr lang="en-US" sz="1800" dirty="0" err="1">
                <a:latin typeface="Times New Roman" panose="02020603050405020304" pitchFamily="18" charset="0"/>
                <a:cs typeface="Times New Roman" panose="02020603050405020304" pitchFamily="18" charset="0"/>
              </a:rPr>
              <a:t>CivicPulse</a:t>
            </a:r>
            <a:r>
              <a:rPr lang="en-US" sz="1800" dirty="0">
                <a:latin typeface="Times New Roman" panose="02020603050405020304" pitchFamily="18" charset="0"/>
                <a:cs typeface="Times New Roman" panose="02020603050405020304" pitchFamily="18" charset="0"/>
              </a:rPr>
              <a:t> codebook was used to confirm:</a:t>
            </a:r>
          </a:p>
          <a:p>
            <a:pPr lvl="0"/>
            <a:r>
              <a:rPr lang="en-US" sz="1800" dirty="0">
                <a:latin typeface="Times New Roman" panose="02020603050405020304" pitchFamily="18" charset="0"/>
                <a:cs typeface="Times New Roman" panose="02020603050405020304" pitchFamily="18" charset="0"/>
              </a:rPr>
              <a:t>Exact variable names from the questionnaire concepts,</a:t>
            </a:r>
          </a:p>
          <a:p>
            <a:pPr lvl="0"/>
            <a:r>
              <a:rPr lang="en-US" sz="1800" dirty="0">
                <a:latin typeface="Times New Roman" panose="02020603050405020304" pitchFamily="18" charset="0"/>
                <a:cs typeface="Times New Roman" panose="02020603050405020304" pitchFamily="18" charset="0"/>
              </a:rPr>
              <a:t>Field-level labels and descriptions,</a:t>
            </a:r>
          </a:p>
          <a:p>
            <a:pPr marL="0" lvl="0" indent="0">
              <a:buNone/>
            </a:pPr>
            <a:r>
              <a:rPr lang="en-US" sz="1800" dirty="0">
                <a:latin typeface="Times New Roman" panose="02020603050405020304" pitchFamily="18" charset="0"/>
                <a:cs typeface="Times New Roman" panose="02020603050405020304" pitchFamily="18" charset="0"/>
              </a:rPr>
              <a:t>     and coding structures needed for the crosswalk.</a:t>
            </a:r>
          </a:p>
          <a:p>
            <a:r>
              <a:rPr lang="en-US" sz="1800" dirty="0">
                <a:latin typeface="Times New Roman" panose="02020603050405020304" pitchFamily="18" charset="0"/>
                <a:cs typeface="Times New Roman" panose="02020603050405020304" pitchFamily="18" charset="0"/>
              </a:rPr>
              <a:t>This helped establish the </a:t>
            </a:r>
            <a:r>
              <a:rPr lang="en-US" sz="1800" dirty="0" err="1">
                <a:latin typeface="Times New Roman" panose="02020603050405020304" pitchFamily="18" charset="0"/>
                <a:cs typeface="Times New Roman" panose="02020603050405020304" pitchFamily="18" charset="0"/>
              </a:rPr>
              <a:t>CivicPulse</a:t>
            </a:r>
            <a:r>
              <a:rPr lang="en-US" sz="1800" dirty="0">
                <a:latin typeface="Times New Roman" panose="02020603050405020304" pitchFamily="18" charset="0"/>
                <a:cs typeface="Times New Roman" panose="02020603050405020304" pitchFamily="18" charset="0"/>
              </a:rPr>
              <a:t> side of the crosswalk.</a:t>
            </a:r>
          </a:p>
          <a:p>
            <a:pPr marL="0" indent="0">
              <a:buNone/>
            </a:pPr>
            <a:r>
              <a:rPr lang="en-US" sz="1800" b="1" u="sng" dirty="0">
                <a:latin typeface="Times New Roman" panose="02020603050405020304" pitchFamily="18" charset="0"/>
                <a:cs typeface="Times New Roman" panose="02020603050405020304" pitchFamily="18" charset="0"/>
              </a:rPr>
              <a:t>Step 4: Verify variables in ARISE dataset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ARISE dataset CSV was checked to ensure:</a:t>
            </a:r>
          </a:p>
          <a:p>
            <a:pPr lvl="0"/>
            <a:r>
              <a:rPr lang="en-US" sz="1800" dirty="0">
                <a:latin typeface="Times New Roman" panose="02020603050405020304" pitchFamily="18" charset="0"/>
                <a:cs typeface="Times New Roman" panose="02020603050405020304" pitchFamily="18" charset="0"/>
              </a:rPr>
              <a:t>The variables listed in the ARISE codebook are present,</a:t>
            </a:r>
          </a:p>
          <a:p>
            <a:pPr lvl="0"/>
            <a:r>
              <a:rPr lang="en-US" sz="1800" dirty="0">
                <a:latin typeface="Times New Roman" panose="02020603050405020304" pitchFamily="18" charset="0"/>
                <a:cs typeface="Times New Roman" panose="02020603050405020304" pitchFamily="18" charset="0"/>
              </a:rPr>
              <a:t>Coding appears as expected,</a:t>
            </a:r>
          </a:p>
          <a:p>
            <a:pPr marL="0" lvl="0" indent="0">
              <a:buNone/>
            </a:pPr>
            <a:r>
              <a:rPr lang="en-US" sz="1800" dirty="0">
                <a:latin typeface="Times New Roman" panose="02020603050405020304" pitchFamily="18" charset="0"/>
                <a:cs typeface="Times New Roman" panose="02020603050405020304" pitchFamily="18" charset="0"/>
              </a:rPr>
              <a:t>     and the columns are usable for harmonization later.</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7483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E6711-B0C7-C210-C8A2-4E4212F44911}"/>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Crosswalk Creation Process</a:t>
            </a:r>
          </a:p>
        </p:txBody>
      </p:sp>
      <p:sp>
        <p:nvSpPr>
          <p:cNvPr id="3" name="Content Placeholder 2">
            <a:extLst>
              <a:ext uri="{FF2B5EF4-FFF2-40B4-BE49-F238E27FC236}">
                <a16:creationId xmlns:a16="http://schemas.microsoft.com/office/drawing/2014/main" id="{BEBAACDE-48F8-5436-56DD-DE4BA4823285}"/>
              </a:ext>
            </a:extLst>
          </p:cNvPr>
          <p:cNvSpPr>
            <a:spLocks noGrp="1"/>
          </p:cNvSpPr>
          <p:nvPr>
            <p:ph idx="1"/>
          </p:nvPr>
        </p:nvSpPr>
        <p:spPr>
          <a:xfrm>
            <a:off x="381965" y="1469985"/>
            <a:ext cx="10979455" cy="4884515"/>
          </a:xfrm>
        </p:spPr>
        <p:txBody>
          <a:bodyPr>
            <a:noAutofit/>
          </a:bodyPr>
          <a:lstStyle/>
          <a:p>
            <a:pPr marL="0" indent="0">
              <a:buNone/>
            </a:pPr>
            <a:r>
              <a:rPr lang="en-US" sz="2000" b="1" u="sng" dirty="0">
                <a:latin typeface="Times New Roman" panose="02020603050405020304" pitchFamily="18" charset="0"/>
                <a:cs typeface="Times New Roman" panose="02020603050405020304" pitchFamily="18" charset="0"/>
              </a:rPr>
              <a:t>Step 5: Create crosswalk rows</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For each comparable concept, a row was added to the crosswalk with:</a:t>
            </a:r>
          </a:p>
          <a:p>
            <a:pPr lvl="0"/>
            <a:r>
              <a:rPr lang="en-US" sz="2000" dirty="0">
                <a:latin typeface="Times New Roman" panose="02020603050405020304" pitchFamily="18" charset="0"/>
                <a:cs typeface="Times New Roman" panose="02020603050405020304" pitchFamily="18" charset="0"/>
              </a:rPr>
              <a:t>Harmonized variable name,</a:t>
            </a:r>
          </a:p>
          <a:p>
            <a:pPr lvl="0"/>
            <a:r>
              <a:rPr lang="en-US" sz="2000" dirty="0">
                <a:latin typeface="Times New Roman" panose="02020603050405020304" pitchFamily="18" charset="0"/>
                <a:cs typeface="Times New Roman" panose="02020603050405020304" pitchFamily="18" charset="0"/>
              </a:rPr>
              <a:t>ARISE and </a:t>
            </a:r>
            <a:r>
              <a:rPr lang="en-US" sz="2000" dirty="0" err="1">
                <a:latin typeface="Times New Roman" panose="02020603050405020304" pitchFamily="18" charset="0"/>
                <a:cs typeface="Times New Roman" panose="02020603050405020304" pitchFamily="18" charset="0"/>
              </a:rPr>
              <a:t>CivicPulse</a:t>
            </a:r>
            <a:r>
              <a:rPr lang="en-US" sz="2000" dirty="0">
                <a:latin typeface="Times New Roman" panose="02020603050405020304" pitchFamily="18" charset="0"/>
                <a:cs typeface="Times New Roman" panose="02020603050405020304" pitchFamily="18" charset="0"/>
              </a:rPr>
              <a:t> variable details,</a:t>
            </a:r>
          </a:p>
          <a:p>
            <a:pPr lvl="0"/>
            <a:r>
              <a:rPr lang="en-US" sz="2000" dirty="0">
                <a:latin typeface="Times New Roman" panose="02020603050405020304" pitchFamily="18" charset="0"/>
                <a:cs typeface="Times New Roman" panose="02020603050405020304" pitchFamily="18" charset="0"/>
              </a:rPr>
              <a:t>Match type,</a:t>
            </a:r>
          </a:p>
          <a:p>
            <a:pPr lvl="0"/>
            <a:r>
              <a:rPr lang="en-US" sz="2000" dirty="0">
                <a:latin typeface="Times New Roman" panose="02020603050405020304" pitchFamily="18" charset="0"/>
                <a:cs typeface="Times New Roman" panose="02020603050405020304" pitchFamily="18" charset="0"/>
              </a:rPr>
              <a:t>Harmonization rule,</a:t>
            </a:r>
          </a:p>
          <a:p>
            <a:pPr lvl="0"/>
            <a:r>
              <a:rPr lang="en-US" sz="2000" dirty="0">
                <a:latin typeface="Times New Roman" panose="02020603050405020304" pitchFamily="18" charset="0"/>
                <a:cs typeface="Times New Roman" panose="02020603050405020304" pitchFamily="18" charset="0"/>
              </a:rPr>
              <a:t>Output </a:t>
            </a:r>
            <a:r>
              <a:rPr lang="en-US" sz="2000" dirty="0" err="1">
                <a:latin typeface="Times New Roman" panose="02020603050405020304" pitchFamily="18" charset="0"/>
                <a:cs typeface="Times New Roman" panose="02020603050405020304" pitchFamily="18" charset="0"/>
              </a:rPr>
              <a:t>scale,and</a:t>
            </a:r>
            <a:r>
              <a:rPr lang="en-US" sz="2000" dirty="0">
                <a:latin typeface="Times New Roman" panose="02020603050405020304" pitchFamily="18" charset="0"/>
                <a:cs typeface="Times New Roman" panose="02020603050405020304" pitchFamily="18" charset="0"/>
              </a:rPr>
              <a:t> missing value rule.</a:t>
            </a:r>
          </a:p>
          <a:p>
            <a:pPr marL="0" indent="0">
              <a:buNone/>
            </a:pPr>
            <a:r>
              <a:rPr lang="en-US" sz="2000" b="1" u="sng" dirty="0">
                <a:latin typeface="Times New Roman" panose="02020603050405020304" pitchFamily="18" charset="0"/>
                <a:cs typeface="Times New Roman" panose="02020603050405020304" pitchFamily="18" charset="0"/>
              </a:rPr>
              <a:t>Step 6: Document uncertainty and partial matches</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Not all variables match exactly. For these cases, the crosswalk includes:</a:t>
            </a:r>
          </a:p>
          <a:p>
            <a:pPr lvl="0"/>
            <a:r>
              <a:rPr lang="en-US" sz="2000" dirty="0" err="1">
                <a:latin typeface="Times New Roman" panose="02020603050405020304" pitchFamily="18" charset="0"/>
                <a:cs typeface="Times New Roman" panose="02020603050405020304" pitchFamily="18" charset="0"/>
              </a:rPr>
              <a:t>Match_Type</a:t>
            </a:r>
            <a:r>
              <a:rPr lang="en-US" sz="2000" dirty="0">
                <a:latin typeface="Times New Roman" panose="02020603050405020304" pitchFamily="18" charset="0"/>
                <a:cs typeface="Times New Roman" panose="02020603050405020304" pitchFamily="18" charset="0"/>
              </a:rPr>
              <a:t> labels (Exact / Partial / Derived / No match),</a:t>
            </a:r>
          </a:p>
          <a:p>
            <a:pPr lvl="0"/>
            <a:r>
              <a:rPr lang="en-US" sz="2000" dirty="0">
                <a:latin typeface="Times New Roman" panose="02020603050405020304" pitchFamily="18" charset="0"/>
                <a:cs typeface="Times New Roman" panose="02020603050405020304" pitchFamily="18" charset="0"/>
              </a:rPr>
              <a:t>Notes on wording differences,</a:t>
            </a:r>
          </a:p>
          <a:p>
            <a:pPr lvl="0"/>
            <a:r>
              <a:rPr lang="en-US" sz="2000" dirty="0">
                <a:latin typeface="Times New Roman" panose="02020603050405020304" pitchFamily="18" charset="0"/>
                <a:cs typeface="Times New Roman" panose="02020603050405020304" pitchFamily="18" charset="0"/>
              </a:rPr>
              <a:t>and recoding plans for later implementation.</a:t>
            </a:r>
          </a:p>
          <a:p>
            <a:r>
              <a:rPr lang="en-US" sz="2000" dirty="0">
                <a:latin typeface="Times New Roman" panose="02020603050405020304" pitchFamily="18" charset="0"/>
                <a:cs typeface="Times New Roman" panose="02020603050405020304" pitchFamily="18" charset="0"/>
              </a:rPr>
              <a:t>This is important for maintaining transparency and avoiding incorrect assumptions.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8854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C0E6-0F48-BB3F-B281-11193E3B4A09}"/>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Crosswalk Table Structure</a:t>
            </a:r>
          </a:p>
        </p:txBody>
      </p:sp>
      <p:sp>
        <p:nvSpPr>
          <p:cNvPr id="3" name="Content Placeholder 2">
            <a:extLst>
              <a:ext uri="{FF2B5EF4-FFF2-40B4-BE49-F238E27FC236}">
                <a16:creationId xmlns:a16="http://schemas.microsoft.com/office/drawing/2014/main" id="{1085CE15-4312-357A-2A30-6096200ACA2B}"/>
              </a:ext>
            </a:extLst>
          </p:cNvPr>
          <p:cNvSpPr>
            <a:spLocks noGrp="1"/>
          </p:cNvSpPr>
          <p:nvPr>
            <p:ph idx="1"/>
          </p:nvPr>
        </p:nvSpPr>
        <p:spPr>
          <a:xfrm>
            <a:off x="243068" y="1342663"/>
            <a:ext cx="11110731" cy="5116010"/>
          </a:xfrm>
        </p:spPr>
        <p:txBody>
          <a:bodyPr>
            <a:noAutofit/>
          </a:bodyPr>
          <a:lstStyle/>
          <a:p>
            <a:pPr marL="0" indent="0">
              <a:buNone/>
            </a:pPr>
            <a:r>
              <a:rPr lang="en-US" sz="1400" b="1" dirty="0">
                <a:latin typeface="Times New Roman" panose="02020603050405020304" pitchFamily="18" charset="0"/>
                <a:cs typeface="Times New Roman" panose="02020603050405020304" pitchFamily="18" charset="0"/>
              </a:rPr>
              <a:t>Each crosswalk row contains</a:t>
            </a:r>
          </a:p>
          <a:p>
            <a:r>
              <a:rPr lang="en-US" sz="1400" dirty="0" err="1">
                <a:latin typeface="Times New Roman" panose="02020603050405020304" pitchFamily="18" charset="0"/>
                <a:cs typeface="Times New Roman" panose="02020603050405020304" pitchFamily="18" charset="0"/>
              </a:rPr>
              <a:t>Concept_Domain</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Harmonized_Variable_Name</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ARISE_Question_ID</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ARISE_Variable_Name</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ARISE_Question_Text_Short</a:t>
            </a:r>
          </a:p>
          <a:p>
            <a:r>
              <a:rPr lang="en-US" sz="1400" dirty="0" err="1">
                <a:latin typeface="Times New Roman" panose="02020603050405020304" pitchFamily="18" charset="0"/>
                <a:cs typeface="Times New Roman" panose="02020603050405020304" pitchFamily="18" charset="0"/>
              </a:rPr>
              <a:t>ARISE_Response_Coding</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CivicPulse_Question_Block</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CivicPulse_Variable_Name</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CivicPulse_Question_Text_Short</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CivicPulse_Response_Coding</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Match_Type</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Harmonization_Rule</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Output_Scale</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Missing_Value_Rule</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Notes</a:t>
            </a:r>
          </a:p>
          <a:p>
            <a:endParaRPr lang="en-US" sz="1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0B4F87D-F5E5-2AFC-D65A-646AF85690A3}"/>
              </a:ext>
            </a:extLst>
          </p:cNvPr>
          <p:cNvPicPr>
            <a:picLocks noChangeAspect="1"/>
          </p:cNvPicPr>
          <p:nvPr/>
        </p:nvPicPr>
        <p:blipFill>
          <a:blip r:embed="rId2"/>
          <a:stretch>
            <a:fillRect/>
          </a:stretch>
        </p:blipFill>
        <p:spPr>
          <a:xfrm>
            <a:off x="4337824" y="1638740"/>
            <a:ext cx="7415561" cy="4338314"/>
          </a:xfrm>
          <a:prstGeom prst="rect">
            <a:avLst/>
          </a:prstGeom>
        </p:spPr>
      </p:pic>
    </p:spTree>
    <p:extLst>
      <p:ext uri="{BB962C8B-B14F-4D97-AF65-F5344CB8AC3E}">
        <p14:creationId xmlns:p14="http://schemas.microsoft.com/office/powerpoint/2010/main" val="2459702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813EE-82AD-B82C-6FE5-A19DA2846905}"/>
              </a:ext>
            </a:extLst>
          </p:cNvPr>
          <p:cNvSpPr>
            <a:spLocks noGrp="1"/>
          </p:cNvSpPr>
          <p:nvPr>
            <p:ph type="title"/>
          </p:nvPr>
        </p:nvSpPr>
        <p:spPr>
          <a:xfrm>
            <a:off x="2857500" y="301752"/>
            <a:ext cx="8503920" cy="960120"/>
          </a:xfrm>
        </p:spPr>
        <p:txBody>
          <a:bodyPr anchor="ctr">
            <a:noAutofit/>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Match Types in the Crosswalk</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94E226-596F-F86A-5A39-8220D75A7C29}"/>
              </a:ext>
            </a:extLst>
          </p:cNvPr>
          <p:cNvSpPr>
            <a:spLocks noGrp="1"/>
          </p:cNvSpPr>
          <p:nvPr>
            <p:ph sz="half" idx="1"/>
          </p:nvPr>
        </p:nvSpPr>
        <p:spPr>
          <a:xfrm>
            <a:off x="838200" y="1825625"/>
            <a:ext cx="5181600" cy="4351338"/>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We classified each row using a match type:</a:t>
            </a:r>
          </a:p>
          <a:p>
            <a:r>
              <a:rPr lang="en-US" sz="1800" b="1" dirty="0">
                <a:latin typeface="Times New Roman" panose="02020603050405020304" pitchFamily="18" charset="0"/>
                <a:cs typeface="Times New Roman" panose="02020603050405020304" pitchFamily="18" charset="0"/>
              </a:rPr>
              <a:t>Exact</a:t>
            </a:r>
            <a:r>
              <a:rPr lang="en-US" sz="1800" dirty="0">
                <a:latin typeface="Times New Roman" panose="02020603050405020304" pitchFamily="18" charset="0"/>
                <a:cs typeface="Times New Roman" panose="02020603050405020304" pitchFamily="18" charset="0"/>
              </a:rPr>
              <a:t> → same concept and same/very similar scale</a:t>
            </a:r>
          </a:p>
          <a:p>
            <a:r>
              <a:rPr lang="en-US" sz="1800" b="1" dirty="0">
                <a:latin typeface="Times New Roman" panose="02020603050405020304" pitchFamily="18" charset="0"/>
                <a:cs typeface="Times New Roman" panose="02020603050405020304" pitchFamily="18" charset="0"/>
              </a:rPr>
              <a:t>Partial</a:t>
            </a:r>
            <a:r>
              <a:rPr lang="en-US" sz="1800" dirty="0">
                <a:latin typeface="Times New Roman" panose="02020603050405020304" pitchFamily="18" charset="0"/>
                <a:cs typeface="Times New Roman" panose="02020603050405020304" pitchFamily="18" charset="0"/>
              </a:rPr>
              <a:t> → same concept but wording or coding differs</a:t>
            </a:r>
          </a:p>
          <a:p>
            <a:r>
              <a:rPr lang="en-US" sz="1800" b="1" dirty="0">
                <a:latin typeface="Times New Roman" panose="02020603050405020304" pitchFamily="18" charset="0"/>
                <a:cs typeface="Times New Roman" panose="02020603050405020304" pitchFamily="18" charset="0"/>
              </a:rPr>
              <a:t>Weak partial</a:t>
            </a:r>
            <a:r>
              <a:rPr lang="en-US" sz="1800" dirty="0">
                <a:latin typeface="Times New Roman" panose="02020603050405020304" pitchFamily="18" charset="0"/>
                <a:cs typeface="Times New Roman" panose="02020603050405020304" pitchFamily="18" charset="0"/>
              </a:rPr>
              <a:t> → related idea, but not directly equivalent</a:t>
            </a:r>
          </a:p>
          <a:p>
            <a:r>
              <a:rPr lang="en-US" sz="1800" b="1" dirty="0">
                <a:latin typeface="Times New Roman" panose="02020603050405020304" pitchFamily="18" charset="0"/>
                <a:cs typeface="Times New Roman" panose="02020603050405020304" pitchFamily="18" charset="0"/>
              </a:rPr>
              <a:t>Derived</a:t>
            </a:r>
            <a:r>
              <a:rPr lang="en-US" sz="1800" dirty="0">
                <a:latin typeface="Times New Roman" panose="02020603050405020304" pitchFamily="18" charset="0"/>
                <a:cs typeface="Times New Roman" panose="02020603050405020304" pitchFamily="18" charset="0"/>
              </a:rPr>
              <a:t> → requires recoding or aggregation</a:t>
            </a:r>
          </a:p>
          <a:p>
            <a:r>
              <a:rPr lang="en-US" sz="1800" b="1" dirty="0">
                <a:latin typeface="Times New Roman" panose="02020603050405020304" pitchFamily="18" charset="0"/>
                <a:cs typeface="Times New Roman" panose="02020603050405020304" pitchFamily="18" charset="0"/>
              </a:rPr>
              <a:t>No match</a:t>
            </a:r>
            <a:r>
              <a:rPr lang="en-US" sz="1800" dirty="0">
                <a:latin typeface="Times New Roman" panose="02020603050405020304" pitchFamily="18" charset="0"/>
                <a:cs typeface="Times New Roman" panose="02020603050405020304" pitchFamily="18" charset="0"/>
              </a:rPr>
              <a:t> → variable exists only in one source</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Why this matters:</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This prevents us from forcing weak matches into exact comparisons and keeps the crosswalk methodologically honest.</a:t>
            </a:r>
          </a:p>
          <a:p>
            <a:endParaRPr lang="en-US" sz="1800" dirty="0">
              <a:latin typeface="Times New Roman" panose="02020603050405020304" pitchFamily="18" charset="0"/>
              <a:cs typeface="Times New Roman" panose="02020603050405020304" pitchFamily="18" charset="0"/>
            </a:endParaRPr>
          </a:p>
        </p:txBody>
      </p:sp>
      <p:pic>
        <p:nvPicPr>
          <p:cNvPr id="4" name="Picture 3" descr="A screenshot of a computer&#10;&#10;AI-generated content may be incorrect.">
            <a:extLst>
              <a:ext uri="{FF2B5EF4-FFF2-40B4-BE49-F238E27FC236}">
                <a16:creationId xmlns:a16="http://schemas.microsoft.com/office/drawing/2014/main" id="{93E922F9-9941-CD07-442F-C76374BBD75C}"/>
              </a:ext>
            </a:extLst>
          </p:cNvPr>
          <p:cNvPicPr>
            <a:picLocks noChangeAspect="1"/>
          </p:cNvPicPr>
          <p:nvPr/>
        </p:nvPicPr>
        <p:blipFill>
          <a:blip r:embed="rId2"/>
          <a:srcRect t="16140" r="-1" b="16048"/>
          <a:stretch>
            <a:fillRect/>
          </a:stretch>
        </p:blipFill>
        <p:spPr>
          <a:xfrm>
            <a:off x="6172200" y="1825625"/>
            <a:ext cx="5181600" cy="4351338"/>
          </a:xfrm>
          <a:prstGeom prst="rect">
            <a:avLst/>
          </a:prstGeom>
          <a:noFill/>
        </p:spPr>
      </p:pic>
    </p:spTree>
    <p:extLst>
      <p:ext uri="{BB962C8B-B14F-4D97-AF65-F5344CB8AC3E}">
        <p14:creationId xmlns:p14="http://schemas.microsoft.com/office/powerpoint/2010/main" val="4075838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35241-BE9A-5606-452D-58D0888A4580}"/>
              </a:ext>
            </a:extLst>
          </p:cNvPr>
          <p:cNvSpPr>
            <a:spLocks noGrp="1"/>
          </p:cNvSpPr>
          <p:nvPr>
            <p:ph type="title"/>
          </p:nvPr>
        </p:nvSpPr>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Crosswalk Example: Exact Match</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A175602-5E54-86B6-187F-D0B43F856816}"/>
              </a:ext>
            </a:extLst>
          </p:cNvPr>
          <p:cNvSpPr>
            <a:spLocks noGrp="1"/>
          </p:cNvSpPr>
          <p:nvPr>
            <p:ph idx="1"/>
          </p:nvPr>
        </p:nvSpPr>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Example 1: Fiscal Condition (Strong Match)</a:t>
            </a:r>
            <a:br>
              <a:rPr lang="en-US" sz="18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Both surveys include a question about the local government’s overall fiscal condition over a recent time period. This is a strong harmonization candidate because</a:t>
            </a:r>
          </a:p>
          <a:p>
            <a:pPr lvl="0"/>
            <a:r>
              <a:rPr lang="en-US" sz="1800" dirty="0">
                <a:latin typeface="Times New Roman" panose="02020603050405020304" pitchFamily="18" charset="0"/>
                <a:cs typeface="Times New Roman" panose="02020603050405020304" pitchFamily="18" charset="0"/>
              </a:rPr>
              <a:t>the concept is the same,</a:t>
            </a:r>
          </a:p>
          <a:p>
            <a:pPr lvl="0"/>
            <a:r>
              <a:rPr lang="en-US" sz="1800" dirty="0">
                <a:latin typeface="Times New Roman" panose="02020603050405020304" pitchFamily="18" charset="0"/>
                <a:cs typeface="Times New Roman" panose="02020603050405020304" pitchFamily="18" charset="0"/>
              </a:rPr>
              <a:t>the response scale is ordinal,</a:t>
            </a:r>
          </a:p>
          <a:p>
            <a:pPr lvl="0"/>
            <a:r>
              <a:rPr lang="en-US" sz="1800" dirty="0">
                <a:latin typeface="Times New Roman" panose="02020603050405020304" pitchFamily="18" charset="0"/>
                <a:cs typeface="Times New Roman" panose="02020603050405020304" pitchFamily="18" charset="0"/>
              </a:rPr>
              <a:t>and the wording is very similar.</a:t>
            </a:r>
          </a:p>
          <a:p>
            <a:pPr marL="0" indent="0">
              <a:buNone/>
            </a:pPr>
            <a:r>
              <a:rPr lang="en-US" sz="1800" b="1" dirty="0">
                <a:latin typeface="Times New Roman" panose="02020603050405020304" pitchFamily="18" charset="0"/>
                <a:cs typeface="Times New Roman" panose="02020603050405020304" pitchFamily="18" charset="0"/>
              </a:rPr>
              <a:t>Crosswalk result:</a:t>
            </a:r>
            <a:endParaRPr lang="en-US" sz="1800" dirty="0">
              <a:latin typeface="Times New Roman" panose="02020603050405020304" pitchFamily="18" charset="0"/>
              <a:cs typeface="Times New Roman" panose="02020603050405020304" pitchFamily="18" charset="0"/>
            </a:endParaRPr>
          </a:p>
          <a:p>
            <a:pPr lvl="0"/>
            <a:r>
              <a:rPr lang="en-US" sz="1800" dirty="0" err="1">
                <a:latin typeface="Times New Roman" panose="02020603050405020304" pitchFamily="18" charset="0"/>
                <a:cs typeface="Times New Roman" panose="02020603050405020304" pitchFamily="18" charset="0"/>
              </a:rPr>
              <a:t>Match_Type</a:t>
            </a:r>
            <a:r>
              <a:rPr lang="en-US" sz="1800" dirty="0">
                <a:latin typeface="Times New Roman" panose="02020603050405020304" pitchFamily="18" charset="0"/>
                <a:cs typeface="Times New Roman" panose="02020603050405020304" pitchFamily="18" charset="0"/>
              </a:rPr>
              <a:t>: Exact (or near exact)</a:t>
            </a:r>
          </a:p>
          <a:p>
            <a:pPr lvl="0"/>
            <a:r>
              <a:rPr lang="en-US" sz="1800" dirty="0" err="1">
                <a:latin typeface="Times New Roman" panose="02020603050405020304" pitchFamily="18" charset="0"/>
                <a:cs typeface="Times New Roman" panose="02020603050405020304" pitchFamily="18" charset="0"/>
              </a:rPr>
              <a:t>Output_Scale</a:t>
            </a:r>
            <a:r>
              <a:rPr lang="en-US" sz="1800" dirty="0">
                <a:latin typeface="Times New Roman" panose="02020603050405020304" pitchFamily="18" charset="0"/>
                <a:cs typeface="Times New Roman" panose="02020603050405020304" pitchFamily="18" charset="0"/>
              </a:rPr>
              <a:t>: Ordinal (1–5)</a:t>
            </a:r>
          </a:p>
          <a:p>
            <a:pPr lvl="0"/>
            <a:r>
              <a:rPr lang="en-US" sz="1800" dirty="0" err="1">
                <a:latin typeface="Times New Roman" panose="02020603050405020304" pitchFamily="18" charset="0"/>
                <a:cs typeface="Times New Roman" panose="02020603050405020304" pitchFamily="18" charset="0"/>
              </a:rPr>
              <a:t>Harmonization_Rule</a:t>
            </a:r>
            <a:r>
              <a:rPr lang="en-US" sz="1800" dirty="0">
                <a:latin typeface="Times New Roman" panose="02020603050405020304" pitchFamily="18" charset="0"/>
                <a:cs typeface="Times New Roman" panose="02020603050405020304" pitchFamily="18" charset="0"/>
              </a:rPr>
              <a:t>: Direct harmonized mapping to common 1–5 scale</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3871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372E-6AE4-958F-3992-B682D312049C}"/>
              </a:ext>
            </a:extLst>
          </p:cNvPr>
          <p:cNvSpPr>
            <a:spLocks noGrp="1"/>
          </p:cNvSpPr>
          <p:nvPr>
            <p:ph type="title"/>
          </p:nvPr>
        </p:nvSpPr>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Crosswalk Example: Partial Match</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530B99-FF55-D9D1-F298-6869B146E94C}"/>
              </a:ext>
            </a:extLst>
          </p:cNvPr>
          <p:cNvSpPr>
            <a:spLocks noGrp="1"/>
          </p:cNvSpPr>
          <p:nvPr>
            <p:ph idx="1"/>
          </p:nvPr>
        </p:nvSpPr>
        <p:spPr>
          <a:xfrm>
            <a:off x="555585" y="1562582"/>
            <a:ext cx="10798215" cy="4614381"/>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Example 2: Service Availability (</a:t>
            </a:r>
            <a:r>
              <a:rPr lang="en-US" sz="1800" b="1" dirty="0" err="1">
                <a:latin typeface="Times New Roman" panose="02020603050405020304" pitchFamily="18" charset="0"/>
                <a:cs typeface="Times New Roman" panose="02020603050405020304" pitchFamily="18" charset="0"/>
              </a:rPr>
              <a:t>service_early_warning_available</a:t>
            </a:r>
            <a:r>
              <a:rPr lang="en-US" sz="1800" b="1" dirty="0">
                <a:latin typeface="Times New Roman" panose="02020603050405020304" pitchFamily="18" charset="0"/>
                <a:cs typeface="Times New Roman" panose="02020603050405020304" pitchFamily="18" charset="0"/>
              </a:rPr>
              <a:t>)</a:t>
            </a:r>
          </a:p>
          <a:p>
            <a:r>
              <a:rPr lang="en-US" sz="1800" b="1" dirty="0">
                <a:latin typeface="Times New Roman" panose="02020603050405020304" pitchFamily="18" charset="0"/>
                <a:cs typeface="Times New Roman" panose="02020603050405020304" pitchFamily="18" charset="0"/>
              </a:rPr>
              <a:t>ARISE:</a:t>
            </a:r>
            <a:r>
              <a:rPr lang="en-US" sz="1800" dirty="0">
                <a:latin typeface="Times New Roman" panose="02020603050405020304" pitchFamily="18" charset="0"/>
                <a:cs typeface="Times New Roman" panose="02020603050405020304" pitchFamily="18" charset="0"/>
              </a:rPr>
              <a:t> stores whether the service is present as a </a:t>
            </a:r>
            <a:r>
              <a:rPr lang="en-US" sz="1800" b="1" dirty="0">
                <a:latin typeface="Times New Roman" panose="02020603050405020304" pitchFamily="18" charset="0"/>
                <a:cs typeface="Times New Roman" panose="02020603050405020304" pitchFamily="18" charset="0"/>
              </a:rPr>
              <a:t>binary selected/not selected</a:t>
            </a:r>
            <a:r>
              <a:rPr lang="en-US" sz="1800" dirty="0">
                <a:latin typeface="Times New Roman" panose="02020603050405020304" pitchFamily="18" charset="0"/>
                <a:cs typeface="Times New Roman" panose="02020603050405020304" pitchFamily="18" charset="0"/>
              </a:rPr>
              <a:t> variable</a:t>
            </a:r>
          </a:p>
          <a:p>
            <a:r>
              <a:rPr lang="en-US" sz="1800" b="1" dirty="0" err="1">
                <a:latin typeface="Times New Roman" panose="02020603050405020304" pitchFamily="18" charset="0"/>
                <a:cs typeface="Times New Roman" panose="02020603050405020304" pitchFamily="18" charset="0"/>
              </a:rPr>
              <a:t>CivicPulse</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stores the same concept through </a:t>
            </a:r>
            <a:r>
              <a:rPr lang="en-US" sz="1800" b="1" dirty="0">
                <a:latin typeface="Times New Roman" panose="02020603050405020304" pitchFamily="18" charset="0"/>
                <a:cs typeface="Times New Roman" panose="02020603050405020304" pitchFamily="18" charset="0"/>
              </a:rPr>
              <a:t>provider information</a:t>
            </a:r>
            <a:r>
              <a:rPr lang="en-US" sz="1800" dirty="0">
                <a:latin typeface="Times New Roman" panose="02020603050405020304" pitchFamily="18" charset="0"/>
                <a:cs typeface="Times New Roman" panose="02020603050405020304" pitchFamily="18" charset="0"/>
              </a:rPr>
              <a:t> in </a:t>
            </a:r>
            <a:r>
              <a:rPr lang="en-US" sz="1800" dirty="0" err="1">
                <a:latin typeface="Times New Roman" panose="02020603050405020304" pitchFamily="18" charset="0"/>
                <a:cs typeface="Times New Roman" panose="02020603050405020304" pitchFamily="18" charset="0"/>
              </a:rPr>
              <a:t>Services_GR_early</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This means the concept is similar, but the raw format is different</a:t>
            </a:r>
          </a:p>
          <a:p>
            <a:pPr marL="0" indent="0">
              <a:buNone/>
            </a:pPr>
            <a:r>
              <a:rPr lang="en-US" sz="1800" b="1" dirty="0">
                <a:latin typeface="Times New Roman" panose="02020603050405020304" pitchFamily="18" charset="0"/>
                <a:cs typeface="Times New Roman" panose="02020603050405020304" pitchFamily="18" charset="0"/>
              </a:rPr>
              <a:t>Why this is a partial match</a:t>
            </a:r>
          </a:p>
          <a:p>
            <a:r>
              <a:rPr lang="en-US" sz="1800" dirty="0">
                <a:latin typeface="Times New Roman" panose="02020603050405020304" pitchFamily="18" charset="0"/>
                <a:cs typeface="Times New Roman" panose="02020603050405020304" pitchFamily="18" charset="0"/>
              </a:rPr>
              <a:t>ARISE answers: </a:t>
            </a:r>
            <a:r>
              <a:rPr lang="en-US" sz="1800" b="1" dirty="0">
                <a:latin typeface="Times New Roman" panose="02020603050405020304" pitchFamily="18" charset="0"/>
                <a:cs typeface="Times New Roman" panose="02020603050405020304" pitchFamily="18" charset="0"/>
              </a:rPr>
              <a:t>Does the service exist?</a:t>
            </a:r>
            <a:endParaRPr lang="en-US" sz="1800" dirty="0">
              <a:latin typeface="Times New Roman" panose="02020603050405020304" pitchFamily="18" charset="0"/>
              <a:cs typeface="Times New Roman" panose="02020603050405020304" pitchFamily="18" charset="0"/>
            </a:endParaRPr>
          </a:p>
          <a:p>
            <a:r>
              <a:rPr lang="en-US" sz="1800" dirty="0" err="1">
                <a:latin typeface="Times New Roman" panose="02020603050405020304" pitchFamily="18" charset="0"/>
                <a:cs typeface="Times New Roman" panose="02020603050405020304" pitchFamily="18" charset="0"/>
              </a:rPr>
              <a:t>CivicPulse</a:t>
            </a:r>
            <a:r>
              <a:rPr lang="en-US" sz="1800" dirty="0">
                <a:latin typeface="Times New Roman" panose="02020603050405020304" pitchFamily="18" charset="0"/>
                <a:cs typeface="Times New Roman" panose="02020603050405020304" pitchFamily="18" charset="0"/>
              </a:rPr>
              <a:t> answers: </a:t>
            </a:r>
            <a:r>
              <a:rPr lang="en-US" sz="1800" b="1" dirty="0">
                <a:latin typeface="Times New Roman" panose="02020603050405020304" pitchFamily="18" charset="0"/>
                <a:cs typeface="Times New Roman" panose="02020603050405020304" pitchFamily="18" charset="0"/>
              </a:rPr>
              <a:t>Who provides the service?</a:t>
            </a:r>
            <a:endParaRPr lang="en-US" sz="1800" dirty="0">
              <a:latin typeface="Times New Roman" panose="02020603050405020304" pitchFamily="18" charset="0"/>
              <a:cs typeface="Times New Roman" panose="02020603050405020304" pitchFamily="18" charset="0"/>
            </a:endParaRPr>
          </a:p>
          <a:p>
            <a:r>
              <a:rPr lang="en-US" sz="1800" dirty="0" err="1">
                <a:latin typeface="Times New Roman" panose="02020603050405020304" pitchFamily="18" charset="0"/>
                <a:cs typeface="Times New Roman" panose="02020603050405020304" pitchFamily="18" charset="0"/>
              </a:rPr>
              <a:t>CivicPulse</a:t>
            </a:r>
            <a:r>
              <a:rPr lang="en-US" sz="1800" dirty="0">
                <a:latin typeface="Times New Roman" panose="02020603050405020304" pitchFamily="18" charset="0"/>
                <a:cs typeface="Times New Roman" panose="02020603050405020304" pitchFamily="18" charset="0"/>
              </a:rPr>
              <a:t> has more detail than ARISE</a:t>
            </a:r>
          </a:p>
          <a:p>
            <a:pPr marL="0" indent="0">
              <a:buNone/>
            </a:pPr>
            <a:r>
              <a:rPr lang="en-US" sz="1800" b="1" dirty="0">
                <a:latin typeface="Times New Roman" panose="02020603050405020304" pitchFamily="18" charset="0"/>
                <a:cs typeface="Times New Roman" panose="02020603050405020304" pitchFamily="18" charset="0"/>
              </a:rPr>
              <a:t>Crosswalk decision</a:t>
            </a:r>
          </a:p>
          <a:p>
            <a:r>
              <a:rPr lang="en-US" sz="1800" b="1" dirty="0" err="1">
                <a:latin typeface="Times New Roman" panose="02020603050405020304" pitchFamily="18" charset="0"/>
                <a:cs typeface="Times New Roman" panose="02020603050405020304" pitchFamily="18" charset="0"/>
              </a:rPr>
              <a:t>Match_Type</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Partial</a:t>
            </a:r>
          </a:p>
          <a:p>
            <a:r>
              <a:rPr lang="en-US" sz="1800" b="1" dirty="0" err="1">
                <a:latin typeface="Times New Roman" panose="02020603050405020304" pitchFamily="18" charset="0"/>
                <a:cs typeface="Times New Roman" panose="02020603050405020304" pitchFamily="18" charset="0"/>
              </a:rPr>
              <a:t>Output_Scale</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Binary (0/1)</a:t>
            </a:r>
          </a:p>
          <a:p>
            <a:r>
              <a:rPr lang="en-US" sz="1800" b="1" dirty="0" err="1">
                <a:latin typeface="Times New Roman" panose="02020603050405020304" pitchFamily="18" charset="0"/>
                <a:cs typeface="Times New Roman" panose="02020603050405020304" pitchFamily="18" charset="0"/>
              </a:rPr>
              <a:t>Harmonization_Rule</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any provider code = available, Not provided = not available</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650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361AA-348E-1B5B-22A7-8906B4031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7B481-6D2B-1DF6-D584-303D5499BE7B}"/>
              </a:ext>
            </a:extLst>
          </p:cNvPr>
          <p:cNvSpPr>
            <a:spLocks noGrp="1"/>
          </p:cNvSpPr>
          <p:nvPr>
            <p:ph type="title"/>
          </p:nvPr>
        </p:nvSpPr>
        <p:spPr>
          <a:xfrm>
            <a:off x="2687444" y="714893"/>
            <a:ext cx="8673976" cy="542407"/>
          </a:xfrm>
        </p:spPr>
        <p:txBody>
          <a:bodyPr>
            <a:normAutofit fontScale="90000"/>
          </a:bodyPr>
          <a:lstStyle/>
          <a:p>
            <a:r>
              <a:rPr lang="en-US" b="1" dirty="0">
                <a:latin typeface="Times New Roman" panose="02020603050405020304" pitchFamily="18" charset="0"/>
                <a:cs typeface="Times New Roman" panose="02020603050405020304" pitchFamily="18" charset="0"/>
              </a:rPr>
              <a:t>Challenges Identified During Data Understanding</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E004CC6C-1B01-749E-1837-E7BC07A3E149}"/>
              </a:ext>
            </a:extLst>
          </p:cNvPr>
          <p:cNvGraphicFramePr>
            <a:graphicFrameLocks noGrp="1"/>
          </p:cNvGraphicFramePr>
          <p:nvPr>
            <p:ph idx="1"/>
            <p:extLst>
              <p:ext uri="{D42A27DB-BD31-4B8C-83A1-F6EECF244321}">
                <p14:modId xmlns:p14="http://schemas.microsoft.com/office/powerpoint/2010/main" val="3695513254"/>
              </p:ext>
            </p:extLst>
          </p:nvPr>
        </p:nvGraphicFramePr>
        <p:xfrm>
          <a:off x="229985" y="1704108"/>
          <a:ext cx="11582400" cy="44389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7498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9CEAC-24BD-F635-353B-52BC0CEA2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ABCCD-A0A7-4CAC-DEFB-A7F117BCB61E}"/>
              </a:ext>
            </a:extLst>
          </p:cNvPr>
          <p:cNvSpPr>
            <a:spLocks noGrp="1"/>
          </p:cNvSpPr>
          <p:nvPr>
            <p:ph type="title"/>
          </p:nvPr>
        </p:nvSpPr>
        <p:spPr>
          <a:xfrm>
            <a:off x="2475571" y="669073"/>
            <a:ext cx="8885849" cy="588228"/>
          </a:xfrm>
        </p:spPr>
        <p:txBody>
          <a:bodyPr>
            <a:normAutofit fontScale="90000"/>
          </a:bodyPr>
          <a:lstStyle/>
          <a:p>
            <a:r>
              <a:rPr lang="en-US" dirty="0">
                <a:latin typeface="Times New Roman" panose="02020603050405020304" pitchFamily="18" charset="0"/>
                <a:cs typeface="Times New Roman" panose="02020603050405020304" pitchFamily="18" charset="0"/>
              </a:rPr>
              <a:t>Crosswalk Improvements After Dataset Validation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8FC4B5-DC57-DF7E-2D2B-C335C2C9BD27}"/>
              </a:ext>
            </a:extLst>
          </p:cNvPr>
          <p:cNvSpPr>
            <a:spLocks noGrp="1"/>
          </p:cNvSpPr>
          <p:nvPr>
            <p:ph idx="1"/>
          </p:nvPr>
        </p:nvSpPr>
        <p:spPr>
          <a:xfrm>
            <a:off x="838200" y="1567930"/>
            <a:ext cx="10515600" cy="4351338"/>
          </a:xfrm>
        </p:spPr>
        <p:txBody>
          <a:bodyPr>
            <a:normAutofit/>
          </a:bodyPr>
          <a:lstStyle/>
          <a:p>
            <a:pPr marL="0" indent="0">
              <a:buNone/>
            </a:pPr>
            <a:r>
              <a:rPr lang="en-US" sz="2000" dirty="0"/>
              <a:t>Once we received the real </a:t>
            </a:r>
            <a:r>
              <a:rPr lang="en-US" sz="2000" dirty="0" err="1"/>
              <a:t>CivicPulse</a:t>
            </a:r>
            <a:r>
              <a:rPr lang="en-US" sz="2000" dirty="0"/>
              <a:t> dataset, we rechecked the </a:t>
            </a:r>
            <a:r>
              <a:rPr lang="en-US" sz="2000" dirty="0" err="1"/>
              <a:t>CivicPulse</a:t>
            </a:r>
            <a:r>
              <a:rPr lang="en-US" sz="2000" dirty="0"/>
              <a:t> side of the crosswalk and corrected:</a:t>
            </a:r>
          </a:p>
          <a:p>
            <a:r>
              <a:rPr lang="en-US" sz="2000" dirty="0"/>
              <a:t>actual field names</a:t>
            </a:r>
          </a:p>
          <a:p>
            <a:r>
              <a:rPr lang="en-US" sz="2000" dirty="0"/>
              <a:t>actual stored response codes</a:t>
            </a:r>
          </a:p>
          <a:p>
            <a:r>
              <a:rPr lang="en-US" sz="2000" dirty="0"/>
              <a:t>missing-value format</a:t>
            </a:r>
          </a:p>
          <a:p>
            <a:r>
              <a:rPr lang="en-US" sz="2000" dirty="0"/>
              <a:t>provider-grid structure for service variables</a:t>
            </a:r>
          </a:p>
          <a:p>
            <a:r>
              <a:rPr lang="en-US" sz="2000" dirty="0"/>
              <a:t>follow-up variable coding</a:t>
            </a:r>
          </a:p>
          <a:p>
            <a:r>
              <a:rPr lang="en-US" sz="2000" dirty="0"/>
              <a:t>metadata field names</a:t>
            </a:r>
          </a:p>
          <a:p>
            <a:pPr marL="0" indent="0">
              <a:buNone/>
            </a:pPr>
            <a:r>
              <a:rPr lang="en-US" sz="2000" b="1" dirty="0"/>
              <a:t>Important finding:</a:t>
            </a:r>
            <a:endParaRPr lang="en-US" sz="2000" dirty="0"/>
          </a:p>
          <a:p>
            <a:r>
              <a:rPr lang="en-US" sz="2000" dirty="0"/>
              <a:t>The actual dataset helped us verify that some variables were stored differently than the questionnaire alone suggested.</a:t>
            </a:r>
          </a:p>
          <a:p>
            <a:pPr algn="just">
              <a:lnSpc>
                <a:spcPct val="150000"/>
              </a:lnSpc>
            </a:pPr>
            <a:endParaRPr lang="en-US" sz="2000" dirty="0"/>
          </a:p>
        </p:txBody>
      </p:sp>
    </p:spTree>
    <p:extLst>
      <p:ext uri="{BB962C8B-B14F-4D97-AF65-F5344CB8AC3E}">
        <p14:creationId xmlns:p14="http://schemas.microsoft.com/office/powerpoint/2010/main" val="1969922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046A1-348E-C2B7-C41D-208C7DE04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E76CA-935B-2D1F-FAC2-81B0DE7F9288}"/>
              </a:ext>
            </a:extLst>
          </p:cNvPr>
          <p:cNvSpPr>
            <a:spLocks noGrp="1"/>
          </p:cNvSpPr>
          <p:nvPr>
            <p:ph type="title"/>
          </p:nvPr>
        </p:nvSpPr>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Crosswalk Status Summary</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ED96963D-43E2-F713-8E50-A3351EEFC456}"/>
              </a:ext>
            </a:extLst>
          </p:cNvPr>
          <p:cNvPicPr>
            <a:picLocks noGrp="1" noChangeAspect="1"/>
          </p:cNvPicPr>
          <p:nvPr>
            <p:ph idx="1"/>
          </p:nvPr>
        </p:nvPicPr>
        <p:blipFill>
          <a:blip r:embed="rId3"/>
          <a:stretch>
            <a:fillRect/>
          </a:stretch>
        </p:blipFill>
        <p:spPr>
          <a:xfrm>
            <a:off x="5876692" y="1530970"/>
            <a:ext cx="5484727" cy="4434855"/>
          </a:xfrm>
          <a:prstGeom prst="rect">
            <a:avLst/>
          </a:prstGeom>
        </p:spPr>
      </p:pic>
      <p:pic>
        <p:nvPicPr>
          <p:cNvPr id="8" name="Picture 7">
            <a:extLst>
              <a:ext uri="{FF2B5EF4-FFF2-40B4-BE49-F238E27FC236}">
                <a16:creationId xmlns:a16="http://schemas.microsoft.com/office/drawing/2014/main" id="{DCFE746F-3DA4-E1D1-3076-BB9B28173818}"/>
              </a:ext>
            </a:extLst>
          </p:cNvPr>
          <p:cNvPicPr>
            <a:picLocks noChangeAspect="1"/>
          </p:cNvPicPr>
          <p:nvPr/>
        </p:nvPicPr>
        <p:blipFill>
          <a:blip r:embed="rId4"/>
          <a:stretch>
            <a:fillRect/>
          </a:stretch>
        </p:blipFill>
        <p:spPr>
          <a:xfrm>
            <a:off x="838200" y="1567929"/>
            <a:ext cx="4555210" cy="4397895"/>
          </a:xfrm>
          <a:prstGeom prst="rect">
            <a:avLst/>
          </a:prstGeom>
        </p:spPr>
      </p:pic>
    </p:spTree>
    <p:extLst>
      <p:ext uri="{BB962C8B-B14F-4D97-AF65-F5344CB8AC3E}">
        <p14:creationId xmlns:p14="http://schemas.microsoft.com/office/powerpoint/2010/main" val="2690406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D933A-B86A-439C-1609-DF8647AF30D0}"/>
              </a:ext>
            </a:extLst>
          </p:cNvPr>
          <p:cNvSpPr>
            <a:spLocks noGrp="1"/>
          </p:cNvSpPr>
          <p:nvPr>
            <p:ph type="title"/>
          </p:nvPr>
        </p:nvSpPr>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Crosswalk Status Summary</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3E6BC36-F3F8-8C97-B01A-0A7574B54480}"/>
              </a:ext>
            </a:extLst>
          </p:cNvPr>
          <p:cNvPicPr>
            <a:picLocks noGrp="1" noChangeAspect="1"/>
          </p:cNvPicPr>
          <p:nvPr>
            <p:ph idx="1"/>
          </p:nvPr>
        </p:nvPicPr>
        <p:blipFill>
          <a:blip r:embed="rId2"/>
          <a:stretch>
            <a:fillRect/>
          </a:stretch>
        </p:blipFill>
        <p:spPr>
          <a:xfrm>
            <a:off x="5363737" y="1501775"/>
            <a:ext cx="6445786" cy="4430636"/>
          </a:xfrm>
          <a:prstGeom prst="rect">
            <a:avLst/>
          </a:prstGeom>
        </p:spPr>
      </p:pic>
      <p:pic>
        <p:nvPicPr>
          <p:cNvPr id="4" name="Picture 3">
            <a:extLst>
              <a:ext uri="{FF2B5EF4-FFF2-40B4-BE49-F238E27FC236}">
                <a16:creationId xmlns:a16="http://schemas.microsoft.com/office/drawing/2014/main" id="{B85930C2-EC2F-D065-75A3-4226114922E5}"/>
              </a:ext>
            </a:extLst>
          </p:cNvPr>
          <p:cNvPicPr>
            <a:picLocks noChangeAspect="1"/>
          </p:cNvPicPr>
          <p:nvPr/>
        </p:nvPicPr>
        <p:blipFill>
          <a:blip r:embed="rId3"/>
          <a:stretch>
            <a:fillRect/>
          </a:stretch>
        </p:blipFill>
        <p:spPr>
          <a:xfrm>
            <a:off x="382477" y="1501813"/>
            <a:ext cx="4769386" cy="4430636"/>
          </a:xfrm>
          <a:prstGeom prst="rect">
            <a:avLst/>
          </a:prstGeom>
        </p:spPr>
      </p:pic>
    </p:spTree>
    <p:extLst>
      <p:ext uri="{BB962C8B-B14F-4D97-AF65-F5344CB8AC3E}">
        <p14:creationId xmlns:p14="http://schemas.microsoft.com/office/powerpoint/2010/main" val="1145763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4667-4C49-9726-4561-5B3B4AB48CD5}"/>
              </a:ext>
            </a:extLst>
          </p:cNvPr>
          <p:cNvSpPr>
            <a:spLocks noGrp="1"/>
          </p:cNvSpPr>
          <p:nvPr>
            <p:ph type="title"/>
          </p:nvPr>
        </p:nvSpPr>
        <p:spPr/>
        <p:txBody>
          <a:bodyPr>
            <a:normAutofit fontScale="90000"/>
          </a:bodyPr>
          <a:lstStyle/>
          <a:p>
            <a:br>
              <a:rPr lang="en-US" dirty="0"/>
            </a:br>
            <a:r>
              <a:rPr lang="en-US" dirty="0"/>
              <a:t>Crosswalk Status Summary</a:t>
            </a:r>
            <a:br>
              <a:rPr lang="en-US" dirty="0"/>
            </a:br>
            <a:endParaRPr lang="en-US" dirty="0"/>
          </a:p>
        </p:txBody>
      </p:sp>
      <p:sp>
        <p:nvSpPr>
          <p:cNvPr id="3" name="Content Placeholder 2">
            <a:extLst>
              <a:ext uri="{FF2B5EF4-FFF2-40B4-BE49-F238E27FC236}">
                <a16:creationId xmlns:a16="http://schemas.microsoft.com/office/drawing/2014/main" id="{7987E1F3-DC48-233B-2446-5F3F6ACA3A3F}"/>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Most crosswalk rows are </a:t>
            </a:r>
            <a:r>
              <a:rPr lang="en-US" sz="2000" b="1" dirty="0">
                <a:latin typeface="Times New Roman" panose="02020603050405020304" pitchFamily="18" charset="0"/>
                <a:cs typeface="Times New Roman" panose="02020603050405020304" pitchFamily="18" charset="0"/>
              </a:rPr>
              <a:t>partial matches</a:t>
            </a:r>
            <a:r>
              <a:rPr lang="en-US" sz="2000" dirty="0">
                <a:latin typeface="Times New Roman" panose="02020603050405020304" pitchFamily="18" charset="0"/>
                <a:cs typeface="Times New Roman" panose="02020603050405020304" pitchFamily="18" charset="0"/>
              </a:rPr>
              <a:t>, which is expected because ARISE and </a:t>
            </a:r>
            <a:r>
              <a:rPr lang="en-US" sz="2000" dirty="0" err="1">
                <a:latin typeface="Times New Roman" panose="02020603050405020304" pitchFamily="18" charset="0"/>
                <a:cs typeface="Times New Roman" panose="02020603050405020304" pitchFamily="18" charset="0"/>
              </a:rPr>
              <a:t>CivicPulse</a:t>
            </a:r>
            <a:r>
              <a:rPr lang="en-US" sz="2000" dirty="0">
                <a:latin typeface="Times New Roman" panose="02020603050405020304" pitchFamily="18" charset="0"/>
                <a:cs typeface="Times New Roman" panose="02020603050405020304" pitchFamily="18" charset="0"/>
              </a:rPr>
              <a:t> often measure similar concepts using different scales and structures. The largest share of harmonization work was concentrated in </a:t>
            </a:r>
            <a:r>
              <a:rPr lang="en-US" sz="2000" b="1" dirty="0">
                <a:latin typeface="Times New Roman" panose="02020603050405020304" pitchFamily="18" charset="0"/>
                <a:cs typeface="Times New Roman" panose="02020603050405020304" pitchFamily="18" charset="0"/>
              </a:rPr>
              <a:t>grant funding</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equity/inclusion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disaster services</a:t>
            </a:r>
            <a:r>
              <a:rPr lang="en-US" sz="2000" dirty="0">
                <a:latin typeface="Times New Roman" panose="02020603050405020304" pitchFamily="18" charset="0"/>
                <a:cs typeface="Times New Roman" panose="02020603050405020304" pitchFamily="18" charset="0"/>
              </a:rPr>
              <a:t>, where variable mapping required more detailed review.</a:t>
            </a:r>
          </a:p>
        </p:txBody>
      </p:sp>
    </p:spTree>
    <p:extLst>
      <p:ext uri="{BB962C8B-B14F-4D97-AF65-F5344CB8AC3E}">
        <p14:creationId xmlns:p14="http://schemas.microsoft.com/office/powerpoint/2010/main" val="3967510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17DD0-97ED-9A58-C399-3EEDFBA5B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14659-BD76-D0B7-53D9-64C099AE0D9B}"/>
              </a:ext>
            </a:extLst>
          </p:cNvPr>
          <p:cNvSpPr>
            <a:spLocks noGrp="1"/>
          </p:cNvSpPr>
          <p:nvPr>
            <p:ph type="title"/>
          </p:nvPr>
        </p:nvSpPr>
        <p:spPr/>
        <p:txBody>
          <a:bodyPr>
            <a:normAutofit/>
          </a:bodyPr>
          <a:lstStyle/>
          <a:p>
            <a:r>
              <a:rPr lang="en-US" sz="4000" dirty="0"/>
              <a:t>Next Week Goal</a:t>
            </a:r>
          </a:p>
        </p:txBody>
      </p:sp>
      <p:sp>
        <p:nvSpPr>
          <p:cNvPr id="7" name="Content Placeholder 6">
            <a:extLst>
              <a:ext uri="{FF2B5EF4-FFF2-40B4-BE49-F238E27FC236}">
                <a16:creationId xmlns:a16="http://schemas.microsoft.com/office/drawing/2014/main" id="{3BA47004-CF94-73F6-BC9F-27A79D0727D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Our next week goal is to move from crosswalk design to actual implementation. We plan to finalize coding notes and the harmonized data dictionary, start recoding variables in Python or Excel, create the first harmonized dataset, and then run quality checks before moving into descriptive analysis.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7715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SU Template - Accessible" id="{C9EEBB27-A160-0549-93BB-57AA507F1703}" vid="{32148866-FC3F-5F4F-BF9C-13255541B6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4081</TotalTime>
  <Words>1422</Words>
  <Application>Microsoft Macintosh PowerPoint</Application>
  <PresentationFormat>Widescreen</PresentationFormat>
  <Paragraphs>198</Paragraphs>
  <Slides>21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Data Science Capstone Project</vt:lpstr>
      <vt:lpstr>Project Progress Update</vt:lpstr>
      <vt:lpstr>CivicPulse Dataset </vt:lpstr>
      <vt:lpstr>CivicPulse Dataset </vt:lpstr>
      <vt:lpstr>Categories of dataset </vt:lpstr>
      <vt:lpstr>Categories of dataset </vt:lpstr>
      <vt:lpstr>Purpose of the Crosswalk Table </vt:lpstr>
      <vt:lpstr>Why the Crosswalk Was Necessary</vt:lpstr>
      <vt:lpstr>  Inputs Used for Crosswalk Creation </vt:lpstr>
      <vt:lpstr>Crosswalk Creation Process</vt:lpstr>
      <vt:lpstr>Crosswalk Creation Process</vt:lpstr>
      <vt:lpstr>Crosswalk Table Structure</vt:lpstr>
      <vt:lpstr> Match Types in the Crosswalk </vt:lpstr>
      <vt:lpstr> Crosswalk Example: Exact Match </vt:lpstr>
      <vt:lpstr> Crosswalk Example: Partial Match </vt:lpstr>
      <vt:lpstr>Challenges Identified During Data Understanding </vt:lpstr>
      <vt:lpstr>Crosswalk Improvements After Dataset Validation </vt:lpstr>
      <vt:lpstr> Crosswalk Status Summary </vt:lpstr>
      <vt:lpstr> Crosswalk Status Summary </vt:lpstr>
      <vt:lpstr> Crosswalk Status Summary </vt:lpstr>
      <vt:lpstr>Next Week Goal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Wilson, Caleb</dc:creator>
  <cp:lastModifiedBy>Singnath, Abhishek</cp:lastModifiedBy>
  <cp:revision>184</cp:revision>
  <dcterms:created xsi:type="dcterms:W3CDTF">2018-06-18T13:40:31Z</dcterms:created>
  <dcterms:modified xsi:type="dcterms:W3CDTF">2026-03-05T01:18:39Z</dcterms:modified>
</cp:coreProperties>
</file>