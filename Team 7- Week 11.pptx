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62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3BC7E1B-1496-4CF2-BE24-A0397CCD2587}">
          <p14:sldIdLst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85A"/>
    <a:srgbClr val="DBD9DA"/>
    <a:srgbClr val="FFFF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32DBC-2677-4315-A7D4-2F950ACAB858}" v="1" dt="2026-03-31T18:01:08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53077" autoAdjust="0"/>
  </p:normalViewPr>
  <p:slideViewPr>
    <p:cSldViewPr snapToGrid="0" snapToObjects="1">
      <p:cViewPr varScale="1">
        <p:scale>
          <a:sx n="82" d="100"/>
          <a:sy n="82" d="100"/>
        </p:scale>
        <p:origin x="47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109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pali Avhad" userId="cee9e1f3e64df676" providerId="LiveId" clId="{ED904666-C1D5-4492-A4DD-CA455FBA54AD}"/>
    <pc:docChg chg="custSel addSld delSld modSld sldOrd modSection">
      <pc:chgData name="Rupali Avhad" userId="cee9e1f3e64df676" providerId="LiveId" clId="{ED904666-C1D5-4492-A4DD-CA455FBA54AD}" dt="2026-03-31T18:09:50.455" v="260"/>
      <pc:docMkLst>
        <pc:docMk/>
      </pc:docMkLst>
      <pc:sldChg chg="ord">
        <pc:chgData name="Rupali Avhad" userId="cee9e1f3e64df676" providerId="LiveId" clId="{ED904666-C1D5-4492-A4DD-CA455FBA54AD}" dt="2026-03-31T18:09:50.455" v="260"/>
        <pc:sldMkLst>
          <pc:docMk/>
          <pc:sldMk cId="2926726418" sldId="262"/>
        </pc:sldMkLst>
      </pc:sldChg>
      <pc:sldChg chg="ord">
        <pc:chgData name="Rupali Avhad" userId="cee9e1f3e64df676" providerId="LiveId" clId="{ED904666-C1D5-4492-A4DD-CA455FBA54AD}" dt="2026-03-31T18:02:17.400" v="92"/>
        <pc:sldMkLst>
          <pc:docMk/>
          <pc:sldMk cId="2028378853" sldId="273"/>
        </pc:sldMkLst>
      </pc:sldChg>
      <pc:sldChg chg="modSp mod ord">
        <pc:chgData name="Rupali Avhad" userId="cee9e1f3e64df676" providerId="LiveId" clId="{ED904666-C1D5-4492-A4DD-CA455FBA54AD}" dt="2026-03-31T18:02:32.046" v="94" actId="255"/>
        <pc:sldMkLst>
          <pc:docMk/>
          <pc:sldMk cId="2499925264" sldId="274"/>
        </pc:sldMkLst>
        <pc:spChg chg="mod">
          <ac:chgData name="Rupali Avhad" userId="cee9e1f3e64df676" providerId="LiveId" clId="{ED904666-C1D5-4492-A4DD-CA455FBA54AD}" dt="2026-03-31T18:02:32.046" v="94" actId="255"/>
          <ac:spMkLst>
            <pc:docMk/>
            <pc:sldMk cId="2499925264" sldId="274"/>
            <ac:spMk id="16" creationId="{D7B7CEE7-EE9F-56FE-6AA7-875DDE7EC29B}"/>
          </ac:spMkLst>
        </pc:spChg>
      </pc:sldChg>
      <pc:sldChg chg="modSp mod">
        <pc:chgData name="Rupali Avhad" userId="cee9e1f3e64df676" providerId="LiveId" clId="{ED904666-C1D5-4492-A4DD-CA455FBA54AD}" dt="2026-03-31T18:08:14.327" v="240" actId="255"/>
        <pc:sldMkLst>
          <pc:docMk/>
          <pc:sldMk cId="2698982287" sldId="275"/>
        </pc:sldMkLst>
        <pc:spChg chg="mod">
          <ac:chgData name="Rupali Avhad" userId="cee9e1f3e64df676" providerId="LiveId" clId="{ED904666-C1D5-4492-A4DD-CA455FBA54AD}" dt="2026-03-31T18:08:14.327" v="240" actId="255"/>
          <ac:spMkLst>
            <pc:docMk/>
            <pc:sldMk cId="2698982287" sldId="275"/>
            <ac:spMk id="3" creationId="{973CA477-CBB9-49BC-9A90-A87F73098045}"/>
          </ac:spMkLst>
        </pc:spChg>
      </pc:sldChg>
      <pc:sldChg chg="delSp modSp new del mod">
        <pc:chgData name="Rupali Avhad" userId="cee9e1f3e64df676" providerId="LiveId" clId="{ED904666-C1D5-4492-A4DD-CA455FBA54AD}" dt="2026-03-31T18:09:03.729" v="258" actId="2696"/>
        <pc:sldMkLst>
          <pc:docMk/>
          <pc:sldMk cId="4282723531" sldId="276"/>
        </pc:sldMkLst>
        <pc:spChg chg="mod">
          <ac:chgData name="Rupali Avhad" userId="cee9e1f3e64df676" providerId="LiveId" clId="{ED904666-C1D5-4492-A4DD-CA455FBA54AD}" dt="2026-03-31T18:08:52.778" v="257" actId="20577"/>
          <ac:spMkLst>
            <pc:docMk/>
            <pc:sldMk cId="4282723531" sldId="276"/>
            <ac:spMk id="3" creationId="{B8228FB7-957B-6685-F30E-6EC6DE5666FB}"/>
          </ac:spMkLst>
        </pc:spChg>
        <pc:spChg chg="del">
          <ac:chgData name="Rupali Avhad" userId="cee9e1f3e64df676" providerId="LiveId" clId="{ED904666-C1D5-4492-A4DD-CA455FBA54AD}" dt="2026-03-31T18:08:37.844" v="242" actId="21"/>
          <ac:spMkLst>
            <pc:docMk/>
            <pc:sldMk cId="4282723531" sldId="276"/>
            <ac:spMk id="4" creationId="{D99C7736-4A35-EB62-AD55-0364B82C887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E549EA-A729-3D45-8B4D-22B7EBF5C6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7E04D-ECCF-9144-940C-119F342EF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43F512-30E2-3F46-8010-5659AF98CC3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344F1-5767-0541-B208-C6A9788E85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DBA68-A779-A547-8605-413DDCAEB5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A2CB1-9001-FD49-B675-3F6AB6B0D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826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E9FAA-CE99-9243-980C-708A50330DC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6AF33-FE8D-0F43-AD85-A52C3F99E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57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C1D0-E519-7998-2473-C60D75B0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50DD82-B3E4-1D15-FFC3-B20BE4396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3A7BE-89B0-50F0-C999-E79C700E4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40858-1397-E3F6-E0C4-A957EE8BF6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3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C894F-259B-679B-CC70-64ADED6E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4DF88-26B5-0A5B-2158-A4C98363A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094E2-8938-ECB3-9D08-53091B17E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337FC-CA62-99EF-94D1-CD0183472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83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A6FC9-E4E3-2718-7303-5BD915D25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B8363-5F12-800C-A9E6-2A4B4F0BB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0649F-705F-07F7-C864-D21C73E68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09C0F-8CD8-70CF-DC70-B89F209AD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96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5F482-CB55-6E19-637C-4EC8791D7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F7024-73E4-94D5-C3F5-4565BF07E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0C0AD-7A02-ABC4-AB8D-6C1C43592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6B882-AE54-F989-DC48-840EBC364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04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6246B-9A75-4E6E-87DC-F7F30BB5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3AAF4-8283-C365-4944-804A15DF0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79F89-FC1B-FBFD-9E28-0AADA7C72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89ADF-B469-1A8C-29DA-C9F29ABDA6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84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80B0C-9314-D73E-E63E-31DBE6A4F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8ADBE-3757-2E48-BB13-BA4E4E3FA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13802-67A3-A093-8534-66E156F95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06EF8-6410-0E8E-B056-29A7BDA44C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13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38091-1084-C008-EDA0-2674316F2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A4D4B-6D88-8484-BA58-2CE624FA9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6AC61-309C-D232-AD4F-A02ECDE11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9C713-3E81-1014-46F6-768215222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57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BD58-E76F-0912-B8DD-4FDA8515B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AD670-4E5F-94FB-A060-D322603F6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8AADB-7B89-288D-EF17-EB54EBE55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15ACA-192E-A245-4990-05811B89C9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54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85D36-F2A6-D6BE-6476-C6DED0EB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A9638-8F69-61F4-9088-6BF1AF92B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8A9DE-E714-542F-D9CB-BE4A9F73B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578DE-1DC5-48A4-9073-D8BD2C9010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6AF33-FE8D-0F43-AD85-A52C3F99ED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2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2AFA-44D0-F744-8BDD-C2802771C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3487"/>
            <a:ext cx="9144000" cy="1006475"/>
          </a:xfrm>
        </p:spPr>
        <p:txBody>
          <a:bodyPr anchor="b"/>
          <a:lstStyle>
            <a:lvl1pPr algn="ctr">
              <a:defRPr sz="6000" baseline="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BA64A-8634-5140-B60F-09086C669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pic>
        <p:nvPicPr>
          <p:cNvPr id="9" name="Picture 8" descr="The logo for Wichita State University." title="Wichita State University Logo">
            <a:extLst>
              <a:ext uri="{FF2B5EF4-FFF2-40B4-BE49-F238E27FC236}">
                <a16:creationId xmlns:a16="http://schemas.microsoft.com/office/drawing/2014/main" id="{1ADE4355-A3B2-6449-9D1C-9F7D8F1789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01073" y="1192211"/>
            <a:ext cx="4189854" cy="96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2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AE9C-BCE1-134F-9AA5-36AC0166BA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0" y="300039"/>
            <a:ext cx="8503920" cy="957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DADA-DA3F-374B-8A2B-B0B5F1A463F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57CC7-E80B-4E43-9A8C-58FE70FD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4C005-7FB8-3D4C-96BE-CD8E4D13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D0C98-1C77-A04F-96D7-2FB871DF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&quot;WSU&quot; logo for Wichita State University." title="WSU Logo">
            <a:extLst>
              <a:ext uri="{FF2B5EF4-FFF2-40B4-BE49-F238E27FC236}">
                <a16:creationId xmlns:a16="http://schemas.microsoft.com/office/drawing/2014/main" id="{33B1789B-D0E4-4F47-8C64-CCCFE5CB89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57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DA10-D4F1-1246-AC76-4E99217B7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0" y="301752"/>
            <a:ext cx="8503920" cy="9601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2-Column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7A247-7DFC-E446-938A-2CA021AE3ED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206B-3FC0-CE41-90B0-155B2B1C6F2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86D33-CD83-4040-BB1F-306A4D9B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B5D88-544F-964C-84FC-05176212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67E06-089A-6846-8B48-B3A0F23D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&quot;WSU&quot; logo for Wichita State University." title="WSU Logo">
            <a:extLst>
              <a:ext uri="{FF2B5EF4-FFF2-40B4-BE49-F238E27FC236}">
                <a16:creationId xmlns:a16="http://schemas.microsoft.com/office/drawing/2014/main" id="{BC3239E5-4689-FA43-AAF6-CE4F83EE41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0318-CC45-A342-AEE3-670F3638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57E59-4F7B-3B4C-B9E7-67DE80EDB61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Or Alternative Title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E7E8-47E7-104E-BF54-359C263C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DE16E-EEEB-F04D-B629-FBE01C97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47F99-D730-2641-86EF-84BCC74B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&quot;WSU&quot; logo for Wichita State University." title="WSU Logo">
            <a:extLst>
              <a:ext uri="{FF2B5EF4-FFF2-40B4-BE49-F238E27FC236}">
                <a16:creationId xmlns:a16="http://schemas.microsoft.com/office/drawing/2014/main" id="{0747E5A0-53E7-3649-A4F4-D53323CF5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5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E8205-8020-9E43-BDC9-8F0646FB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D0D22-4086-394C-A571-C6BB444D3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091FC-EF27-E34B-B5FE-194D933C9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4A545-610A-3246-BBF7-82AC132EB6A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1301-3F06-5A49-A699-BBCBCEEE5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4BA5A-8069-9D49-A99F-3AD1783C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85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Capstone Project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3A7B673-31CC-139D-E59E-EEC506B1C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fontScale="47500" lnSpcReduction="20000"/>
          </a:bodyPr>
          <a:lstStyle/>
          <a:p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Governments Survey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(ARISE +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Harmonization)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Number:CS896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#7- Anudeepthi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Chirumamilla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Y828R524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Rupali Avhad - d798z925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Teja Sree Mukkapati-Q389W584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72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8457F-BC40-3D86-675B-98B87592B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AC6F8-FB56-8143-7FC5-CFC861BF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Week Progress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49013-77F4-389C-DBE3-2FE07ACC8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930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standardized both datasets to make them comparable.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18 common variables to align ARISE and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both datasets into one final harmonized dataset.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data quality by validating shapes, columns, and missing values.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key trends using summary statistics and averages.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results between datasets to identify differences.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visualizations like bar charts, histograms, and boxplots to understand patterns better.</a:t>
            </a:r>
          </a:p>
        </p:txBody>
      </p:sp>
    </p:spTree>
    <p:extLst>
      <p:ext uri="{BB962C8B-B14F-4D97-AF65-F5344CB8AC3E}">
        <p14:creationId xmlns:p14="http://schemas.microsoft.com/office/powerpoint/2010/main" val="48132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361AA-348E-1B5B-22A7-8906B4031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>
            <a:extLst>
              <a:ext uri="{FF2B5EF4-FFF2-40B4-BE49-F238E27FC236}">
                <a16:creationId xmlns:a16="http://schemas.microsoft.com/office/drawing/2014/main" id="{267D8D76-22B6-3B0C-0EFD-E69594093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301752"/>
            <a:ext cx="8503920" cy="960120"/>
          </a:xfrm>
        </p:spPr>
        <p:txBody>
          <a:bodyPr anchor="ctr"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Harmonizing and Preparing the Dataset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C256DD-8AA2-9D5F-4AC0-FCD800844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18 common variables to make both datasets comparable.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 source column to clearly separate ARISE and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Kept only the matching variables to create clean, consistent datasets.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the dataset structure to make sure everything aligned correctly.</a:t>
            </a:r>
          </a:p>
          <a:p>
            <a:pPr marL="0" indent="0">
              <a:buNone/>
            </a:pPr>
            <a:endParaRPr lang="en-US" sz="2600" dirty="0"/>
          </a:p>
          <a:p>
            <a:endParaRPr lang="en-IN" sz="2600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A973C56-B5F4-6AF1-08B0-D9102CBACD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14" r="29547" b="-2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4749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BDBC-AC8B-7026-6B08-BEB109381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65FAF798-FA1C-5A4B-C42B-3FC7A7117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301752"/>
            <a:ext cx="8503920" cy="960120"/>
          </a:xfrm>
        </p:spPr>
        <p:txBody>
          <a:bodyPr anchor="ctr"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and Validating the Final Dataset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AC37540-DFB3-E46A-488F-A9AC463AE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 both harmonized datasets into one final dataset.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combined dataset has 444 records and 19 columns.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the data using head and tail to make sure it looks correct.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final dataset is now ready for analysis.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5575BA-E82A-0A2E-F2DA-3CFA47B6BB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22738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DEA7B-EC1D-E4E2-D7C5-2FC4BD8A6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C29B-03AB-B955-EB98-9F6E00C1E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301752"/>
            <a:ext cx="8503920" cy="960120"/>
          </a:xfrm>
        </p:spPr>
        <p:txBody>
          <a:bodyPr anchor="ctr"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Validating Data and Checking Missing Values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CFD2445-DB3B-02EC-EACC-B5F60D727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how many records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came from each dataset to confirm the merge worked correctly.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combined data includes 309 ARISE and 135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missing values to understand data quality issues.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that some variables like education and tenure have higher missing data.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9DFFC7-7511-B42E-A9EA-77D72FA44E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r="26469" b="1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71605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5EF50-4798-9504-3FE0-ADDA917FD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9BA2-5924-9446-6F39-4DA01508C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301752"/>
            <a:ext cx="8503920" cy="960120"/>
          </a:xfrm>
        </p:spPr>
        <p:txBody>
          <a:bodyPr anchor="ctr"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 of Harmonized Data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32D7109-974F-2005-0021-B82F3939BD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summary statistics to understand the overall data distribution.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variables like workforce challenge and fiscal condition show average values around 3–4.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responses fall between mid to high levels, indicating moderate to high challenges.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helped me quickly understand trends and data spread before deeper analysis.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864B609-5159-3749-8930-ECF043A814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11397" r="36209" b="2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855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D6625-86E7-508C-BB41-2329364AE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B91F-C4B2-9B71-A994-670C18E1F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301752"/>
            <a:ext cx="8503920" cy="960120"/>
          </a:xfrm>
        </p:spPr>
        <p:txBody>
          <a:bodyPr anchor="ctr"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Key Variables Between ARISE and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7D5F054-D13D-9238-5CA1-7D1CDE6F2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important variables across both datasets to see how they differ.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ARISE shows slightly higher workforce challenges and fiscal condition scores.</a:t>
            </a:r>
          </a:p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reports much higher values for infrastructure funding issues.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comparison helps highlight real differences in challenges reported by both sources.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A7ED87-2963-F62F-3014-46A5DC57D7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6931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3589A-16B9-A349-6361-090464A3D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5760-9C7C-7231-7B0F-F78D2160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301752"/>
            <a:ext cx="8503920" cy="960120"/>
          </a:xfrm>
        </p:spPr>
        <p:txBody>
          <a:bodyPr anchor="ctr">
            <a:normAutofit fontScale="9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Distribution of Key Variables by Dataset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05AF68-29A2-A604-D7CB-2E346651B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how responses are distributed across different levels for each dataset.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responses in ARISE are concentrated in higher levels (3, 4, and 5).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fewer high-level responses compared to ARISE.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understand how response patterns differ between the two datasets.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2DEC9F-D6F1-E4D5-CB53-777D27371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848" b="-2"/>
          <a:stretch>
            <a:fillRect/>
          </a:stretch>
        </p:blipFill>
        <p:spPr>
          <a:xfrm>
            <a:off x="60198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4476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07BFC-5DAF-EF0C-2950-847647532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251ABC9-5E69-F288-FB05-F4E5F7466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301752"/>
            <a:ext cx="8503920" cy="96012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of Key Variables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5A36AEA-9A52-4629-3895-D0B8DB588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how different variables are related to each other using a correlation matrix.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Infrastructure-related variables (spending gap, unstable funding, budget constraints) show strong positive relationships.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challenge and fiscal condition have weaker or slightly negative relationships with others.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identify which factors are connected and may impact each other.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EE35A-6149-C2C4-7C53-40B1047AA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5625"/>
            <a:ext cx="5532120" cy="43513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41176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3B651-DFED-280F-5B36-3EE27E1E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6BA8E741-0023-264A-61F3-34427A2C5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301752"/>
            <a:ext cx="8503920" cy="96012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Average Workforce Challenge Level by Dataset</a:t>
            </a:r>
            <a:br>
              <a:rPr lang="en-US" dirty="0"/>
            </a:b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726057A-845D-B072-4E97-68F25B472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the average workforce challenge levels between ARISE and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ARISE shows a slightly higher average, indicating more workforce-related challenges.</a:t>
            </a:r>
          </a:p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 lower average, suggesting comparatively fewer challenges reported.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quickly visualize and compare differences between the two datasets.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27E630D-8389-9609-C683-A6DDF1477A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2368" r="10105" b="-3"/>
          <a:stretch>
            <a:fillRect/>
          </a:stretch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58347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1F915A4-BF11-85DC-C74E-6A71547D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301752"/>
            <a:ext cx="8503920" cy="96012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Distribution of Workforce Challenge Levels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ED4E064-C31C-D402-6944-8E01027BF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how workforce challenge responses are spread across all levels.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responses are concentrated around levels 3 and 4, showing moderate to high challenges.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responses fall in the lowest level, indicating challenges are commonly experienced.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understand the overall pattern and intensity of workforce issues in the dataset.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A6F0E4-C419-2BC4-01D4-4463DBE98A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8341" r="17530" b="-1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8378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AF568C8-A3D3-F175-EE98-4CD1CE264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301752"/>
            <a:ext cx="8503920" cy="96012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Workforce Challenge Levels Comparison (Boxplot)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7B7CEE7-EE9F-56FE-6AA7-875DDE7EC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 boxplot to compare how workforce challenges vary across both datasets.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ARISE has a slightly higher median, meaning overall higher reported challenges.</a:t>
            </a:r>
          </a:p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CivicPulse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 wider spread, indicating more variation in responses.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understand both the average level and how consistent the responses are.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C06844-29F9-F8FF-C673-11368EB530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4942" r="9615" b="-3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9925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D53B-26CF-0F62-F5A3-BC2550278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Week Goal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CA477-CBB9-49BC-9A90-A87F73098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610461" cy="4099314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we have to do for next week –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Cross-tabulation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Percentage-based analysis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regression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insights/ Conclusions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for results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982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SU Template - Accessible" id="{C9EEBB27-A160-0549-93BB-57AA507F1703}" vid="{32148866-FC3F-5F4F-BF9C-13255541B6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4034</TotalTime>
  <Words>714</Words>
  <Application>Microsoft Office PowerPoint</Application>
  <PresentationFormat>Widescreen</PresentationFormat>
  <Paragraphs>82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Data Science Capstone Project</vt:lpstr>
      <vt:lpstr>This Week Progress Update</vt:lpstr>
      <vt:lpstr>Harmonizing and Preparing the Dataset</vt:lpstr>
      <vt:lpstr>Combining and Validating the Final Dataset</vt:lpstr>
      <vt:lpstr>Validating Data and Checking Missing Values</vt:lpstr>
      <vt:lpstr>Summary Statistics of Harmonized Data</vt:lpstr>
      <vt:lpstr>Comparison of Key Variables Between ARISE and CivicPulse </vt:lpstr>
      <vt:lpstr>Frequency Distribution of Key Variables by Dataset</vt:lpstr>
      <vt:lpstr>Correlation Analysis of Key Variables</vt:lpstr>
      <vt:lpstr>Example: Average Workforce Challenge Level by Dataset </vt:lpstr>
      <vt:lpstr>Example: Distribution of Workforce Challenge Levels</vt:lpstr>
      <vt:lpstr>Example: Workforce Challenge Levels Comparison (Boxplot)</vt:lpstr>
      <vt:lpstr>Next Week Goal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Caleb</dc:creator>
  <cp:lastModifiedBy>Rupali Avhad</cp:lastModifiedBy>
  <cp:revision>167</cp:revision>
  <dcterms:created xsi:type="dcterms:W3CDTF">2018-06-18T13:40:31Z</dcterms:created>
  <dcterms:modified xsi:type="dcterms:W3CDTF">2026-03-31T18:09:58Z</dcterms:modified>
</cp:coreProperties>
</file>