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62" r:id="rId2"/>
    <p:sldId id="264" r:id="rId3"/>
    <p:sldId id="265" r:id="rId4"/>
    <p:sldId id="266" r:id="rId5"/>
    <p:sldId id="267" r:id="rId6"/>
    <p:sldId id="268" r:id="rId7"/>
    <p:sldId id="269" r:id="rId8"/>
    <p:sldId id="270" r:id="rId9"/>
    <p:sldId id="271" r:id="rId10"/>
    <p:sldId id="272" r:id="rId11"/>
    <p:sldId id="276" r:id="rId12"/>
    <p:sldId id="273" r:id="rId13"/>
    <p:sldId id="274" r:id="rId14"/>
    <p:sldId id="27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3BC7E1B-1496-4CF2-BE24-A0397CCD2587}">
          <p14:sldIdLst>
            <p14:sldId id="262"/>
            <p14:sldId id="264"/>
            <p14:sldId id="265"/>
            <p14:sldId id="266"/>
            <p14:sldId id="267"/>
            <p14:sldId id="268"/>
            <p14:sldId id="269"/>
            <p14:sldId id="270"/>
            <p14:sldId id="271"/>
            <p14:sldId id="272"/>
            <p14:sldId id="276"/>
            <p14:sldId id="273"/>
            <p14:sldId id="274"/>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585A"/>
    <a:srgbClr val="DBD9DA"/>
    <a:srgbClr val="FFFF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32DBC-2677-4315-A7D4-2F950ACAB858}" v="1" dt="2026-03-31T18:01:08.2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268" autoAdjust="0"/>
    <p:restoredTop sz="53077" autoAdjust="0"/>
  </p:normalViewPr>
  <p:slideViewPr>
    <p:cSldViewPr snapToGrid="0" snapToObjects="1">
      <p:cViewPr>
        <p:scale>
          <a:sx n="121" d="100"/>
          <a:sy n="121" d="100"/>
        </p:scale>
        <p:origin x="-88" y="1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85" d="100"/>
          <a:sy n="85" d="100"/>
        </p:scale>
        <p:origin x="109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E549EA-A729-3D45-8B4D-22B7EBF5C6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B97E04D-ECCF-9144-940C-119F342EF95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43F512-30E2-3F46-8010-5659AF98CC34}" type="datetimeFigureOut">
              <a:rPr lang="en-US" smtClean="0"/>
              <a:t>4/8/26</a:t>
            </a:fld>
            <a:endParaRPr lang="en-US"/>
          </a:p>
        </p:txBody>
      </p:sp>
      <p:sp>
        <p:nvSpPr>
          <p:cNvPr id="4" name="Footer Placeholder 3">
            <a:extLst>
              <a:ext uri="{FF2B5EF4-FFF2-40B4-BE49-F238E27FC236}">
                <a16:creationId xmlns:a16="http://schemas.microsoft.com/office/drawing/2014/main" id="{AA0344F1-5767-0541-B208-C6A9788E85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76DBA68-A779-A547-8605-413DDCAEB5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7A2CB1-9001-FD49-B675-3F6AB6B0DB25}" type="slidenum">
              <a:rPr lang="en-US" smtClean="0"/>
              <a:t>‹#›</a:t>
            </a:fld>
            <a:endParaRPr lang="en-US"/>
          </a:p>
        </p:txBody>
      </p:sp>
    </p:spTree>
    <p:extLst>
      <p:ext uri="{BB962C8B-B14F-4D97-AF65-F5344CB8AC3E}">
        <p14:creationId xmlns:p14="http://schemas.microsoft.com/office/powerpoint/2010/main" val="32210826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3E9FAA-CE99-9243-980C-708A50330DCB}" type="datetimeFigureOut">
              <a:rPr lang="en-US" smtClean="0"/>
              <a:t>4/7/26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66AF33-FE8D-0F43-AD85-A52C3F99EDA1}" type="slidenum">
              <a:rPr lang="en-US" smtClean="0"/>
              <a:t>‹#›</a:t>
            </a:fld>
            <a:endParaRPr lang="en-US"/>
          </a:p>
        </p:txBody>
      </p:sp>
    </p:spTree>
    <p:extLst>
      <p:ext uri="{BB962C8B-B14F-4D97-AF65-F5344CB8AC3E}">
        <p14:creationId xmlns:p14="http://schemas.microsoft.com/office/powerpoint/2010/main" val="37761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4566AF33-FE8D-0F43-AD85-A52C3F99EDA1}" type="slidenum">
              <a:rPr lang="en-US" smtClean="0"/>
              <a:t>1</a:t>
            </a:fld>
            <a:endParaRPr lang="en-US"/>
          </a:p>
        </p:txBody>
      </p:sp>
    </p:spTree>
    <p:extLst>
      <p:ext uri="{BB962C8B-B14F-4D97-AF65-F5344CB8AC3E}">
        <p14:creationId xmlns:p14="http://schemas.microsoft.com/office/powerpoint/2010/main" val="2776157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8C1D0-E519-7998-2473-C60D75B0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50DD82-B3E4-1D15-FFC3-B20BE43966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F3A7BE-89B0-50F0-C999-E79C700E4C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9740858-1397-E3F6-E0C4-A957EE8BF62C}"/>
              </a:ext>
            </a:extLst>
          </p:cNvPr>
          <p:cNvSpPr>
            <a:spLocks noGrp="1"/>
          </p:cNvSpPr>
          <p:nvPr>
            <p:ph type="sldNum" sz="quarter" idx="10"/>
          </p:nvPr>
        </p:nvSpPr>
        <p:spPr/>
        <p:txBody>
          <a:bodyPr/>
          <a:lstStyle/>
          <a:p>
            <a:fld id="{4566AF33-FE8D-0F43-AD85-A52C3F99EDA1}" type="slidenum">
              <a:rPr lang="en-US" smtClean="0"/>
              <a:t>2</a:t>
            </a:fld>
            <a:endParaRPr lang="en-US"/>
          </a:p>
        </p:txBody>
      </p:sp>
    </p:spTree>
    <p:extLst>
      <p:ext uri="{BB962C8B-B14F-4D97-AF65-F5344CB8AC3E}">
        <p14:creationId xmlns:p14="http://schemas.microsoft.com/office/powerpoint/2010/main" val="3262730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2AFA-44D0-F744-8BDD-C2802771C1EF}"/>
              </a:ext>
            </a:extLst>
          </p:cNvPr>
          <p:cNvSpPr>
            <a:spLocks noGrp="1"/>
          </p:cNvSpPr>
          <p:nvPr>
            <p:ph type="ctrTitle"/>
          </p:nvPr>
        </p:nvSpPr>
        <p:spPr>
          <a:xfrm>
            <a:off x="1524000" y="2503487"/>
            <a:ext cx="9144000" cy="1006475"/>
          </a:xfrm>
        </p:spPr>
        <p:txBody>
          <a:bodyPr anchor="b"/>
          <a:lstStyle>
            <a:lvl1pPr algn="ctr">
              <a:defRPr sz="6000" baseline="0"/>
            </a:lvl1pPr>
          </a:lstStyle>
          <a:p>
            <a:endParaRPr lang="en-US" dirty="0"/>
          </a:p>
        </p:txBody>
      </p:sp>
      <p:sp>
        <p:nvSpPr>
          <p:cNvPr id="3" name="Subtitle 2">
            <a:extLst>
              <a:ext uri="{FF2B5EF4-FFF2-40B4-BE49-F238E27FC236}">
                <a16:creationId xmlns:a16="http://schemas.microsoft.com/office/drawing/2014/main" id="{B1ABA64A-8634-5140-B60F-09086C669D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pic>
        <p:nvPicPr>
          <p:cNvPr id="9" name="Picture 8" descr="The logo for Wichita State University." title="Wichita State University Logo">
            <a:extLst>
              <a:ext uri="{FF2B5EF4-FFF2-40B4-BE49-F238E27FC236}">
                <a16:creationId xmlns:a16="http://schemas.microsoft.com/office/drawing/2014/main" id="{1ADE4355-A3B2-6449-9D1C-9F7D8F17891B}"/>
              </a:ext>
            </a:extLst>
          </p:cNvPr>
          <p:cNvPicPr>
            <a:picLocks noChangeAspect="1"/>
          </p:cNvPicPr>
          <p:nvPr userDrawn="1"/>
        </p:nvPicPr>
        <p:blipFill>
          <a:blip r:embed="rId3"/>
          <a:stretch>
            <a:fillRect/>
          </a:stretch>
        </p:blipFill>
        <p:spPr>
          <a:xfrm>
            <a:off x="4001073" y="1192211"/>
            <a:ext cx="4189854" cy="965202"/>
          </a:xfrm>
          <a:prstGeom prst="rect">
            <a:avLst/>
          </a:prstGeom>
        </p:spPr>
      </p:pic>
    </p:spTree>
    <p:extLst>
      <p:ext uri="{BB962C8B-B14F-4D97-AF65-F5344CB8AC3E}">
        <p14:creationId xmlns:p14="http://schemas.microsoft.com/office/powerpoint/2010/main" val="1939129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4AE9C-BCE1-134F-9AA5-36AC0166BAB7}"/>
              </a:ext>
            </a:extLst>
          </p:cNvPr>
          <p:cNvSpPr>
            <a:spLocks noGrp="1"/>
          </p:cNvSpPr>
          <p:nvPr>
            <p:ph type="title" hasCustomPrompt="1"/>
          </p:nvPr>
        </p:nvSpPr>
        <p:spPr>
          <a:xfrm>
            <a:off x="2857500" y="300039"/>
            <a:ext cx="8503920" cy="957262"/>
          </a:xfrm>
        </p:spPr>
        <p:txBody>
          <a:bodyPr/>
          <a:lstStyle>
            <a:lvl1pPr>
              <a:defRPr>
                <a:solidFill>
                  <a:schemeClr val="bg1"/>
                </a:solidFill>
              </a:defRPr>
            </a:lvl1pPr>
          </a:lstStyle>
          <a:p>
            <a:r>
              <a:rPr lang="en-US" dirty="0"/>
              <a:t>1-Column Slide</a:t>
            </a:r>
          </a:p>
        </p:txBody>
      </p:sp>
      <p:sp>
        <p:nvSpPr>
          <p:cNvPr id="3" name="Content Placeholder 2">
            <a:extLst>
              <a:ext uri="{FF2B5EF4-FFF2-40B4-BE49-F238E27FC236}">
                <a16:creationId xmlns:a16="http://schemas.microsoft.com/office/drawing/2014/main" id="{5052DADA-DA3F-374B-8A2B-B0B5F1A463F1}"/>
              </a:ext>
            </a:extLst>
          </p:cNvPr>
          <p:cNvSpPr>
            <a:spLocks noGrp="1"/>
          </p:cNvSpPr>
          <p:nvPr>
            <p:ph idx="1" hasCustomPrompt="1"/>
          </p:nvPr>
        </p:nvSpPr>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B57CC7-E80B-4E43-9A8C-58FE70FDAF35}"/>
              </a:ext>
            </a:extLst>
          </p:cNvPr>
          <p:cNvSpPr>
            <a:spLocks noGrp="1"/>
          </p:cNvSpPr>
          <p:nvPr>
            <p:ph type="dt" sz="half" idx="10"/>
          </p:nvPr>
        </p:nvSpPr>
        <p:spPr/>
        <p:txBody>
          <a:bodyPr/>
          <a:lstStyle/>
          <a:p>
            <a:fld id="{8254A545-610A-3246-BBF7-82AC132EB6A8}" type="datetimeFigureOut">
              <a:rPr lang="en-US" smtClean="0"/>
              <a:t>4/7/26</a:t>
            </a:fld>
            <a:endParaRPr lang="en-US"/>
          </a:p>
        </p:txBody>
      </p:sp>
      <p:sp>
        <p:nvSpPr>
          <p:cNvPr id="5" name="Footer Placeholder 4">
            <a:extLst>
              <a:ext uri="{FF2B5EF4-FFF2-40B4-BE49-F238E27FC236}">
                <a16:creationId xmlns:a16="http://schemas.microsoft.com/office/drawing/2014/main" id="{06D4C005-7FB8-3D4C-96BE-CD8E4D136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D0C98-1C77-A04F-96D7-2FB871DF47C4}"/>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8" name="Picture 7" descr="&quot;WSU&quot; logo for Wichita State University." title="WSU Logo">
            <a:extLst>
              <a:ext uri="{FF2B5EF4-FFF2-40B4-BE49-F238E27FC236}">
                <a16:creationId xmlns:a16="http://schemas.microsoft.com/office/drawing/2014/main" id="{33B1789B-D0E4-4F47-8C64-CCCFE5CB8907}"/>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2497457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DDA10-D4F1-1246-AC76-4E99217B7F15}"/>
              </a:ext>
            </a:extLst>
          </p:cNvPr>
          <p:cNvSpPr>
            <a:spLocks noGrp="1"/>
          </p:cNvSpPr>
          <p:nvPr>
            <p:ph type="title" hasCustomPrompt="1"/>
          </p:nvPr>
        </p:nvSpPr>
        <p:spPr>
          <a:xfrm>
            <a:off x="2857500" y="301752"/>
            <a:ext cx="8503920" cy="960120"/>
          </a:xfrm>
        </p:spPr>
        <p:txBody>
          <a:bodyPr/>
          <a:lstStyle>
            <a:lvl1pPr>
              <a:defRPr>
                <a:solidFill>
                  <a:schemeClr val="bg1"/>
                </a:solidFill>
              </a:defRPr>
            </a:lvl1pPr>
          </a:lstStyle>
          <a:p>
            <a:r>
              <a:rPr lang="en-US" dirty="0"/>
              <a:t>2-Column Slide</a:t>
            </a:r>
          </a:p>
        </p:txBody>
      </p:sp>
      <p:sp>
        <p:nvSpPr>
          <p:cNvPr id="3" name="Content Placeholder 2">
            <a:extLst>
              <a:ext uri="{FF2B5EF4-FFF2-40B4-BE49-F238E27FC236}">
                <a16:creationId xmlns:a16="http://schemas.microsoft.com/office/drawing/2014/main" id="{7AB7A247-7DFC-E446-938A-2CA021AE3EDD}"/>
              </a:ext>
            </a:extLst>
          </p:cNvPr>
          <p:cNvSpPr>
            <a:spLocks noGrp="1"/>
          </p:cNvSpPr>
          <p:nvPr>
            <p:ph sz="half" idx="1" hasCustomPrompt="1"/>
          </p:nvPr>
        </p:nvSpPr>
        <p:spPr>
          <a:xfrm>
            <a:off x="838200" y="1825625"/>
            <a:ext cx="5181600" cy="4351338"/>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4B5206B-3FC0-CE41-90B0-155B2B1C6F2F}"/>
              </a:ext>
            </a:extLst>
          </p:cNvPr>
          <p:cNvSpPr>
            <a:spLocks noGrp="1"/>
          </p:cNvSpPr>
          <p:nvPr>
            <p:ph sz="half" idx="2" hasCustomPrompt="1"/>
          </p:nvPr>
        </p:nvSpPr>
        <p:spPr>
          <a:xfrm>
            <a:off x="6172200" y="1825625"/>
            <a:ext cx="5181600" cy="4351338"/>
          </a:xfrm>
        </p:spPr>
        <p:txBody>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DDF86D33-CD83-4040-BB1F-306A4D9B8E6E}"/>
              </a:ext>
            </a:extLst>
          </p:cNvPr>
          <p:cNvSpPr>
            <a:spLocks noGrp="1"/>
          </p:cNvSpPr>
          <p:nvPr>
            <p:ph type="dt" sz="half" idx="10"/>
          </p:nvPr>
        </p:nvSpPr>
        <p:spPr/>
        <p:txBody>
          <a:bodyPr/>
          <a:lstStyle/>
          <a:p>
            <a:fld id="{8254A545-610A-3246-BBF7-82AC132EB6A8}" type="datetimeFigureOut">
              <a:rPr lang="en-US" smtClean="0"/>
              <a:t>4/7/26</a:t>
            </a:fld>
            <a:endParaRPr lang="en-US"/>
          </a:p>
        </p:txBody>
      </p:sp>
      <p:sp>
        <p:nvSpPr>
          <p:cNvPr id="6" name="Footer Placeholder 5">
            <a:extLst>
              <a:ext uri="{FF2B5EF4-FFF2-40B4-BE49-F238E27FC236}">
                <a16:creationId xmlns:a16="http://schemas.microsoft.com/office/drawing/2014/main" id="{E4CB5D88-544F-964C-84FC-051762122A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67E06-089A-6846-8B48-B3A0F23DC958}"/>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8" name="Picture 7" descr="&quot;WSU&quot; logo for Wichita State University." title="WSU Logo">
            <a:extLst>
              <a:ext uri="{FF2B5EF4-FFF2-40B4-BE49-F238E27FC236}">
                <a16:creationId xmlns:a16="http://schemas.microsoft.com/office/drawing/2014/main" id="{BC3239E5-4689-FA43-AAF6-CE4F83EE41AC}"/>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180698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B0318-CC45-A342-AEE3-670F36387ECF}"/>
              </a:ext>
            </a:extLst>
          </p:cNvPr>
          <p:cNvSpPr>
            <a:spLocks noGrp="1"/>
          </p:cNvSpPr>
          <p:nvPr>
            <p:ph type="title" hasCustomPrompt="1"/>
          </p:nvPr>
        </p:nvSpPr>
        <p:spPr>
          <a:xfrm>
            <a:off x="831850" y="1709738"/>
            <a:ext cx="10515600" cy="2852737"/>
          </a:xfrm>
        </p:spPr>
        <p:txBody>
          <a:bodyPr anchor="b"/>
          <a:lstStyle>
            <a:lvl1pPr>
              <a:defRPr sz="6000"/>
            </a:lvl1pPr>
          </a:lstStyle>
          <a:p>
            <a:r>
              <a:rPr lang="en-US" dirty="0"/>
              <a:t>Divider Slide</a:t>
            </a:r>
          </a:p>
        </p:txBody>
      </p:sp>
      <p:sp>
        <p:nvSpPr>
          <p:cNvPr id="3" name="Text Placeholder 2">
            <a:extLst>
              <a:ext uri="{FF2B5EF4-FFF2-40B4-BE49-F238E27FC236}">
                <a16:creationId xmlns:a16="http://schemas.microsoft.com/office/drawing/2014/main" id="{DAA57E59-4F7B-3B4C-B9E7-67DE80EDB614}"/>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Or Alternative Title Slide</a:t>
            </a:r>
          </a:p>
        </p:txBody>
      </p:sp>
      <p:sp>
        <p:nvSpPr>
          <p:cNvPr id="4" name="Date Placeholder 3">
            <a:extLst>
              <a:ext uri="{FF2B5EF4-FFF2-40B4-BE49-F238E27FC236}">
                <a16:creationId xmlns:a16="http://schemas.microsoft.com/office/drawing/2014/main" id="{0A8DE7E8-47E7-104E-BF54-359C263C9962}"/>
              </a:ext>
            </a:extLst>
          </p:cNvPr>
          <p:cNvSpPr>
            <a:spLocks noGrp="1"/>
          </p:cNvSpPr>
          <p:nvPr>
            <p:ph type="dt" sz="half" idx="10"/>
          </p:nvPr>
        </p:nvSpPr>
        <p:spPr/>
        <p:txBody>
          <a:bodyPr/>
          <a:lstStyle/>
          <a:p>
            <a:fld id="{8254A545-610A-3246-BBF7-82AC132EB6A8}" type="datetimeFigureOut">
              <a:rPr lang="en-US" smtClean="0"/>
              <a:t>4/7/26</a:t>
            </a:fld>
            <a:endParaRPr lang="en-US"/>
          </a:p>
        </p:txBody>
      </p:sp>
      <p:sp>
        <p:nvSpPr>
          <p:cNvPr id="5" name="Footer Placeholder 4">
            <a:extLst>
              <a:ext uri="{FF2B5EF4-FFF2-40B4-BE49-F238E27FC236}">
                <a16:creationId xmlns:a16="http://schemas.microsoft.com/office/drawing/2014/main" id="{7F2DE16E-EEEB-F04D-B629-FBE01C97F9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247F99-D730-2641-86EF-84BCC74BAAFB}"/>
              </a:ext>
            </a:extLst>
          </p:cNvPr>
          <p:cNvSpPr>
            <a:spLocks noGrp="1"/>
          </p:cNvSpPr>
          <p:nvPr>
            <p:ph type="sldNum" sz="quarter" idx="12"/>
          </p:nvPr>
        </p:nvSpPr>
        <p:spPr/>
        <p:txBody>
          <a:bodyPr/>
          <a:lstStyle/>
          <a:p>
            <a:fld id="{8EF147F3-F4BF-2C46-AC54-645A1178D8F6}" type="slidenum">
              <a:rPr lang="en-US" smtClean="0"/>
              <a:t>‹#›</a:t>
            </a:fld>
            <a:endParaRPr lang="en-US"/>
          </a:p>
        </p:txBody>
      </p:sp>
      <p:pic>
        <p:nvPicPr>
          <p:cNvPr id="7" name="Picture 6" descr="&quot;WSU&quot; logo for Wichita State University." title="WSU Logo">
            <a:extLst>
              <a:ext uri="{FF2B5EF4-FFF2-40B4-BE49-F238E27FC236}">
                <a16:creationId xmlns:a16="http://schemas.microsoft.com/office/drawing/2014/main" id="{0747E5A0-53E7-3649-A4F4-D53323CF508A}"/>
              </a:ext>
            </a:extLst>
          </p:cNvPr>
          <p:cNvPicPr>
            <a:picLocks noChangeAspect="1"/>
          </p:cNvPicPr>
          <p:nvPr userDrawn="1"/>
        </p:nvPicPr>
        <p:blipFill rotWithShape="1">
          <a:blip r:embed="rId3">
            <a:alphaModFix/>
          </a:blip>
          <a:srcRect b="37252"/>
          <a:stretch/>
        </p:blipFill>
        <p:spPr>
          <a:xfrm>
            <a:off x="-28576" y="111919"/>
            <a:ext cx="2030521" cy="1131094"/>
          </a:xfrm>
          <a:prstGeom prst="rect">
            <a:avLst/>
          </a:prstGeom>
        </p:spPr>
      </p:pic>
    </p:spTree>
    <p:extLst>
      <p:ext uri="{BB962C8B-B14F-4D97-AF65-F5344CB8AC3E}">
        <p14:creationId xmlns:p14="http://schemas.microsoft.com/office/powerpoint/2010/main" val="22895504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EE8205-8020-9E43-BDC9-8F0646FB42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DAD0D22-4086-394C-A571-C6BB444D3D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3091FC-EF27-E34B-B5FE-194D933C90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54A545-610A-3246-BBF7-82AC132EB6A8}" type="datetimeFigureOut">
              <a:rPr lang="en-US" smtClean="0"/>
              <a:t>4/7/26</a:t>
            </a:fld>
            <a:endParaRPr lang="en-US"/>
          </a:p>
        </p:txBody>
      </p:sp>
      <p:sp>
        <p:nvSpPr>
          <p:cNvPr id="5" name="Footer Placeholder 4">
            <a:extLst>
              <a:ext uri="{FF2B5EF4-FFF2-40B4-BE49-F238E27FC236}">
                <a16:creationId xmlns:a16="http://schemas.microsoft.com/office/drawing/2014/main" id="{EB871301-3F06-5A49-A699-BBCBCEEE5F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74BA5A-8069-9D49-A99F-3AD1783CEA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F147F3-F4BF-2C46-AC54-645A1178D8F6}" type="slidenum">
              <a:rPr lang="en-US" smtClean="0"/>
              <a:t>‹#›</a:t>
            </a:fld>
            <a:endParaRPr lang="en-US"/>
          </a:p>
        </p:txBody>
      </p:sp>
    </p:spTree>
    <p:extLst>
      <p:ext uri="{BB962C8B-B14F-4D97-AF65-F5344CB8AC3E}">
        <p14:creationId xmlns:p14="http://schemas.microsoft.com/office/powerpoint/2010/main" val="42264851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Data Science Capstone Project</a:t>
            </a:r>
          </a:p>
        </p:txBody>
      </p:sp>
      <p:sp>
        <p:nvSpPr>
          <p:cNvPr id="6" name="Subtitle 2">
            <a:extLst>
              <a:ext uri="{FF2B5EF4-FFF2-40B4-BE49-F238E27FC236}">
                <a16:creationId xmlns:a16="http://schemas.microsoft.com/office/drawing/2014/main" id="{03A7B673-31CC-139D-E59E-EEC506B1CF99}"/>
              </a:ext>
            </a:extLst>
          </p:cNvPr>
          <p:cNvSpPr>
            <a:spLocks noGrp="1"/>
          </p:cNvSpPr>
          <p:nvPr>
            <p:ph type="subTitle" idx="1"/>
          </p:nvPr>
        </p:nvSpPr>
        <p:spPr>
          <a:xfrm>
            <a:off x="1524000" y="3602038"/>
            <a:ext cx="9144000" cy="1655762"/>
          </a:xfrm>
        </p:spPr>
        <p:txBody>
          <a:bodyPr>
            <a:normAutofit fontScale="47500" lnSpcReduction="20000"/>
          </a:bodyPr>
          <a:lstStyle/>
          <a:p>
            <a:r>
              <a:rPr lang="en-US" sz="5400" b="1" u="sng" dirty="0">
                <a:latin typeface="Times New Roman" panose="02020603050405020304" pitchFamily="18" charset="0"/>
                <a:cs typeface="Times New Roman" panose="02020603050405020304" pitchFamily="18" charset="0"/>
              </a:rPr>
              <a:t>Local Governments Survey </a:t>
            </a:r>
            <a:r>
              <a:rPr lang="en-US" sz="4000" dirty="0">
                <a:latin typeface="Times New Roman" panose="02020603050405020304" pitchFamily="18" charset="0"/>
                <a:cs typeface="Times New Roman" panose="02020603050405020304" pitchFamily="18" charset="0"/>
              </a:rPr>
              <a:t>(ARISE + </a:t>
            </a:r>
            <a:r>
              <a:rPr lang="en-US" sz="4000" dirty="0" err="1">
                <a:latin typeface="Times New Roman" panose="02020603050405020304" pitchFamily="18" charset="0"/>
                <a:cs typeface="Times New Roman" panose="02020603050405020304" pitchFamily="18" charset="0"/>
              </a:rPr>
              <a:t>CivicPulse</a:t>
            </a:r>
            <a:r>
              <a:rPr lang="en-US" sz="4000" dirty="0">
                <a:latin typeface="Times New Roman" panose="02020603050405020304" pitchFamily="18" charset="0"/>
                <a:cs typeface="Times New Roman" panose="02020603050405020304" pitchFamily="18" charset="0"/>
              </a:rPr>
              <a:t> Harmonization)</a:t>
            </a:r>
          </a:p>
          <a:p>
            <a:endParaRPr lang="en-US" sz="3600" dirty="0">
              <a:latin typeface="Times New Roman" panose="02020603050405020304" pitchFamily="18" charset="0"/>
              <a:cs typeface="Times New Roman" panose="02020603050405020304" pitchFamily="18" charset="0"/>
            </a:endParaRPr>
          </a:p>
          <a:p>
            <a:r>
              <a:rPr lang="en-US" sz="4000" dirty="0">
                <a:latin typeface="Times New Roman" panose="02020603050405020304" pitchFamily="18" charset="0"/>
                <a:cs typeface="Times New Roman" panose="02020603050405020304" pitchFamily="18" charset="0"/>
              </a:rPr>
              <a:t>Course Number:CS896</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Team #7- Anudeepthi </a:t>
            </a:r>
            <a:r>
              <a:rPr lang="en-US" sz="4000" dirty="0" err="1">
                <a:latin typeface="Times New Roman" panose="02020603050405020304" pitchFamily="18" charset="0"/>
                <a:cs typeface="Times New Roman" panose="02020603050405020304" pitchFamily="18" charset="0"/>
              </a:rPr>
              <a:t>Chirumamilla</a:t>
            </a:r>
            <a:r>
              <a:rPr lang="en-US" sz="4000" dirty="0">
                <a:latin typeface="Times New Roman" panose="02020603050405020304" pitchFamily="18" charset="0"/>
                <a:cs typeface="Times New Roman" panose="02020603050405020304" pitchFamily="18" charset="0"/>
              </a:rPr>
              <a:t>- Y828R524</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Rupali Avhad - d798z925</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          Teja Sree Mukkapati-Q389W584</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72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8457F-BC40-3D86-675B-98B87592B8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AC6F8-FB56-8143-7FC5-CFC861BF3C82}"/>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This Week Progress Update</a:t>
            </a:r>
          </a:p>
        </p:txBody>
      </p:sp>
      <p:sp>
        <p:nvSpPr>
          <p:cNvPr id="3" name="Content Placeholder 2">
            <a:extLst>
              <a:ext uri="{FF2B5EF4-FFF2-40B4-BE49-F238E27FC236}">
                <a16:creationId xmlns:a16="http://schemas.microsoft.com/office/drawing/2014/main" id="{CC649013-77F4-389C-DBE3-2FE07ACC8FD3}"/>
              </a:ext>
            </a:extLst>
          </p:cNvPr>
          <p:cNvSpPr>
            <a:spLocks noGrp="1"/>
          </p:cNvSpPr>
          <p:nvPr>
            <p:ph idx="1"/>
          </p:nvPr>
        </p:nvSpPr>
        <p:spPr>
          <a:xfrm>
            <a:off x="838200" y="1567930"/>
            <a:ext cx="10515600" cy="4351338"/>
          </a:xfrm>
        </p:spPr>
        <p:txBody>
          <a:bodyPr>
            <a:noAutofit/>
          </a:bodyPr>
          <a:lstStyle/>
          <a:p>
            <a:pPr marL="0" indent="0">
              <a:buNone/>
            </a:pPr>
            <a:r>
              <a:rPr lang="en-US" sz="2400" b="1" dirty="0"/>
              <a:t>This Week Progress Update</a:t>
            </a:r>
            <a:endParaRPr lang="en-US" sz="2400" dirty="0"/>
          </a:p>
          <a:p>
            <a:r>
              <a:rPr lang="en-US" sz="2400" dirty="0"/>
              <a:t>This week, we moved from basic harmonization into deeper analysis of the combined dataset. We added correlation analysis, cross-tabulations, percentage-based comparisons, visualizations, and regression models. These steps helped us better understand the relationship between workforce challenges, fiscal condition, and infrastructure stress across ARISE and </a:t>
            </a:r>
            <a:r>
              <a:rPr lang="en-US" sz="2400" dirty="0" err="1"/>
              <a:t>CivicPulse</a:t>
            </a:r>
            <a:r>
              <a:rPr lang="en-US" sz="2400" dirty="0"/>
              <a:t> data.</a:t>
            </a:r>
          </a:p>
        </p:txBody>
      </p:sp>
    </p:spTree>
    <p:extLst>
      <p:ext uri="{BB962C8B-B14F-4D97-AF65-F5344CB8AC3E}">
        <p14:creationId xmlns:p14="http://schemas.microsoft.com/office/powerpoint/2010/main" val="481323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381C-0E21-2F16-BBA6-EE352568B0A9}"/>
              </a:ext>
            </a:extLst>
          </p:cNvPr>
          <p:cNvSpPr>
            <a:spLocks noGrp="1"/>
          </p:cNvSpPr>
          <p:nvPr>
            <p:ph type="title"/>
          </p:nvPr>
        </p:nvSpPr>
        <p:spPr>
          <a:xfrm>
            <a:off x="2857500" y="301752"/>
            <a:ext cx="8503920" cy="960120"/>
          </a:xfrm>
        </p:spPr>
        <p:txBody>
          <a:bodyPr anchor="ctr">
            <a:normAutofit fontScale="90000"/>
          </a:bodyPr>
          <a:lstStyle/>
          <a:p>
            <a:br>
              <a:rPr lang="en-US" sz="1100" b="1" dirty="0"/>
            </a:br>
            <a:br>
              <a:rPr lang="en-US" sz="1100" b="1" dirty="0"/>
            </a:br>
            <a:r>
              <a:rPr lang="en-US" b="1" dirty="0"/>
              <a:t>Correlation Matrix</a:t>
            </a:r>
            <a:br>
              <a:rPr lang="en-US" sz="1100" b="1" dirty="0"/>
            </a:br>
            <a:br>
              <a:rPr lang="en-US" sz="1100" b="1" dirty="0"/>
            </a:br>
            <a:endParaRPr lang="en-US" sz="1100" dirty="0"/>
          </a:p>
        </p:txBody>
      </p:sp>
      <p:sp>
        <p:nvSpPr>
          <p:cNvPr id="3" name="Content Placeholder 2">
            <a:extLst>
              <a:ext uri="{FF2B5EF4-FFF2-40B4-BE49-F238E27FC236}">
                <a16:creationId xmlns:a16="http://schemas.microsoft.com/office/drawing/2014/main" id="{02D3C856-C625-77CD-9575-900A7C41856C}"/>
              </a:ext>
            </a:extLst>
          </p:cNvPr>
          <p:cNvSpPr>
            <a:spLocks noGrp="1"/>
          </p:cNvSpPr>
          <p:nvPr>
            <p:ph sz="half" idx="1"/>
          </p:nvPr>
        </p:nvSpPr>
        <p:spPr>
          <a:xfrm>
            <a:off x="838200" y="1825625"/>
            <a:ext cx="5181600" cy="4351338"/>
          </a:xfrm>
        </p:spPr>
        <p:txBody>
          <a:bodyPr>
            <a:normAutofit/>
          </a:bodyPr>
          <a:lstStyle/>
          <a:p>
            <a:pPr marL="0" indent="0">
              <a:buNone/>
            </a:pPr>
            <a:r>
              <a:rPr lang="en-US" sz="2000" b="1"/>
              <a:t>Correlation Matrix of Key Variables</a:t>
            </a:r>
            <a:endParaRPr lang="en-US" sz="2000"/>
          </a:p>
          <a:p>
            <a:r>
              <a:rPr lang="en-US" sz="2000"/>
              <a:t>We created a correlation matrix using three main harmonized variables:</a:t>
            </a:r>
          </a:p>
          <a:p>
            <a:r>
              <a:rPr lang="en-US" sz="2000"/>
              <a:t>Workforce challenge level</a:t>
            </a:r>
          </a:p>
          <a:p>
            <a:r>
              <a:rPr lang="en-US" sz="2000"/>
              <a:t>Fiscal condition overall</a:t>
            </a:r>
          </a:p>
          <a:p>
            <a:r>
              <a:rPr lang="en-US" sz="2000"/>
              <a:t>Infrastructure finance stress index</a:t>
            </a:r>
          </a:p>
          <a:p>
            <a:r>
              <a:rPr lang="en-US" sz="2000"/>
              <a:t>This helped us measure how strongly these variables are related. The results showed that some relationships are weak, while others are more meaningful. Correlation analysis gave us a quick overall view before moving into more detailed comparisons and regression analysis.</a:t>
            </a:r>
          </a:p>
          <a:p>
            <a:endParaRPr lang="en-US" sz="2000"/>
          </a:p>
        </p:txBody>
      </p:sp>
      <p:pic>
        <p:nvPicPr>
          <p:cNvPr id="4" name="Picture 3">
            <a:extLst>
              <a:ext uri="{FF2B5EF4-FFF2-40B4-BE49-F238E27FC236}">
                <a16:creationId xmlns:a16="http://schemas.microsoft.com/office/drawing/2014/main" id="{FBDF451A-3235-D51A-C42C-05AA1E02B7B0}"/>
              </a:ext>
            </a:extLst>
          </p:cNvPr>
          <p:cNvPicPr>
            <a:picLocks noChangeAspect="1"/>
          </p:cNvPicPr>
          <p:nvPr/>
        </p:nvPicPr>
        <p:blipFill>
          <a:blip r:embed="rId2"/>
          <a:stretch>
            <a:fillRect/>
          </a:stretch>
        </p:blipFill>
        <p:spPr>
          <a:xfrm>
            <a:off x="6019800" y="2030279"/>
            <a:ext cx="5334000" cy="1689106"/>
          </a:xfrm>
          <a:prstGeom prst="rect">
            <a:avLst/>
          </a:prstGeom>
          <a:noFill/>
        </p:spPr>
      </p:pic>
    </p:spTree>
    <p:extLst>
      <p:ext uri="{BB962C8B-B14F-4D97-AF65-F5344CB8AC3E}">
        <p14:creationId xmlns:p14="http://schemas.microsoft.com/office/powerpoint/2010/main" val="3877258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D21EA-11B5-A504-7ED4-38B105A1DE68}"/>
              </a:ext>
            </a:extLst>
          </p:cNvPr>
          <p:cNvSpPr>
            <a:spLocks noGrp="1"/>
          </p:cNvSpPr>
          <p:nvPr>
            <p:ph type="title"/>
          </p:nvPr>
        </p:nvSpPr>
        <p:spPr>
          <a:xfrm>
            <a:off x="2857500" y="301752"/>
            <a:ext cx="8503920" cy="960120"/>
          </a:xfrm>
        </p:spPr>
        <p:txBody>
          <a:bodyPr anchor="ctr">
            <a:normAutofit fontScale="90000"/>
          </a:bodyPr>
          <a:lstStyle/>
          <a:p>
            <a:r>
              <a:rPr lang="en-US" sz="2100" b="1" dirty="0"/>
              <a:t> </a:t>
            </a:r>
            <a:br>
              <a:rPr lang="en-US" sz="2100" b="1" dirty="0"/>
            </a:br>
            <a:r>
              <a:rPr lang="en-US" sz="4000" b="1" dirty="0"/>
              <a:t>Cross-Tabulations</a:t>
            </a:r>
            <a:br>
              <a:rPr lang="en-US" sz="2100" b="1" dirty="0"/>
            </a:br>
            <a:endParaRPr lang="en-US" sz="2100" dirty="0"/>
          </a:p>
        </p:txBody>
      </p:sp>
      <p:sp>
        <p:nvSpPr>
          <p:cNvPr id="3" name="Content Placeholder 2">
            <a:extLst>
              <a:ext uri="{FF2B5EF4-FFF2-40B4-BE49-F238E27FC236}">
                <a16:creationId xmlns:a16="http://schemas.microsoft.com/office/drawing/2014/main" id="{35BF0E80-96F1-B2DA-EA1D-D575818CD5BA}"/>
              </a:ext>
            </a:extLst>
          </p:cNvPr>
          <p:cNvSpPr>
            <a:spLocks noGrp="1"/>
          </p:cNvSpPr>
          <p:nvPr>
            <p:ph sz="half" idx="1"/>
          </p:nvPr>
        </p:nvSpPr>
        <p:spPr>
          <a:xfrm>
            <a:off x="838200" y="1825625"/>
            <a:ext cx="5181600" cy="4351338"/>
          </a:xfrm>
        </p:spPr>
        <p:txBody>
          <a:bodyPr>
            <a:normAutofit/>
          </a:bodyPr>
          <a:lstStyle/>
          <a:p>
            <a:pPr marL="0" indent="0">
              <a:buNone/>
            </a:pPr>
            <a:r>
              <a:rPr lang="en-US" sz="2200" b="1"/>
              <a:t>Cross-Tabulations for Category Comparison</a:t>
            </a:r>
            <a:endParaRPr lang="en-US" sz="2200"/>
          </a:p>
          <a:p>
            <a:r>
              <a:rPr lang="en-US" sz="2200"/>
              <a:t>We created cross-tabulations to compare workforce challenge levels with:</a:t>
            </a:r>
          </a:p>
          <a:p>
            <a:r>
              <a:rPr lang="en-US" sz="2200"/>
              <a:t>Fiscal condition</a:t>
            </a:r>
          </a:p>
          <a:p>
            <a:r>
              <a:rPr lang="en-US" sz="2200"/>
              <a:t>Dataset source</a:t>
            </a:r>
          </a:p>
          <a:p>
            <a:r>
              <a:rPr lang="en-US" sz="2200"/>
              <a:t>Infrastructure stress group</a:t>
            </a:r>
          </a:p>
          <a:p>
            <a:r>
              <a:rPr lang="en-US" sz="2200"/>
              <a:t>These tables helped us see how response levels are distributed across categories. Instead of only looking at averages, cross-tabs showed the actual count patterns in the data, which makes comparisons more meaningful and easier to interpret.</a:t>
            </a:r>
          </a:p>
          <a:p>
            <a:endParaRPr lang="en-US" sz="2200"/>
          </a:p>
        </p:txBody>
      </p:sp>
      <p:pic>
        <p:nvPicPr>
          <p:cNvPr id="4" name="Picture 3" descr="A screenshot of a computer screen&#10;&#10;AI-generated content may be incorrect.">
            <a:extLst>
              <a:ext uri="{FF2B5EF4-FFF2-40B4-BE49-F238E27FC236}">
                <a16:creationId xmlns:a16="http://schemas.microsoft.com/office/drawing/2014/main" id="{54A7B031-DA67-8F08-929E-F8A212E45508}"/>
              </a:ext>
            </a:extLst>
          </p:cNvPr>
          <p:cNvPicPr>
            <a:picLocks noChangeAspect="1"/>
          </p:cNvPicPr>
          <p:nvPr/>
        </p:nvPicPr>
        <p:blipFill>
          <a:blip r:embed="rId2"/>
          <a:stretch>
            <a:fillRect/>
          </a:stretch>
        </p:blipFill>
        <p:spPr>
          <a:xfrm>
            <a:off x="7348815" y="1825625"/>
            <a:ext cx="2828369" cy="4351338"/>
          </a:xfrm>
          <a:prstGeom prst="rect">
            <a:avLst/>
          </a:prstGeom>
          <a:noFill/>
        </p:spPr>
      </p:pic>
    </p:spTree>
    <p:extLst>
      <p:ext uri="{BB962C8B-B14F-4D97-AF65-F5344CB8AC3E}">
        <p14:creationId xmlns:p14="http://schemas.microsoft.com/office/powerpoint/2010/main" val="2407890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32FCB-7B4D-A724-E06F-E8B74AE6D98B}"/>
              </a:ext>
            </a:extLst>
          </p:cNvPr>
          <p:cNvSpPr>
            <a:spLocks noGrp="1"/>
          </p:cNvSpPr>
          <p:nvPr>
            <p:ph type="title"/>
          </p:nvPr>
        </p:nvSpPr>
        <p:spPr>
          <a:xfrm>
            <a:off x="2857500" y="301752"/>
            <a:ext cx="8503920" cy="960120"/>
          </a:xfrm>
        </p:spPr>
        <p:txBody>
          <a:bodyPr anchor="ctr">
            <a:normAutofit fontScale="90000"/>
          </a:bodyPr>
          <a:lstStyle/>
          <a:p>
            <a:br>
              <a:rPr lang="en-US" sz="2100" b="1" dirty="0"/>
            </a:br>
            <a:r>
              <a:rPr lang="en-US" sz="4000" b="1" dirty="0"/>
              <a:t>Cleaned Cross-Tabs</a:t>
            </a:r>
            <a:br>
              <a:rPr lang="en-US" sz="2100" b="1" dirty="0"/>
            </a:br>
            <a:endParaRPr lang="en-US" sz="2100" dirty="0"/>
          </a:p>
        </p:txBody>
      </p:sp>
      <p:sp>
        <p:nvSpPr>
          <p:cNvPr id="3" name="Content Placeholder 2">
            <a:extLst>
              <a:ext uri="{FF2B5EF4-FFF2-40B4-BE49-F238E27FC236}">
                <a16:creationId xmlns:a16="http://schemas.microsoft.com/office/drawing/2014/main" id="{3F5811E7-4B30-84E9-5230-CF5DCCA10C4C}"/>
              </a:ext>
            </a:extLst>
          </p:cNvPr>
          <p:cNvSpPr>
            <a:spLocks noGrp="1"/>
          </p:cNvSpPr>
          <p:nvPr>
            <p:ph sz="half" idx="1"/>
          </p:nvPr>
        </p:nvSpPr>
        <p:spPr>
          <a:xfrm>
            <a:off x="838200" y="1825625"/>
            <a:ext cx="5181600" cy="4351338"/>
          </a:xfrm>
        </p:spPr>
        <p:txBody>
          <a:bodyPr>
            <a:normAutofit/>
          </a:bodyPr>
          <a:lstStyle/>
          <a:p>
            <a:pPr marL="0" indent="0">
              <a:buNone/>
            </a:pPr>
            <a:r>
              <a:rPr lang="en-US" sz="2000" b="1"/>
              <a:t>Cleaned Cross-Tabs for Better Clarity</a:t>
            </a:r>
            <a:endParaRPr lang="en-US" sz="2000"/>
          </a:p>
          <a:p>
            <a:r>
              <a:rPr lang="en-US" sz="2000"/>
              <a:t>After generating the original cross-tabs, we cleaned them by removing </a:t>
            </a:r>
            <a:r>
              <a:rPr lang="en-US" sz="2000" err="1"/>
              <a:t>NaN</a:t>
            </a:r>
            <a:r>
              <a:rPr lang="en-US" sz="2000"/>
              <a:t> values for better readability. This made the tables clearer and easier to present. The cleaned cross-tabs gave a more structured view of:</a:t>
            </a:r>
          </a:p>
          <a:p>
            <a:r>
              <a:rPr lang="en-US" sz="2000"/>
              <a:t>Workforce challenge vs fiscal condition</a:t>
            </a:r>
          </a:p>
          <a:p>
            <a:r>
              <a:rPr lang="en-US" sz="2000"/>
              <a:t>Workforce challenge vs dataset</a:t>
            </a:r>
          </a:p>
          <a:p>
            <a:r>
              <a:rPr lang="en-US" sz="2000"/>
              <a:t>Workforce challenge vs infrastructure stress</a:t>
            </a:r>
          </a:p>
          <a:p>
            <a:r>
              <a:rPr lang="en-US" sz="2000"/>
              <a:t>This step improved the quality of interpretation and presentation.</a:t>
            </a:r>
          </a:p>
          <a:p>
            <a:endParaRPr lang="en-US" sz="2000"/>
          </a:p>
        </p:txBody>
      </p:sp>
      <p:pic>
        <p:nvPicPr>
          <p:cNvPr id="4" name="Picture 3" descr="A screenshot of a table&#10;&#10;AI-generated content may be incorrect.">
            <a:extLst>
              <a:ext uri="{FF2B5EF4-FFF2-40B4-BE49-F238E27FC236}">
                <a16:creationId xmlns:a16="http://schemas.microsoft.com/office/drawing/2014/main" id="{09EC1CFC-4EC1-58A5-0015-8B6C408EB270}"/>
              </a:ext>
            </a:extLst>
          </p:cNvPr>
          <p:cNvPicPr>
            <a:picLocks noChangeAspect="1"/>
          </p:cNvPicPr>
          <p:nvPr/>
        </p:nvPicPr>
        <p:blipFill>
          <a:blip r:embed="rId2"/>
          <a:stretch>
            <a:fillRect/>
          </a:stretch>
        </p:blipFill>
        <p:spPr>
          <a:xfrm>
            <a:off x="7305302" y="1825625"/>
            <a:ext cx="2915395" cy="4351338"/>
          </a:xfrm>
          <a:prstGeom prst="rect">
            <a:avLst/>
          </a:prstGeom>
          <a:noFill/>
        </p:spPr>
      </p:pic>
    </p:spTree>
    <p:extLst>
      <p:ext uri="{BB962C8B-B14F-4D97-AF65-F5344CB8AC3E}">
        <p14:creationId xmlns:p14="http://schemas.microsoft.com/office/powerpoint/2010/main" val="953512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19C8-502B-046D-675D-0F5712376196}"/>
              </a:ext>
            </a:extLst>
          </p:cNvPr>
          <p:cNvSpPr>
            <a:spLocks noGrp="1"/>
          </p:cNvSpPr>
          <p:nvPr>
            <p:ph type="title"/>
          </p:nvPr>
        </p:nvSpPr>
        <p:spPr>
          <a:xfrm>
            <a:off x="2857500" y="301752"/>
            <a:ext cx="8503920" cy="960120"/>
          </a:xfrm>
        </p:spPr>
        <p:txBody>
          <a:bodyPr anchor="ctr">
            <a:normAutofit fontScale="90000"/>
          </a:bodyPr>
          <a:lstStyle/>
          <a:p>
            <a:br>
              <a:rPr lang="en-US" sz="2100" b="1" dirty="0"/>
            </a:br>
            <a:r>
              <a:rPr lang="en-US" sz="4000" b="1" dirty="0"/>
              <a:t>Percentage Cross-Tabs</a:t>
            </a:r>
            <a:br>
              <a:rPr lang="en-US" sz="2100" b="1" dirty="0"/>
            </a:br>
            <a:endParaRPr lang="en-US" sz="2100" dirty="0"/>
          </a:p>
        </p:txBody>
      </p:sp>
      <p:sp>
        <p:nvSpPr>
          <p:cNvPr id="3" name="Content Placeholder 2">
            <a:extLst>
              <a:ext uri="{FF2B5EF4-FFF2-40B4-BE49-F238E27FC236}">
                <a16:creationId xmlns:a16="http://schemas.microsoft.com/office/drawing/2014/main" id="{BBE90B26-CF01-4160-4D13-5EC301FBC84A}"/>
              </a:ext>
            </a:extLst>
          </p:cNvPr>
          <p:cNvSpPr>
            <a:spLocks noGrp="1"/>
          </p:cNvSpPr>
          <p:nvPr>
            <p:ph sz="half" idx="1"/>
          </p:nvPr>
        </p:nvSpPr>
        <p:spPr>
          <a:xfrm>
            <a:off x="838200" y="1825625"/>
            <a:ext cx="5181600" cy="4351338"/>
          </a:xfrm>
        </p:spPr>
        <p:txBody>
          <a:bodyPr>
            <a:normAutofit/>
          </a:bodyPr>
          <a:lstStyle/>
          <a:p>
            <a:pPr marL="0" indent="0">
              <a:buNone/>
            </a:pPr>
            <a:r>
              <a:rPr lang="en-US" sz="2400" b="1"/>
              <a:t>Percentage-Based Cross-Tab Analysis</a:t>
            </a:r>
            <a:endParaRPr lang="en-US" sz="2400"/>
          </a:p>
          <a:p>
            <a:r>
              <a:rPr lang="en-US" sz="2400"/>
              <a:t>We also converted selected cross-tabulations into row percentages. This helped us understand proportions instead of only counts. Percentage cross-tabs were useful because they showed how responses are distributed within each workforce challenge level. This makes the comparison more balanced, especially when groups have different sizes.</a:t>
            </a:r>
          </a:p>
          <a:p>
            <a:endParaRPr lang="en-US" sz="2400"/>
          </a:p>
        </p:txBody>
      </p:sp>
      <p:pic>
        <p:nvPicPr>
          <p:cNvPr id="4" name="Picture 3" descr="A screenshot of a computer screen&#10;&#10;AI-generated content may be incorrect.">
            <a:extLst>
              <a:ext uri="{FF2B5EF4-FFF2-40B4-BE49-F238E27FC236}">
                <a16:creationId xmlns:a16="http://schemas.microsoft.com/office/drawing/2014/main" id="{C16CA821-6C19-16FB-AFF3-57B9A2483999}"/>
              </a:ext>
            </a:extLst>
          </p:cNvPr>
          <p:cNvPicPr>
            <a:picLocks noChangeAspect="1"/>
          </p:cNvPicPr>
          <p:nvPr/>
        </p:nvPicPr>
        <p:blipFill>
          <a:blip r:embed="rId2"/>
          <a:stretch>
            <a:fillRect/>
          </a:stretch>
        </p:blipFill>
        <p:spPr>
          <a:xfrm>
            <a:off x="6172200" y="1954562"/>
            <a:ext cx="5181600" cy="4093463"/>
          </a:xfrm>
          <a:prstGeom prst="rect">
            <a:avLst/>
          </a:prstGeom>
          <a:noFill/>
        </p:spPr>
      </p:pic>
    </p:spTree>
    <p:extLst>
      <p:ext uri="{BB962C8B-B14F-4D97-AF65-F5344CB8AC3E}">
        <p14:creationId xmlns:p14="http://schemas.microsoft.com/office/powerpoint/2010/main" val="1080499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B2811-F86D-AD15-277A-CFB9A1E5E266}"/>
              </a:ext>
            </a:extLst>
          </p:cNvPr>
          <p:cNvSpPr>
            <a:spLocks noGrp="1"/>
          </p:cNvSpPr>
          <p:nvPr>
            <p:ph type="title"/>
          </p:nvPr>
        </p:nvSpPr>
        <p:spPr>
          <a:xfrm>
            <a:off x="2857500" y="301752"/>
            <a:ext cx="8503920" cy="960120"/>
          </a:xfrm>
        </p:spPr>
        <p:txBody>
          <a:bodyPr anchor="ctr">
            <a:normAutofit fontScale="90000"/>
          </a:bodyPr>
          <a:lstStyle/>
          <a:p>
            <a:br>
              <a:rPr lang="en-US" sz="2100" b="1" dirty="0"/>
            </a:br>
            <a:r>
              <a:rPr lang="en-US" sz="4000" b="1" dirty="0"/>
              <a:t>Stacked Bar Chart: Workforce by Source</a:t>
            </a:r>
            <a:br>
              <a:rPr lang="en-US" sz="2100" b="1" dirty="0"/>
            </a:br>
            <a:endParaRPr lang="en-US" sz="2100" dirty="0"/>
          </a:p>
        </p:txBody>
      </p:sp>
      <p:sp>
        <p:nvSpPr>
          <p:cNvPr id="3" name="Content Placeholder 2">
            <a:extLst>
              <a:ext uri="{FF2B5EF4-FFF2-40B4-BE49-F238E27FC236}">
                <a16:creationId xmlns:a16="http://schemas.microsoft.com/office/drawing/2014/main" id="{5DFE6F12-8649-E41E-BDDD-C69C7D6B03D4}"/>
              </a:ext>
            </a:extLst>
          </p:cNvPr>
          <p:cNvSpPr>
            <a:spLocks noGrp="1"/>
          </p:cNvSpPr>
          <p:nvPr>
            <p:ph sz="half" idx="1"/>
          </p:nvPr>
        </p:nvSpPr>
        <p:spPr>
          <a:xfrm>
            <a:off x="838200" y="1825625"/>
            <a:ext cx="5181600" cy="4351338"/>
          </a:xfrm>
        </p:spPr>
        <p:txBody>
          <a:bodyPr>
            <a:normAutofit/>
          </a:bodyPr>
          <a:lstStyle/>
          <a:p>
            <a:pPr marL="0" indent="0">
              <a:buNone/>
            </a:pPr>
            <a:r>
              <a:rPr lang="en-US" sz="2400" b="1"/>
              <a:t>Workforce Challenge Levels by Dataset Source</a:t>
            </a:r>
            <a:endParaRPr lang="en-US" sz="2400"/>
          </a:p>
          <a:p>
            <a:r>
              <a:rPr lang="en-US" sz="2400"/>
              <a:t>We created a stacked bar chart to compare workforce challenge levels across ARISE and </a:t>
            </a:r>
            <a:r>
              <a:rPr lang="en-US" sz="2400" err="1"/>
              <a:t>CivicPulse</a:t>
            </a:r>
            <a:r>
              <a:rPr lang="en-US" sz="2400"/>
              <a:t>. This visualization helps show how the two datasets differ in response distribution. It gives a quick visual comparison of whether one dataset reports more high or low workforce challenge levels than the other.</a:t>
            </a:r>
          </a:p>
          <a:p>
            <a:endParaRPr lang="en-US" sz="2400"/>
          </a:p>
        </p:txBody>
      </p:sp>
      <p:pic>
        <p:nvPicPr>
          <p:cNvPr id="4" name="Picture 3" descr="A graph of a graph with blue and orange bars&#10;&#10;AI-generated content may be incorrect.">
            <a:extLst>
              <a:ext uri="{FF2B5EF4-FFF2-40B4-BE49-F238E27FC236}">
                <a16:creationId xmlns:a16="http://schemas.microsoft.com/office/drawing/2014/main" id="{89C8B649-5866-C699-239D-B3D4E4F6B96E}"/>
              </a:ext>
            </a:extLst>
          </p:cNvPr>
          <p:cNvPicPr>
            <a:picLocks noChangeAspect="1"/>
          </p:cNvPicPr>
          <p:nvPr/>
        </p:nvPicPr>
        <p:blipFill>
          <a:blip r:embed="rId2"/>
          <a:stretch>
            <a:fillRect/>
          </a:stretch>
        </p:blipFill>
        <p:spPr>
          <a:xfrm>
            <a:off x="6172200" y="2466246"/>
            <a:ext cx="5181600" cy="3070096"/>
          </a:xfrm>
          <a:prstGeom prst="rect">
            <a:avLst/>
          </a:prstGeom>
          <a:noFill/>
        </p:spPr>
      </p:pic>
    </p:spTree>
    <p:extLst>
      <p:ext uri="{BB962C8B-B14F-4D97-AF65-F5344CB8AC3E}">
        <p14:creationId xmlns:p14="http://schemas.microsoft.com/office/powerpoint/2010/main" val="1376405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23574-6735-B2F9-771A-86D78A2DA785}"/>
              </a:ext>
            </a:extLst>
          </p:cNvPr>
          <p:cNvSpPr>
            <a:spLocks noGrp="1"/>
          </p:cNvSpPr>
          <p:nvPr>
            <p:ph type="title"/>
          </p:nvPr>
        </p:nvSpPr>
        <p:spPr>
          <a:xfrm>
            <a:off x="2857500" y="301752"/>
            <a:ext cx="8503920" cy="960120"/>
          </a:xfrm>
        </p:spPr>
        <p:txBody>
          <a:bodyPr anchor="ctr">
            <a:normAutofit fontScale="90000"/>
          </a:bodyPr>
          <a:lstStyle/>
          <a:p>
            <a:r>
              <a:rPr lang="en-US" sz="2100" b="1" dirty="0"/>
              <a:t> </a:t>
            </a:r>
            <a:br>
              <a:rPr lang="en-US" sz="2100" b="1" dirty="0"/>
            </a:br>
            <a:r>
              <a:rPr lang="en-US" sz="4000" b="1" dirty="0"/>
              <a:t>Stacked Bar Chart: Workforce vs Fiscal Condition</a:t>
            </a:r>
            <a:br>
              <a:rPr lang="en-US" sz="2100" b="1" dirty="0"/>
            </a:br>
            <a:endParaRPr lang="en-US" sz="2100" dirty="0"/>
          </a:p>
        </p:txBody>
      </p:sp>
      <p:sp>
        <p:nvSpPr>
          <p:cNvPr id="3" name="Content Placeholder 2">
            <a:extLst>
              <a:ext uri="{FF2B5EF4-FFF2-40B4-BE49-F238E27FC236}">
                <a16:creationId xmlns:a16="http://schemas.microsoft.com/office/drawing/2014/main" id="{A6388C35-D290-9039-FA52-8734FD71D75E}"/>
              </a:ext>
            </a:extLst>
          </p:cNvPr>
          <p:cNvSpPr>
            <a:spLocks noGrp="1"/>
          </p:cNvSpPr>
          <p:nvPr>
            <p:ph sz="half" idx="1"/>
          </p:nvPr>
        </p:nvSpPr>
        <p:spPr>
          <a:xfrm>
            <a:off x="838200" y="1825625"/>
            <a:ext cx="5181600" cy="4351338"/>
          </a:xfrm>
        </p:spPr>
        <p:txBody>
          <a:bodyPr>
            <a:normAutofit/>
          </a:bodyPr>
          <a:lstStyle/>
          <a:p>
            <a:pPr marL="0" indent="0">
              <a:buNone/>
            </a:pPr>
            <a:r>
              <a:rPr lang="en-US" sz="2400" b="1" dirty="0"/>
              <a:t>Workforce Challenge vs Fiscal Condition</a:t>
            </a:r>
            <a:endParaRPr lang="en-US" sz="2400" dirty="0"/>
          </a:p>
          <a:p>
            <a:r>
              <a:rPr lang="en-US" sz="2400" dirty="0"/>
              <a:t>We created another stacked bar chart to compare workforce challenge levels against fiscal condition levels. This chart helps us visually examine whether higher workforce challenges tend to appear alongside particular fiscal condition categories. It supports the cross-tab results and makes the relationship easier to explain in presentation form.</a:t>
            </a:r>
          </a:p>
          <a:p>
            <a:endParaRPr lang="en-US" sz="2400" dirty="0"/>
          </a:p>
        </p:txBody>
      </p:sp>
      <p:pic>
        <p:nvPicPr>
          <p:cNvPr id="4" name="Picture 3" descr="A graph of different colored bars&#10;&#10;AI-generated content may be incorrect.">
            <a:extLst>
              <a:ext uri="{FF2B5EF4-FFF2-40B4-BE49-F238E27FC236}">
                <a16:creationId xmlns:a16="http://schemas.microsoft.com/office/drawing/2014/main" id="{968D9197-0262-2695-66E8-812E4D24CF96}"/>
              </a:ext>
            </a:extLst>
          </p:cNvPr>
          <p:cNvPicPr>
            <a:picLocks noChangeAspect="1"/>
          </p:cNvPicPr>
          <p:nvPr/>
        </p:nvPicPr>
        <p:blipFill>
          <a:blip r:embed="rId2"/>
          <a:stretch>
            <a:fillRect/>
          </a:stretch>
        </p:blipFill>
        <p:spPr>
          <a:xfrm>
            <a:off x="6172200" y="2343182"/>
            <a:ext cx="5181600" cy="3316224"/>
          </a:xfrm>
          <a:prstGeom prst="rect">
            <a:avLst/>
          </a:prstGeom>
          <a:noFill/>
        </p:spPr>
      </p:pic>
    </p:spTree>
    <p:extLst>
      <p:ext uri="{BB962C8B-B14F-4D97-AF65-F5344CB8AC3E}">
        <p14:creationId xmlns:p14="http://schemas.microsoft.com/office/powerpoint/2010/main" val="3782975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47F5A-ADB6-3C85-BA1C-1CAC4D18C623}"/>
              </a:ext>
            </a:extLst>
          </p:cNvPr>
          <p:cNvSpPr>
            <a:spLocks noGrp="1"/>
          </p:cNvSpPr>
          <p:nvPr>
            <p:ph type="title"/>
          </p:nvPr>
        </p:nvSpPr>
        <p:spPr>
          <a:xfrm>
            <a:off x="2857500" y="301752"/>
            <a:ext cx="8503920" cy="960120"/>
          </a:xfrm>
        </p:spPr>
        <p:txBody>
          <a:bodyPr anchor="ctr">
            <a:normAutofit fontScale="90000"/>
          </a:bodyPr>
          <a:lstStyle/>
          <a:p>
            <a:br>
              <a:rPr lang="en-US" sz="2100" b="1" dirty="0"/>
            </a:br>
            <a:r>
              <a:rPr lang="en-US" sz="4000" b="1" dirty="0"/>
              <a:t>Scatter Plot Analysis</a:t>
            </a:r>
            <a:br>
              <a:rPr lang="en-US" sz="2100" b="1" dirty="0"/>
            </a:br>
            <a:endParaRPr lang="en-US" sz="2100" dirty="0"/>
          </a:p>
        </p:txBody>
      </p:sp>
      <p:sp>
        <p:nvSpPr>
          <p:cNvPr id="3" name="Content Placeholder 2">
            <a:extLst>
              <a:ext uri="{FF2B5EF4-FFF2-40B4-BE49-F238E27FC236}">
                <a16:creationId xmlns:a16="http://schemas.microsoft.com/office/drawing/2014/main" id="{ED91FD00-F75F-CCBE-43DD-096A5FDA34ED}"/>
              </a:ext>
            </a:extLst>
          </p:cNvPr>
          <p:cNvSpPr>
            <a:spLocks noGrp="1"/>
          </p:cNvSpPr>
          <p:nvPr>
            <p:ph sz="half" idx="1"/>
          </p:nvPr>
        </p:nvSpPr>
        <p:spPr>
          <a:xfrm>
            <a:off x="838200" y="1825625"/>
            <a:ext cx="5181600" cy="4351338"/>
          </a:xfrm>
        </p:spPr>
        <p:txBody>
          <a:bodyPr>
            <a:normAutofit/>
          </a:bodyPr>
          <a:lstStyle/>
          <a:p>
            <a:pPr marL="0" indent="0">
              <a:buNone/>
            </a:pPr>
            <a:r>
              <a:rPr lang="en-US" sz="2400" b="1"/>
              <a:t>Scatter Plot of Workforce Challenge and Fiscal Condition</a:t>
            </a:r>
            <a:endParaRPr lang="en-US" sz="2400"/>
          </a:p>
          <a:p>
            <a:r>
              <a:rPr lang="en-US" sz="2400"/>
              <a:t>We used scatter plots to visually explore the relationship between workforce challenge level and fiscal condition overall. Scatter plots helped us see whether the relationship is strong, weak, positive, or negative. From the graph, the pattern appears present but not very strong, which matches the weaker correlation values seen earlier.</a:t>
            </a:r>
          </a:p>
          <a:p>
            <a:endParaRPr lang="en-US" sz="2400"/>
          </a:p>
        </p:txBody>
      </p:sp>
      <p:pic>
        <p:nvPicPr>
          <p:cNvPr id="4" name="Picture 3" descr="A graph of blue dots&#10;&#10;AI-generated content may be incorrect.">
            <a:extLst>
              <a:ext uri="{FF2B5EF4-FFF2-40B4-BE49-F238E27FC236}">
                <a16:creationId xmlns:a16="http://schemas.microsoft.com/office/drawing/2014/main" id="{CEF43478-07F1-A64D-C405-9055DB9F5320}"/>
              </a:ext>
            </a:extLst>
          </p:cNvPr>
          <p:cNvPicPr>
            <a:picLocks noChangeAspect="1"/>
          </p:cNvPicPr>
          <p:nvPr/>
        </p:nvPicPr>
        <p:blipFill>
          <a:blip r:embed="rId2"/>
          <a:stretch>
            <a:fillRect/>
          </a:stretch>
        </p:blipFill>
        <p:spPr>
          <a:xfrm>
            <a:off x="6172200" y="2518061"/>
            <a:ext cx="5181600" cy="2966466"/>
          </a:xfrm>
          <a:prstGeom prst="rect">
            <a:avLst/>
          </a:prstGeom>
          <a:noFill/>
        </p:spPr>
      </p:pic>
    </p:spTree>
    <p:extLst>
      <p:ext uri="{BB962C8B-B14F-4D97-AF65-F5344CB8AC3E}">
        <p14:creationId xmlns:p14="http://schemas.microsoft.com/office/powerpoint/2010/main" val="2085087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9BBB8-A89E-93C0-D838-2E9C02E30855}"/>
              </a:ext>
            </a:extLst>
          </p:cNvPr>
          <p:cNvSpPr>
            <a:spLocks noGrp="1"/>
          </p:cNvSpPr>
          <p:nvPr>
            <p:ph type="title"/>
          </p:nvPr>
        </p:nvSpPr>
        <p:spPr/>
        <p:txBody>
          <a:bodyPr>
            <a:normAutofit fontScale="90000"/>
          </a:bodyPr>
          <a:lstStyle/>
          <a:p>
            <a:br>
              <a:rPr lang="en-US" b="1" dirty="0"/>
            </a:br>
            <a:r>
              <a:rPr lang="en-US" b="1" dirty="0"/>
              <a:t>Separate Regression by Dataset</a:t>
            </a:r>
            <a:br>
              <a:rPr lang="en-US" b="1" dirty="0"/>
            </a:br>
            <a:endParaRPr lang="en-US" dirty="0"/>
          </a:p>
        </p:txBody>
      </p:sp>
      <p:sp>
        <p:nvSpPr>
          <p:cNvPr id="3" name="Content Placeholder 2">
            <a:extLst>
              <a:ext uri="{FF2B5EF4-FFF2-40B4-BE49-F238E27FC236}">
                <a16:creationId xmlns:a16="http://schemas.microsoft.com/office/drawing/2014/main" id="{557B2E40-FD0E-39D8-023B-1C3FA65D010D}"/>
              </a:ext>
            </a:extLst>
          </p:cNvPr>
          <p:cNvSpPr>
            <a:spLocks noGrp="1"/>
          </p:cNvSpPr>
          <p:nvPr>
            <p:ph idx="1"/>
          </p:nvPr>
        </p:nvSpPr>
        <p:spPr/>
        <p:txBody>
          <a:bodyPr>
            <a:normAutofit/>
          </a:bodyPr>
          <a:lstStyle/>
          <a:p>
            <a:pPr marL="0" indent="0">
              <a:buNone/>
            </a:pPr>
            <a:r>
              <a:rPr lang="en-US" b="1" dirty="0"/>
              <a:t>Separate Regression Models for ARISE and </a:t>
            </a:r>
            <a:r>
              <a:rPr lang="en-US" b="1" dirty="0" err="1"/>
              <a:t>CivicPulse</a:t>
            </a:r>
            <a:endParaRPr lang="en-US" dirty="0"/>
          </a:p>
          <a:p>
            <a:r>
              <a:rPr lang="en-US" dirty="0"/>
              <a:t>We ran separate regression models for each dataset to see whether workforce challenge and infrastructure stress influence fiscal condition differently in ARISE and </a:t>
            </a:r>
            <a:r>
              <a:rPr lang="en-US" dirty="0" err="1"/>
              <a:t>CivicPulse</a:t>
            </a:r>
            <a:r>
              <a:rPr lang="en-US" dirty="0"/>
              <a:t>.</a:t>
            </a:r>
          </a:p>
          <a:p>
            <a:r>
              <a:rPr lang="en-US" dirty="0"/>
              <a:t>This helped us compare dataset-specific patterns instead of assuming both surveys behave in the same way. The results suggest that some relationships, especially infrastructure stress, can appear differently depending on which dataset is analyzed.</a:t>
            </a:r>
          </a:p>
          <a:p>
            <a:endParaRPr lang="en-US" dirty="0"/>
          </a:p>
        </p:txBody>
      </p:sp>
    </p:spTree>
    <p:extLst>
      <p:ext uri="{BB962C8B-B14F-4D97-AF65-F5344CB8AC3E}">
        <p14:creationId xmlns:p14="http://schemas.microsoft.com/office/powerpoint/2010/main" val="1790553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05F61-C1FE-80F9-A434-D6B33A23AC17}"/>
              </a:ext>
            </a:extLst>
          </p:cNvPr>
          <p:cNvSpPr>
            <a:spLocks noGrp="1"/>
          </p:cNvSpPr>
          <p:nvPr>
            <p:ph type="title"/>
          </p:nvPr>
        </p:nvSpPr>
        <p:spPr/>
        <p:txBody>
          <a:bodyPr/>
          <a:lstStyle/>
          <a:p>
            <a:r>
              <a:rPr lang="en-US" dirty="0"/>
              <a:t>ARISE &amp;Civic Pulse- Dataset</a:t>
            </a:r>
          </a:p>
        </p:txBody>
      </p:sp>
      <p:pic>
        <p:nvPicPr>
          <p:cNvPr id="4" name="Content Placeholder 3">
            <a:extLst>
              <a:ext uri="{FF2B5EF4-FFF2-40B4-BE49-F238E27FC236}">
                <a16:creationId xmlns:a16="http://schemas.microsoft.com/office/drawing/2014/main" id="{9E3AB4A5-3B8A-5973-2778-D6D70A60FEDF}"/>
              </a:ext>
            </a:extLst>
          </p:cNvPr>
          <p:cNvPicPr>
            <a:picLocks noGrp="1" noChangeAspect="1"/>
          </p:cNvPicPr>
          <p:nvPr>
            <p:ph idx="1"/>
          </p:nvPr>
        </p:nvPicPr>
        <p:blipFill>
          <a:blip r:embed="rId2"/>
          <a:stretch>
            <a:fillRect/>
          </a:stretch>
        </p:blipFill>
        <p:spPr>
          <a:xfrm>
            <a:off x="4317524" y="1825625"/>
            <a:ext cx="3556952" cy="4351338"/>
          </a:xfrm>
          <a:prstGeom prst="rect">
            <a:avLst/>
          </a:prstGeom>
        </p:spPr>
      </p:pic>
    </p:spTree>
    <p:extLst>
      <p:ext uri="{BB962C8B-B14F-4D97-AF65-F5344CB8AC3E}">
        <p14:creationId xmlns:p14="http://schemas.microsoft.com/office/powerpoint/2010/main" val="592404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F72C8-9A20-00F5-5D8D-E7C9105ABA26}"/>
              </a:ext>
            </a:extLst>
          </p:cNvPr>
          <p:cNvSpPr>
            <a:spLocks noGrp="1"/>
          </p:cNvSpPr>
          <p:nvPr>
            <p:ph type="title"/>
          </p:nvPr>
        </p:nvSpPr>
        <p:spPr>
          <a:xfrm>
            <a:off x="2857500" y="301752"/>
            <a:ext cx="8503920" cy="960120"/>
          </a:xfrm>
        </p:spPr>
        <p:txBody>
          <a:bodyPr anchor="ctr">
            <a:normAutofit fontScale="90000"/>
          </a:bodyPr>
          <a:lstStyle/>
          <a:p>
            <a:br>
              <a:rPr lang="en-US" sz="2100" b="1" dirty="0"/>
            </a:br>
            <a:r>
              <a:rPr lang="en-US" sz="4000" b="1" dirty="0"/>
              <a:t>Combined Regression</a:t>
            </a:r>
            <a:br>
              <a:rPr lang="en-US" sz="2100" b="1" dirty="0"/>
            </a:br>
            <a:endParaRPr lang="en-US" sz="2100" dirty="0"/>
          </a:p>
        </p:txBody>
      </p:sp>
      <p:sp>
        <p:nvSpPr>
          <p:cNvPr id="3" name="Content Placeholder 2">
            <a:extLst>
              <a:ext uri="{FF2B5EF4-FFF2-40B4-BE49-F238E27FC236}">
                <a16:creationId xmlns:a16="http://schemas.microsoft.com/office/drawing/2014/main" id="{D634639D-A764-64F1-DEBB-D00B44E4D231}"/>
              </a:ext>
            </a:extLst>
          </p:cNvPr>
          <p:cNvSpPr>
            <a:spLocks noGrp="1"/>
          </p:cNvSpPr>
          <p:nvPr>
            <p:ph sz="half" idx="1"/>
          </p:nvPr>
        </p:nvSpPr>
        <p:spPr>
          <a:xfrm>
            <a:off x="838200" y="1825625"/>
            <a:ext cx="5181600" cy="4351338"/>
          </a:xfrm>
        </p:spPr>
        <p:txBody>
          <a:bodyPr>
            <a:normAutofit/>
          </a:bodyPr>
          <a:lstStyle/>
          <a:p>
            <a:pPr marL="0" indent="0">
              <a:buNone/>
            </a:pPr>
            <a:r>
              <a:rPr lang="en-US" sz="2200" b="1"/>
              <a:t>Combined Regression with Source Control</a:t>
            </a:r>
            <a:endParaRPr lang="en-US" sz="2200"/>
          </a:p>
          <a:p>
            <a:r>
              <a:rPr lang="en-US" sz="2200"/>
              <a:t>We then ran a combined regression model using both datasets together while controlling for dataset source. This allowed us to test whether the relationships remain consistent after combining ARISE and </a:t>
            </a:r>
            <a:r>
              <a:rPr lang="en-US" sz="2200" err="1"/>
              <a:t>CivicPulse</a:t>
            </a:r>
            <a:r>
              <a:rPr lang="en-US" sz="2200"/>
              <a:t>.</a:t>
            </a:r>
          </a:p>
          <a:p>
            <a:r>
              <a:rPr lang="en-US" sz="2200"/>
              <a:t>The combined model gives a broader overall picture. It helped us understand which variables remain more stable across both datasets and which effects become weaker after accounting for survey source differences.</a:t>
            </a:r>
          </a:p>
          <a:p>
            <a:endParaRPr lang="en-US" sz="2200"/>
          </a:p>
        </p:txBody>
      </p:sp>
      <p:pic>
        <p:nvPicPr>
          <p:cNvPr id="4" name="Picture 3" descr="A screenshot of a graph&#10;&#10;AI-generated content may be incorrect.">
            <a:extLst>
              <a:ext uri="{FF2B5EF4-FFF2-40B4-BE49-F238E27FC236}">
                <a16:creationId xmlns:a16="http://schemas.microsoft.com/office/drawing/2014/main" id="{44961B54-9DC4-5524-6093-1F19FA35EC23}"/>
              </a:ext>
            </a:extLst>
          </p:cNvPr>
          <p:cNvPicPr>
            <a:picLocks noChangeAspect="1"/>
          </p:cNvPicPr>
          <p:nvPr/>
        </p:nvPicPr>
        <p:blipFill>
          <a:blip r:embed="rId2"/>
          <a:stretch>
            <a:fillRect/>
          </a:stretch>
        </p:blipFill>
        <p:spPr>
          <a:xfrm>
            <a:off x="6172200" y="3010313"/>
            <a:ext cx="5181600" cy="1981961"/>
          </a:xfrm>
          <a:prstGeom prst="rect">
            <a:avLst/>
          </a:prstGeom>
          <a:noFill/>
        </p:spPr>
      </p:pic>
    </p:spTree>
    <p:extLst>
      <p:ext uri="{BB962C8B-B14F-4D97-AF65-F5344CB8AC3E}">
        <p14:creationId xmlns:p14="http://schemas.microsoft.com/office/powerpoint/2010/main" val="3444432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4097E-C6CD-66D7-55DB-F0E61643FE8F}"/>
              </a:ext>
            </a:extLst>
          </p:cNvPr>
          <p:cNvSpPr>
            <a:spLocks noGrp="1"/>
          </p:cNvSpPr>
          <p:nvPr>
            <p:ph type="title"/>
          </p:nvPr>
        </p:nvSpPr>
        <p:spPr/>
        <p:txBody>
          <a:bodyPr>
            <a:normAutofit fontScale="90000"/>
          </a:bodyPr>
          <a:lstStyle/>
          <a:p>
            <a:br>
              <a:rPr lang="en-US" b="1" dirty="0"/>
            </a:br>
            <a:r>
              <a:rPr lang="en-US" b="1" dirty="0"/>
              <a:t>Main Insight from This Week</a:t>
            </a:r>
            <a:br>
              <a:rPr lang="en-US" b="1" dirty="0"/>
            </a:br>
            <a:endParaRPr lang="en-US" dirty="0"/>
          </a:p>
        </p:txBody>
      </p:sp>
      <p:sp>
        <p:nvSpPr>
          <p:cNvPr id="3" name="Content Placeholder 2">
            <a:extLst>
              <a:ext uri="{FF2B5EF4-FFF2-40B4-BE49-F238E27FC236}">
                <a16:creationId xmlns:a16="http://schemas.microsoft.com/office/drawing/2014/main" id="{28CB51A4-26E8-223E-FDDC-3BE9E4DC92F7}"/>
              </a:ext>
            </a:extLst>
          </p:cNvPr>
          <p:cNvSpPr>
            <a:spLocks noGrp="1"/>
          </p:cNvSpPr>
          <p:nvPr>
            <p:ph idx="1"/>
          </p:nvPr>
        </p:nvSpPr>
        <p:spPr/>
        <p:txBody>
          <a:bodyPr>
            <a:normAutofit fontScale="92500" lnSpcReduction="20000"/>
          </a:bodyPr>
          <a:lstStyle/>
          <a:p>
            <a:pPr marL="0" indent="0">
              <a:buNone/>
            </a:pPr>
            <a:r>
              <a:rPr lang="en-US" b="1" dirty="0"/>
              <a:t>Key Takeaways from This Week</a:t>
            </a:r>
            <a:endParaRPr lang="en-US" dirty="0"/>
          </a:p>
          <a:p>
            <a:r>
              <a:rPr lang="en-US" dirty="0"/>
              <a:t>Correlation analysis gave us an overview of how the main variables are related</a:t>
            </a:r>
          </a:p>
          <a:p>
            <a:r>
              <a:rPr lang="en-US" dirty="0"/>
              <a:t>Cross-tabulations showed detailed category-level patterns</a:t>
            </a:r>
          </a:p>
          <a:p>
            <a:r>
              <a:rPr lang="en-US" dirty="0"/>
              <a:t>Percentage cross-tabs improved comparison by showing proportions</a:t>
            </a:r>
          </a:p>
          <a:p>
            <a:r>
              <a:rPr lang="en-US" dirty="0"/>
              <a:t>Visualizations made the patterns easier to understand</a:t>
            </a:r>
          </a:p>
          <a:p>
            <a:r>
              <a:rPr lang="en-US" dirty="0"/>
              <a:t>Separate regression showed dataset-specific differences</a:t>
            </a:r>
          </a:p>
          <a:p>
            <a:r>
              <a:rPr lang="en-US" dirty="0"/>
              <a:t>Combined regression helped identify more general relationships across both datasets</a:t>
            </a:r>
            <a:br>
              <a:rPr lang="en-US" dirty="0"/>
            </a:br>
            <a:endParaRPr lang="en-US" dirty="0"/>
          </a:p>
          <a:p>
            <a:r>
              <a:rPr lang="en-US" dirty="0"/>
              <a:t>This week’s work moved the project from dataset preparation into actual analytical interpretation.</a:t>
            </a:r>
          </a:p>
          <a:p>
            <a:endParaRPr lang="en-US" dirty="0"/>
          </a:p>
        </p:txBody>
      </p:sp>
    </p:spTree>
    <p:extLst>
      <p:ext uri="{BB962C8B-B14F-4D97-AF65-F5344CB8AC3E}">
        <p14:creationId xmlns:p14="http://schemas.microsoft.com/office/powerpoint/2010/main" val="3626549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868D5-FB60-9E8B-8207-BA41E34A765F}"/>
              </a:ext>
            </a:extLst>
          </p:cNvPr>
          <p:cNvSpPr>
            <a:spLocks noGrp="1"/>
          </p:cNvSpPr>
          <p:nvPr>
            <p:ph type="title"/>
          </p:nvPr>
        </p:nvSpPr>
        <p:spPr/>
        <p:txBody>
          <a:bodyPr>
            <a:normAutofit fontScale="90000"/>
          </a:bodyPr>
          <a:lstStyle/>
          <a:p>
            <a:br>
              <a:rPr lang="en-US" b="1" dirty="0"/>
            </a:br>
            <a:r>
              <a:rPr lang="en-US" b="1" dirty="0"/>
              <a:t>Next Week Goal</a:t>
            </a:r>
            <a:br>
              <a:rPr lang="en-US" b="1" dirty="0"/>
            </a:br>
            <a:endParaRPr lang="en-US" dirty="0"/>
          </a:p>
        </p:txBody>
      </p:sp>
      <p:sp>
        <p:nvSpPr>
          <p:cNvPr id="3" name="Content Placeholder 2">
            <a:extLst>
              <a:ext uri="{FF2B5EF4-FFF2-40B4-BE49-F238E27FC236}">
                <a16:creationId xmlns:a16="http://schemas.microsoft.com/office/drawing/2014/main" id="{F605388A-1396-C9B8-338B-86EAB240C0B9}"/>
              </a:ext>
            </a:extLst>
          </p:cNvPr>
          <p:cNvSpPr>
            <a:spLocks noGrp="1"/>
          </p:cNvSpPr>
          <p:nvPr>
            <p:ph idx="1"/>
          </p:nvPr>
        </p:nvSpPr>
        <p:spPr/>
        <p:txBody>
          <a:bodyPr>
            <a:normAutofit/>
          </a:bodyPr>
          <a:lstStyle/>
          <a:p>
            <a:pPr marL="0" indent="0">
              <a:buNone/>
            </a:pPr>
            <a:r>
              <a:rPr lang="en-US" b="1" dirty="0"/>
              <a:t>Next Week Goal</a:t>
            </a:r>
            <a:endParaRPr lang="en-US" dirty="0"/>
          </a:p>
          <a:p>
            <a:r>
              <a:rPr lang="en-US" dirty="0"/>
              <a:t>Next week, we plan to:</a:t>
            </a:r>
          </a:p>
          <a:p>
            <a:r>
              <a:rPr lang="en-US" dirty="0"/>
              <a:t>Interpret the regression results more clearly</a:t>
            </a:r>
          </a:p>
          <a:p>
            <a:r>
              <a:rPr lang="en-US" dirty="0"/>
              <a:t>Write final analytical findings in simple language</a:t>
            </a:r>
          </a:p>
          <a:p>
            <a:r>
              <a:rPr lang="en-US" dirty="0"/>
              <a:t>Connect the results back to the project research questions</a:t>
            </a:r>
          </a:p>
          <a:p>
            <a:r>
              <a:rPr lang="en-US" dirty="0"/>
              <a:t>Improve presentation visuals and explanations</a:t>
            </a:r>
          </a:p>
          <a:p>
            <a:r>
              <a:rPr lang="en-US" dirty="0"/>
              <a:t>Finalize the report and conclusions for submission</a:t>
            </a:r>
          </a:p>
          <a:p>
            <a:endParaRPr lang="en-US" dirty="0"/>
          </a:p>
        </p:txBody>
      </p:sp>
    </p:spTree>
    <p:extLst>
      <p:ext uri="{BB962C8B-B14F-4D97-AF65-F5344CB8AC3E}">
        <p14:creationId xmlns:p14="http://schemas.microsoft.com/office/powerpoint/2010/main" val="1040278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SU Template - Accessible" id="{C9EEBB27-A160-0549-93BB-57AA507F1703}" vid="{32148866-FC3F-5F4F-BF9C-13255541B68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6055</TotalTime>
  <Words>851</Words>
  <Application>Microsoft Macintosh PowerPoint</Application>
  <PresentationFormat>Widescreen</PresentationFormat>
  <Paragraphs>68</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Data Science Capstone Project</vt:lpstr>
      <vt:lpstr>This Week Progress Update</vt:lpstr>
      <vt:lpstr>  Correlation Matrix  </vt:lpstr>
      <vt:lpstr>  Cross-Tabulations </vt:lpstr>
      <vt:lpstr> Cleaned Cross-Tabs </vt:lpstr>
      <vt:lpstr> Percentage Cross-Tabs </vt:lpstr>
      <vt:lpstr> Stacked Bar Chart: Workforce by Source </vt:lpstr>
      <vt:lpstr>  Stacked Bar Chart: Workforce vs Fiscal Condition </vt:lpstr>
      <vt:lpstr> Scatter Plot Analysis </vt:lpstr>
      <vt:lpstr> Separate Regression by Dataset </vt:lpstr>
      <vt:lpstr>ARISE &amp;Civic Pulse- Dataset</vt:lpstr>
      <vt:lpstr> Combined Regression </vt:lpstr>
      <vt:lpstr> Main Insight from This Week </vt:lpstr>
      <vt:lpstr> Next Week Goal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Wilson, Caleb</dc:creator>
  <cp:lastModifiedBy>Singnath, Abhishek</cp:lastModifiedBy>
  <cp:revision>169</cp:revision>
  <dcterms:created xsi:type="dcterms:W3CDTF">2018-06-18T13:40:31Z</dcterms:created>
  <dcterms:modified xsi:type="dcterms:W3CDTF">2026-04-09T03:46:09Z</dcterms:modified>
</cp:coreProperties>
</file>